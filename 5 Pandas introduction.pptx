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9"/>
  </p:notesMasterIdLst>
  <p:handoutMasterIdLst>
    <p:handoutMasterId r:id="rId70"/>
  </p:handoutMasterIdLst>
  <p:sldIdLst>
    <p:sldId id="256" r:id="rId2"/>
    <p:sldId id="292" r:id="rId3"/>
    <p:sldId id="257" r:id="rId4"/>
    <p:sldId id="258" r:id="rId5"/>
    <p:sldId id="260" r:id="rId6"/>
    <p:sldId id="296" r:id="rId7"/>
    <p:sldId id="298" r:id="rId8"/>
    <p:sldId id="299" r:id="rId9"/>
    <p:sldId id="323" r:id="rId10"/>
    <p:sldId id="300" r:id="rId11"/>
    <p:sldId id="324" r:id="rId12"/>
    <p:sldId id="301" r:id="rId13"/>
    <p:sldId id="325" r:id="rId14"/>
    <p:sldId id="302" r:id="rId15"/>
    <p:sldId id="297" r:id="rId16"/>
    <p:sldId id="264" r:id="rId17"/>
    <p:sldId id="265" r:id="rId18"/>
    <p:sldId id="266" r:id="rId19"/>
    <p:sldId id="268" r:id="rId20"/>
    <p:sldId id="336" r:id="rId21"/>
    <p:sldId id="338" r:id="rId22"/>
    <p:sldId id="291" r:id="rId23"/>
    <p:sldId id="315" r:id="rId24"/>
    <p:sldId id="270" r:id="rId25"/>
    <p:sldId id="287" r:id="rId26"/>
    <p:sldId id="286" r:id="rId27"/>
    <p:sldId id="290" r:id="rId28"/>
    <p:sldId id="339" r:id="rId29"/>
    <p:sldId id="314" r:id="rId30"/>
    <p:sldId id="269" r:id="rId31"/>
    <p:sldId id="271" r:id="rId32"/>
    <p:sldId id="294" r:id="rId33"/>
    <p:sldId id="295" r:id="rId34"/>
    <p:sldId id="273" r:id="rId35"/>
    <p:sldId id="340" r:id="rId36"/>
    <p:sldId id="274" r:id="rId37"/>
    <p:sldId id="334" r:id="rId38"/>
    <p:sldId id="275" r:id="rId39"/>
    <p:sldId id="331" r:id="rId40"/>
    <p:sldId id="332" r:id="rId41"/>
    <p:sldId id="276" r:id="rId42"/>
    <p:sldId id="277" r:id="rId43"/>
    <p:sldId id="341" r:id="rId44"/>
    <p:sldId id="278" r:id="rId45"/>
    <p:sldId id="279" r:id="rId46"/>
    <p:sldId id="280" r:id="rId47"/>
    <p:sldId id="281" r:id="rId48"/>
    <p:sldId id="282" r:id="rId49"/>
    <p:sldId id="283" r:id="rId50"/>
    <p:sldId id="284" r:id="rId51"/>
    <p:sldId id="342" r:id="rId52"/>
    <p:sldId id="285" r:id="rId53"/>
    <p:sldId id="288" r:id="rId54"/>
    <p:sldId id="289" r:id="rId55"/>
    <p:sldId id="333" r:id="rId56"/>
    <p:sldId id="327" r:id="rId57"/>
    <p:sldId id="272" r:id="rId58"/>
    <p:sldId id="335" r:id="rId59"/>
    <p:sldId id="343" r:id="rId60"/>
    <p:sldId id="317" r:id="rId61"/>
    <p:sldId id="318" r:id="rId62"/>
    <p:sldId id="319" r:id="rId63"/>
    <p:sldId id="320" r:id="rId64"/>
    <p:sldId id="321" r:id="rId65"/>
    <p:sldId id="322" r:id="rId66"/>
    <p:sldId id="293" r:id="rId67"/>
    <p:sldId id="267" r:id="rId68"/>
  </p:sldIdLst>
  <p:sldSz cx="12192000" cy="6858000"/>
  <p:notesSz cx="6858000" cy="9144000"/>
  <p:custDataLst>
    <p:tags r:id="rId71"/>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Pandas" id="{C498B6F6-22D3-4EAF-BA0D-CF5409EA3DBE}">
          <p14:sldIdLst>
            <p14:sldId id="256"/>
            <p14:sldId id="292"/>
            <p14:sldId id="257"/>
            <p14:sldId id="258"/>
            <p14:sldId id="260"/>
          </p14:sldIdLst>
        </p14:section>
        <p14:section name="Dirty Data" id="{651C1129-FDBF-4260-B0B2-9A751FA492DF}">
          <p14:sldIdLst>
            <p14:sldId id="296"/>
            <p14:sldId id="298"/>
            <p14:sldId id="299"/>
            <p14:sldId id="323"/>
            <p14:sldId id="300"/>
            <p14:sldId id="324"/>
            <p14:sldId id="301"/>
            <p14:sldId id="325"/>
            <p14:sldId id="302"/>
          </p14:sldIdLst>
        </p14:section>
        <p14:section name="Data Structures" id="{9481AD25-D733-424F-955D-CA227C31B825}">
          <p14:sldIdLst>
            <p14:sldId id="297"/>
            <p14:sldId id="264"/>
            <p14:sldId id="265"/>
            <p14:sldId id="266"/>
            <p14:sldId id="268"/>
            <p14:sldId id="336"/>
          </p14:sldIdLst>
        </p14:section>
        <p14:section name="Extracting and assigning data" id="{EA1AD349-6FAE-4ED6-AFAA-DFB2633BBC11}">
          <p14:sldIdLst>
            <p14:sldId id="338"/>
            <p14:sldId id="291"/>
            <p14:sldId id="315"/>
            <p14:sldId id="270"/>
            <p14:sldId id="287"/>
            <p14:sldId id="286"/>
            <p14:sldId id="290"/>
          </p14:sldIdLst>
        </p14:section>
        <p14:section name="Read and write" id="{B60DB7CC-7963-4BE0-A469-CFA8562EF099}">
          <p14:sldIdLst>
            <p14:sldId id="339"/>
            <p14:sldId id="314"/>
            <p14:sldId id="269"/>
            <p14:sldId id="271"/>
            <p14:sldId id="294"/>
            <p14:sldId id="295"/>
            <p14:sldId id="273"/>
          </p14:sldIdLst>
        </p14:section>
        <p14:section name="Basic operations" id="{461A9EE9-BBA9-4167-8C52-7BD569E4CE9B}">
          <p14:sldIdLst>
            <p14:sldId id="340"/>
            <p14:sldId id="274"/>
            <p14:sldId id="334"/>
            <p14:sldId id="275"/>
            <p14:sldId id="331"/>
            <p14:sldId id="332"/>
            <p14:sldId id="276"/>
            <p14:sldId id="277"/>
          </p14:sldIdLst>
        </p14:section>
        <p14:section name="Missing values" id="{1F2D6E98-0DB3-4F3C-B1E7-9D205815924B}">
          <p14:sldIdLst>
            <p14:sldId id="341"/>
            <p14:sldId id="278"/>
            <p14:sldId id="279"/>
            <p14:sldId id="280"/>
            <p14:sldId id="281"/>
            <p14:sldId id="282"/>
            <p14:sldId id="283"/>
            <p14:sldId id="284"/>
          </p14:sldIdLst>
        </p14:section>
        <p14:section name="Data Manipulation Techniques" id="{7A0783C8-F16A-4C6F-AE92-E765A0D6A01A}">
          <p14:sldIdLst>
            <p14:sldId id="342"/>
            <p14:sldId id="285"/>
            <p14:sldId id="288"/>
            <p14:sldId id="289"/>
            <p14:sldId id="333"/>
            <p14:sldId id="327"/>
            <p14:sldId id="272"/>
            <p14:sldId id="335"/>
          </p14:sldIdLst>
        </p14:section>
        <p14:section name="Cleaning using example" id="{026AAA2D-B731-415D-BD37-43FFF7047E59}">
          <p14:sldIdLst>
            <p14:sldId id="343"/>
            <p14:sldId id="317"/>
            <p14:sldId id="318"/>
            <p14:sldId id="319"/>
            <p14:sldId id="320"/>
            <p14:sldId id="321"/>
            <p14:sldId id="322"/>
          </p14:sldIdLst>
        </p14:section>
        <p14:section name="Exercises" id="{3EAE085A-B3FD-4FCA-B631-56A8CD9100AB}">
          <p14:sldIdLst>
            <p14:sldId id="293"/>
            <p14:sldId id="2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785"/>
    <a:srgbClr val="FFFFFF"/>
    <a:srgbClr val="FFDE57"/>
    <a:srgbClr val="4584B6"/>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5278" autoAdjust="0"/>
  </p:normalViewPr>
  <p:slideViewPr>
    <p:cSldViewPr snapToGrid="0">
      <p:cViewPr varScale="1">
        <p:scale>
          <a:sx n="85" d="100"/>
          <a:sy n="85" d="100"/>
        </p:scale>
        <p:origin x="1440"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Torfs" userId="c6aa1e10-4a12-4511-8c7c-135720d4f277" providerId="ADAL" clId="{369D1B74-3708-4B96-B32E-428E6E9E215B}"/>
    <pc:docChg chg="modSld">
      <pc:chgData name="Ellen Torfs" userId="c6aa1e10-4a12-4511-8c7c-135720d4f277" providerId="ADAL" clId="{369D1B74-3708-4B96-B32E-428E6E9E215B}" dt="2025-09-01T08:10:38.771" v="3" actId="20577"/>
      <pc:docMkLst>
        <pc:docMk/>
      </pc:docMkLst>
      <pc:sldChg chg="modSp mod">
        <pc:chgData name="Ellen Torfs" userId="c6aa1e10-4a12-4511-8c7c-135720d4f277" providerId="ADAL" clId="{369D1B74-3708-4B96-B32E-428E6E9E215B}" dt="2025-09-01T08:10:38.771" v="3" actId="20577"/>
        <pc:sldMkLst>
          <pc:docMk/>
          <pc:sldMk cId="54334544" sldId="256"/>
        </pc:sldMkLst>
        <pc:spChg chg="mod">
          <ac:chgData name="Ellen Torfs" userId="c6aa1e10-4a12-4511-8c7c-135720d4f277" providerId="ADAL" clId="{369D1B74-3708-4B96-B32E-428E6E9E215B}" dt="2025-09-01T08:10:38.771" v="3" actId="20577"/>
          <ac:spMkLst>
            <pc:docMk/>
            <pc:sldMk cId="54334544" sldId="256"/>
            <ac:spMk id="3" creationId="{00000000-0000-0000-0000-000000000000}"/>
          </ac:spMkLst>
        </pc:spChg>
      </pc:sldChg>
    </pc:docChg>
  </pc:docChgLst>
  <pc:docChgLst>
    <pc:chgData name="Ellen Torfs" userId="c6aa1e10-4a12-4511-8c7c-135720d4f277" providerId="ADAL" clId="{7D0F40F4-61BD-4C5A-96B1-70C4BEF15A98}"/>
    <pc:docChg chg="custSel modSld">
      <pc:chgData name="Ellen Torfs" userId="c6aa1e10-4a12-4511-8c7c-135720d4f277" providerId="ADAL" clId="{7D0F40F4-61BD-4C5A-96B1-70C4BEF15A98}" dt="2024-11-04T20:22:31.011" v="20" actId="20577"/>
      <pc:docMkLst>
        <pc:docMk/>
      </pc:docMkLst>
      <pc:sldChg chg="modSp mod">
        <pc:chgData name="Ellen Torfs" userId="c6aa1e10-4a12-4511-8c7c-135720d4f277" providerId="ADAL" clId="{7D0F40F4-61BD-4C5A-96B1-70C4BEF15A98}" dt="2024-11-02T10:28:02.678" v="11" actId="20577"/>
        <pc:sldMkLst>
          <pc:docMk/>
          <pc:sldMk cId="54334544" sldId="256"/>
        </pc:sldMkLst>
      </pc:sldChg>
      <pc:sldChg chg="modSp">
        <pc:chgData name="Ellen Torfs" userId="c6aa1e10-4a12-4511-8c7c-135720d4f277" providerId="ADAL" clId="{7D0F40F4-61BD-4C5A-96B1-70C4BEF15A98}" dt="2024-11-02T10:29:21.730" v="14" actId="1076"/>
        <pc:sldMkLst>
          <pc:docMk/>
          <pc:sldMk cId="2544125179" sldId="258"/>
        </pc:sldMkLst>
      </pc:sldChg>
      <pc:sldChg chg="modSp mod">
        <pc:chgData name="Ellen Torfs" userId="c6aa1e10-4a12-4511-8c7c-135720d4f277" providerId="ADAL" clId="{7D0F40F4-61BD-4C5A-96B1-70C4BEF15A98}" dt="2024-11-04T20:22:31.011" v="20" actId="20577"/>
        <pc:sldMkLst>
          <pc:docMk/>
          <pc:sldMk cId="2983246358" sldId="276"/>
        </pc:sldMkLst>
      </pc:sldChg>
    </pc:docChg>
  </pc:docChgLst>
  <pc:docChgLst>
    <pc:chgData name="Stef Van Wolputte" userId="53954008-e772-4081-b24d-77d1e8f1f00e" providerId="ADAL" clId="{707B9731-3E3B-424B-828F-97FAB377EB96}"/>
    <pc:docChg chg="undo custSel addSld delSld modSld addSection modSection">
      <pc:chgData name="Stef Van Wolputte" userId="53954008-e772-4081-b24d-77d1e8f1f00e" providerId="ADAL" clId="{707B9731-3E3B-424B-828F-97FAB377EB96}" dt="2024-08-22T13:45:04.753" v="414" actId="20577"/>
      <pc:docMkLst>
        <pc:docMk/>
      </pc:docMkLst>
      <pc:sldChg chg="modSp mod">
        <pc:chgData name="Stef Van Wolputte" userId="53954008-e772-4081-b24d-77d1e8f1f00e" providerId="ADAL" clId="{707B9731-3E3B-424B-828F-97FAB377EB96}" dt="2024-08-22T12:33:56.272" v="3" actId="313"/>
        <pc:sldMkLst>
          <pc:docMk/>
          <pc:sldMk cId="3503501734" sldId="257"/>
        </pc:sldMkLst>
      </pc:sldChg>
      <pc:sldChg chg="addSp modSp mod">
        <pc:chgData name="Stef Van Wolputte" userId="53954008-e772-4081-b24d-77d1e8f1f00e" providerId="ADAL" clId="{707B9731-3E3B-424B-828F-97FAB377EB96}" dt="2024-08-22T13:45:04.753" v="414" actId="20577"/>
        <pc:sldMkLst>
          <pc:docMk/>
          <pc:sldMk cId="2544125179" sldId="258"/>
        </pc:sldMkLst>
      </pc:sldChg>
      <pc:sldChg chg="modSp mod">
        <pc:chgData name="Stef Van Wolputte" userId="53954008-e772-4081-b24d-77d1e8f1f00e" providerId="ADAL" clId="{707B9731-3E3B-424B-828F-97FAB377EB96}" dt="2024-08-22T13:05:24.165" v="82" actId="113"/>
        <pc:sldMkLst>
          <pc:docMk/>
          <pc:sldMk cId="2304881231" sldId="270"/>
        </pc:sldMkLst>
      </pc:sldChg>
      <pc:sldChg chg="addSp delSp mod">
        <pc:chgData name="Stef Van Wolputte" userId="53954008-e772-4081-b24d-77d1e8f1f00e" providerId="ADAL" clId="{707B9731-3E3B-424B-828F-97FAB377EB96}" dt="2024-08-22T13:06:01.384" v="84" actId="22"/>
        <pc:sldMkLst>
          <pc:docMk/>
          <pc:sldMk cId="3964405791" sldId="290"/>
        </pc:sldMkLst>
      </pc:sldChg>
      <pc:sldChg chg="modSp mod">
        <pc:chgData name="Stef Van Wolputte" userId="53954008-e772-4081-b24d-77d1e8f1f00e" providerId="ADAL" clId="{707B9731-3E3B-424B-828F-97FAB377EB96}" dt="2024-08-22T13:34:59.706" v="412" actId="313"/>
        <pc:sldMkLst>
          <pc:docMk/>
          <pc:sldMk cId="3646269608" sldId="292"/>
        </pc:sldMkLst>
      </pc:sldChg>
      <pc:sldChg chg="modSp mod">
        <pc:chgData name="Stef Van Wolputte" userId="53954008-e772-4081-b24d-77d1e8f1f00e" providerId="ADAL" clId="{707B9731-3E3B-424B-828F-97FAB377EB96}" dt="2024-08-22T12:53:21.098" v="39" actId="20577"/>
        <pc:sldMkLst>
          <pc:docMk/>
          <pc:sldMk cId="239910011" sldId="297"/>
        </pc:sldMkLst>
      </pc:sldChg>
      <pc:sldChg chg="modSp">
        <pc:chgData name="Stef Van Wolputte" userId="53954008-e772-4081-b24d-77d1e8f1f00e" providerId="ADAL" clId="{707B9731-3E3B-424B-828F-97FAB377EB96}" dt="2024-08-22T13:31:38.691" v="326" actId="20577"/>
        <pc:sldMkLst>
          <pc:docMk/>
          <pc:sldMk cId="778566692" sldId="299"/>
        </pc:sldMkLst>
      </pc:sldChg>
      <pc:sldChg chg="modSp">
        <pc:chgData name="Stef Van Wolputte" userId="53954008-e772-4081-b24d-77d1e8f1f00e" providerId="ADAL" clId="{707B9731-3E3B-424B-828F-97FAB377EB96}" dt="2024-08-22T13:31:00.472" v="325" actId="6549"/>
        <pc:sldMkLst>
          <pc:docMk/>
          <pc:sldMk cId="3144807639" sldId="321"/>
        </pc:sldMkLst>
      </pc:sldChg>
      <pc:sldChg chg="addSp delSp modSp new del mod modClrScheme chgLayout">
        <pc:chgData name="Stef Van Wolputte" userId="53954008-e772-4081-b24d-77d1e8f1f00e" providerId="ADAL" clId="{707B9731-3E3B-424B-828F-97FAB377EB96}" dt="2024-08-22T13:03:45.888" v="44" actId="47"/>
        <pc:sldMkLst>
          <pc:docMk/>
          <pc:sldMk cId="1499156607" sldId="337"/>
        </pc:sldMkLst>
      </pc:sldChg>
      <pc:sldChg chg="modSp add mod">
        <pc:chgData name="Stef Van Wolputte" userId="53954008-e772-4081-b24d-77d1e8f1f00e" providerId="ADAL" clId="{707B9731-3E3B-424B-828F-97FAB377EB96}" dt="2024-08-22T13:04:23.820" v="79" actId="20577"/>
        <pc:sldMkLst>
          <pc:docMk/>
          <pc:sldMk cId="480960240" sldId="338"/>
        </pc:sldMkLst>
      </pc:sldChg>
      <pc:sldChg chg="modSp add mod">
        <pc:chgData name="Stef Van Wolputte" userId="53954008-e772-4081-b24d-77d1e8f1f00e" providerId="ADAL" clId="{707B9731-3E3B-424B-828F-97FAB377EB96}" dt="2024-08-22T13:06:16.301" v="114" actId="20577"/>
        <pc:sldMkLst>
          <pc:docMk/>
          <pc:sldMk cId="1406439879" sldId="339"/>
        </pc:sldMkLst>
      </pc:sldChg>
      <pc:sldChg chg="modSp add mod">
        <pc:chgData name="Stef Van Wolputte" userId="53954008-e772-4081-b24d-77d1e8f1f00e" providerId="ADAL" clId="{707B9731-3E3B-424B-828F-97FAB377EB96}" dt="2024-08-22T13:15:18.920" v="149" actId="20577"/>
        <pc:sldMkLst>
          <pc:docMk/>
          <pc:sldMk cId="3886683012" sldId="340"/>
        </pc:sldMkLst>
      </pc:sldChg>
      <pc:sldChg chg="modSp add mod">
        <pc:chgData name="Stef Van Wolputte" userId="53954008-e772-4081-b24d-77d1e8f1f00e" providerId="ADAL" clId="{707B9731-3E3B-424B-828F-97FAB377EB96}" dt="2024-08-22T13:16:08.747" v="172" actId="20577"/>
        <pc:sldMkLst>
          <pc:docMk/>
          <pc:sldMk cId="2776512084" sldId="341"/>
        </pc:sldMkLst>
      </pc:sldChg>
      <pc:sldChg chg="modSp add mod">
        <pc:chgData name="Stef Van Wolputte" userId="53954008-e772-4081-b24d-77d1e8f1f00e" providerId="ADAL" clId="{707B9731-3E3B-424B-828F-97FAB377EB96}" dt="2024-08-22T13:29:42.335" v="303" actId="27636"/>
        <pc:sldMkLst>
          <pc:docMk/>
          <pc:sldMk cId="2376959082" sldId="342"/>
        </pc:sldMkLst>
      </pc:sldChg>
      <pc:sldChg chg="modSp add mod">
        <pc:chgData name="Stef Van Wolputte" userId="53954008-e772-4081-b24d-77d1e8f1f00e" providerId="ADAL" clId="{707B9731-3E3B-424B-828F-97FAB377EB96}" dt="2024-08-22T13:21:37.696" v="241" actId="14100"/>
        <pc:sldMkLst>
          <pc:docMk/>
          <pc:sldMk cId="1173665899" sldId="343"/>
        </pc:sldMkLst>
      </pc:sldChg>
      <pc:sldChg chg="new del">
        <pc:chgData name="Stef Van Wolputte" userId="53954008-e772-4081-b24d-77d1e8f1f00e" providerId="ADAL" clId="{707B9731-3E3B-424B-828F-97FAB377EB96}" dt="2024-08-22T13:21:06.664" v="201" actId="47"/>
        <pc:sldMkLst>
          <pc:docMk/>
          <pc:sldMk cId="2204672933" sldId="343"/>
        </pc:sldMkLst>
      </pc:sldChg>
    </pc:docChg>
  </pc:docChgLst>
  <pc:docChgLst>
    <pc:chgData name="Jochen Mariën" userId="a4f8d9ed-3895-4365-b2d5-9432cb8a20d4" providerId="ADAL" clId="{C3112453-0559-4469-B232-28673EC463A3}"/>
    <pc:docChg chg="modSld">
      <pc:chgData name="Jochen Mariën" userId="a4f8d9ed-3895-4365-b2d5-9432cb8a20d4" providerId="ADAL" clId="{C3112453-0559-4469-B232-28673EC463A3}" dt="2024-11-14T12:10:52.249" v="9" actId="20577"/>
      <pc:docMkLst>
        <pc:docMk/>
      </pc:docMkLst>
      <pc:sldChg chg="modSp mod">
        <pc:chgData name="Jochen Mariën" userId="a4f8d9ed-3895-4365-b2d5-9432cb8a20d4" providerId="ADAL" clId="{C3112453-0559-4469-B232-28673EC463A3}" dt="2024-11-14T12:10:52.249" v="9" actId="20577"/>
        <pc:sldMkLst>
          <pc:docMk/>
          <pc:sldMk cId="2925722353" sldId="2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1/09/2025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1/09/2025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4</a:t>
            </a:fld>
            <a:endParaRPr lang="nl-BE"/>
          </a:p>
        </p:txBody>
      </p:sp>
    </p:spTree>
    <p:extLst>
      <p:ext uri="{BB962C8B-B14F-4D97-AF65-F5344CB8AC3E}">
        <p14:creationId xmlns:p14="http://schemas.microsoft.com/office/powerpoint/2010/main" val="2070406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9</a:t>
            </a:fld>
            <a:endParaRPr lang="nl-BE"/>
          </a:p>
        </p:txBody>
      </p:sp>
    </p:spTree>
    <p:extLst>
      <p:ext uri="{BB962C8B-B14F-4D97-AF65-F5344CB8AC3E}">
        <p14:creationId xmlns:p14="http://schemas.microsoft.com/office/powerpoint/2010/main" val="2640872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89ED9555-764A-4B78-873A-3D7406AAEA2B}" type="slidenum">
              <a:rPr lang="nl-BE" smtClean="0"/>
              <a:pPr/>
              <a:t>10</a:t>
            </a:fld>
            <a:endParaRPr lang="nl-BE"/>
          </a:p>
        </p:txBody>
      </p:sp>
    </p:spTree>
    <p:extLst>
      <p:ext uri="{BB962C8B-B14F-4D97-AF65-F5344CB8AC3E}">
        <p14:creationId xmlns:p14="http://schemas.microsoft.com/office/powerpoint/2010/main" val="2355138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89ED9555-764A-4B78-873A-3D7406AAEA2B}" type="slidenum">
              <a:rPr lang="nl-BE" smtClean="0"/>
              <a:pPr/>
              <a:t>12</a:t>
            </a:fld>
            <a:endParaRPr lang="nl-BE"/>
          </a:p>
        </p:txBody>
      </p:sp>
    </p:spTree>
    <p:extLst>
      <p:ext uri="{BB962C8B-B14F-4D97-AF65-F5344CB8AC3E}">
        <p14:creationId xmlns:p14="http://schemas.microsoft.com/office/powerpoint/2010/main" val="3788265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89ED9555-764A-4B78-873A-3D7406AAEA2B}" type="slidenum">
              <a:rPr lang="nl-BE" smtClean="0"/>
              <a:pPr/>
              <a:t>14</a:t>
            </a:fld>
            <a:endParaRPr lang="nl-BE"/>
          </a:p>
        </p:txBody>
      </p:sp>
    </p:spTree>
    <p:extLst>
      <p:ext uri="{BB962C8B-B14F-4D97-AF65-F5344CB8AC3E}">
        <p14:creationId xmlns:p14="http://schemas.microsoft.com/office/powerpoint/2010/main" val="101970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16</a:t>
            </a:fld>
            <a:endParaRPr lang="nl-BE"/>
          </a:p>
        </p:txBody>
      </p:sp>
    </p:spTree>
    <p:extLst>
      <p:ext uri="{BB962C8B-B14F-4D97-AF65-F5344CB8AC3E}">
        <p14:creationId xmlns:p14="http://schemas.microsoft.com/office/powerpoint/2010/main" val="3246489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https://www.roelpeters.be/pandas-read-json-orient/</a:t>
            </a:r>
          </a:p>
        </p:txBody>
      </p:sp>
      <p:sp>
        <p:nvSpPr>
          <p:cNvPr id="4" name="Slide Number Placeholder 3"/>
          <p:cNvSpPr>
            <a:spLocks noGrp="1"/>
          </p:cNvSpPr>
          <p:nvPr>
            <p:ph type="sldNum" sz="quarter" idx="5"/>
          </p:nvPr>
        </p:nvSpPr>
        <p:spPr/>
        <p:txBody>
          <a:bodyPr/>
          <a:lstStyle/>
          <a:p>
            <a:fld id="{2F1A7F70-BA74-4B93-A504-6802F0D0CD34}" type="slidenum">
              <a:rPr lang="nl-BE" smtClean="0"/>
              <a:t>31</a:t>
            </a:fld>
            <a:endParaRPr lang="nl-BE"/>
          </a:p>
        </p:txBody>
      </p:sp>
    </p:spTree>
    <p:extLst>
      <p:ext uri="{BB962C8B-B14F-4D97-AF65-F5344CB8AC3E}">
        <p14:creationId xmlns:p14="http://schemas.microsoft.com/office/powerpoint/2010/main" val="2269021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36</a:t>
            </a:fld>
            <a:endParaRPr lang="nl-BE"/>
          </a:p>
        </p:txBody>
      </p:sp>
    </p:spTree>
    <p:extLst>
      <p:ext uri="{BB962C8B-B14F-4D97-AF65-F5344CB8AC3E}">
        <p14:creationId xmlns:p14="http://schemas.microsoft.com/office/powerpoint/2010/main" val="3442794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exclude() is also possible</a:t>
            </a:r>
          </a:p>
        </p:txBody>
      </p:sp>
      <p:sp>
        <p:nvSpPr>
          <p:cNvPr id="4" name="Slide Number Placeholder 3"/>
          <p:cNvSpPr>
            <a:spLocks noGrp="1"/>
          </p:cNvSpPr>
          <p:nvPr>
            <p:ph type="sldNum" sz="quarter" idx="5"/>
          </p:nvPr>
        </p:nvSpPr>
        <p:spPr/>
        <p:txBody>
          <a:bodyPr/>
          <a:lstStyle/>
          <a:p>
            <a:fld id="{2F1A7F70-BA74-4B93-A504-6802F0D0CD34}" type="slidenum">
              <a:rPr lang="nl-BE" smtClean="0"/>
              <a:t>40</a:t>
            </a:fld>
            <a:endParaRPr lang="nl-BE"/>
          </a:p>
        </p:txBody>
      </p:sp>
    </p:spTree>
    <p:extLst>
      <p:ext uri="{BB962C8B-B14F-4D97-AF65-F5344CB8AC3E}">
        <p14:creationId xmlns:p14="http://schemas.microsoft.com/office/powerpoint/2010/main" val="220633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effectLst/>
              </a:rPr>
              <a:t>Inplace</a:t>
            </a:r>
            <a:r>
              <a:rPr lang="en-US" b="1" dirty="0">
                <a:effectLst/>
              </a:rPr>
              <a:t> </a:t>
            </a:r>
            <a:r>
              <a:rPr lang="en-US" i="1" dirty="0">
                <a:effectLst/>
              </a:rPr>
              <a:t>bool, </a:t>
            </a:r>
            <a:r>
              <a:rPr lang="en-US" dirty="0">
                <a:effectLst/>
              </a:rPr>
              <a:t>Whether to modify the DataFrame rather than creating a new one. </a:t>
            </a:r>
            <a:r>
              <a:rPr lang="en-US" dirty="0">
                <a:effectLst/>
                <a:sym typeface="Wingdings" panose="05000000000000000000" pitchFamily="2" charset="2"/>
              </a:rPr>
              <a:t> </a:t>
            </a:r>
            <a:r>
              <a:rPr lang="en-US" i="1" dirty="0">
                <a:effectLst/>
              </a:rPr>
              <a:t>default False </a:t>
            </a:r>
            <a:r>
              <a:rPr lang="en-US" i="1" dirty="0">
                <a:effectLst/>
                <a:sym typeface="Wingdings" panose="05000000000000000000" pitchFamily="2" charset="2"/>
              </a:rPr>
              <a:t> create new</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46</a:t>
            </a:fld>
            <a:endParaRPr lang="nl-BE"/>
          </a:p>
        </p:txBody>
      </p:sp>
    </p:spTree>
    <p:extLst>
      <p:ext uri="{BB962C8B-B14F-4D97-AF65-F5344CB8AC3E}">
        <p14:creationId xmlns:p14="http://schemas.microsoft.com/office/powerpoint/2010/main" val="4275996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52</a:t>
            </a:fld>
            <a:endParaRPr lang="nl-BE"/>
          </a:p>
        </p:txBody>
      </p:sp>
    </p:spTree>
    <p:extLst>
      <p:ext uri="{BB962C8B-B14F-4D97-AF65-F5344CB8AC3E}">
        <p14:creationId xmlns:p14="http://schemas.microsoft.com/office/powerpoint/2010/main" val="164769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1/09/2025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1/09/2025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1/09/2025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 Basic">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52000"/>
            <a:ext cx="12192000" cy="4428000"/>
          </a:xfrm>
        </p:spPr>
        <p:txBody>
          <a:bodyPr bIns="144000"/>
          <a:lstStyle>
            <a:lvl1pPr marL="323850" indent="-323850">
              <a:spcBef>
                <a:spcPts val="400"/>
              </a:spcBef>
              <a:spcAft>
                <a:spcPts val="400"/>
              </a:spcAft>
              <a:buClrTx/>
              <a:defRPr/>
            </a:lvl1pPr>
            <a:lvl2pPr marL="723900" indent="-368300">
              <a:spcBef>
                <a:spcPts val="400"/>
              </a:spcBef>
              <a:spcAft>
                <a:spcPts val="400"/>
              </a:spcAft>
              <a:buClrTx/>
              <a:defRPr sz="2500"/>
            </a:lvl2pPr>
            <a:lvl3pPr marL="982663" indent="-258763">
              <a:spcBef>
                <a:spcPts val="400"/>
              </a:spcBef>
              <a:spcAft>
                <a:spcPts val="400"/>
              </a:spcAft>
              <a:buClrTx/>
              <a:defRPr sz="2300"/>
            </a:lvl3pPr>
            <a:lvl4pPr marL="1255713" indent="-273050">
              <a:spcBef>
                <a:spcPts val="400"/>
              </a:spcBef>
              <a:spcAft>
                <a:spcPts val="400"/>
              </a:spcAft>
              <a:buClrTx/>
              <a:defRPr sz="2000"/>
            </a:lvl4pPr>
            <a:lvl5pPr marL="1609725" indent="-258763">
              <a:spcBef>
                <a:spcPts val="600"/>
              </a:spcBef>
              <a:spcAft>
                <a:spcPts val="600"/>
              </a:spcAft>
              <a:defRPr sz="1700"/>
            </a:lvl5pPr>
          </a:lstStyle>
          <a:p>
            <a:pPr lvl="0"/>
            <a:r>
              <a:rPr lang="nl-NL"/>
              <a:t>Klikken om de tekststijl van het model te bewerken</a:t>
            </a:r>
          </a:p>
          <a:p>
            <a:pPr lvl="1"/>
            <a:r>
              <a:rPr lang="nl-NL"/>
              <a:t>Tweede niveau</a:t>
            </a:r>
          </a:p>
          <a:p>
            <a:pPr lvl="2"/>
            <a:r>
              <a:rPr lang="nl-NL"/>
              <a:t>Derde niveau</a:t>
            </a:r>
          </a:p>
          <a:p>
            <a:pPr lvl="3"/>
            <a:r>
              <a:rPr lang="nl-NL"/>
              <a:t>Vierde niveau</a:t>
            </a:r>
          </a:p>
        </p:txBody>
      </p:sp>
      <p:sp>
        <p:nvSpPr>
          <p:cNvPr id="7" name="Title 6"/>
          <p:cNvSpPr>
            <a:spLocks noGrp="1"/>
          </p:cNvSpPr>
          <p:nvPr>
            <p:ph type="title"/>
          </p:nvPr>
        </p:nvSpPr>
        <p:spPr/>
        <p:txBody>
          <a:bodyPr lIns="360000" tIns="180000" rIns="360000" bIns="144000"/>
          <a:lstStyle>
            <a:lvl1pPr>
              <a:defRPr>
                <a:solidFill>
                  <a:srgbClr val="00A0AE"/>
                </a:solidFill>
              </a:defRPr>
            </a:lvl1pPr>
          </a:lstStyle>
          <a:p>
            <a:r>
              <a:rPr lang="nl-NL"/>
              <a:t>Klik om stijl te bewerken</a:t>
            </a:r>
            <a:endParaRPr lang="nl-BE"/>
          </a:p>
        </p:txBody>
      </p:sp>
      <p:cxnSp>
        <p:nvCxnSpPr>
          <p:cNvPr id="14" name="Straight Connector 13"/>
          <p:cNvCxnSpPr/>
          <p:nvPr userDrawn="1"/>
        </p:nvCxnSpPr>
        <p:spPr>
          <a:xfrm>
            <a:off x="240000" y="1141200"/>
            <a:ext cx="11664000" cy="0"/>
          </a:xfrm>
          <a:prstGeom prst="line">
            <a:avLst/>
          </a:prstGeom>
          <a:ln w="6350">
            <a:solidFill>
              <a:srgbClr val="00A0AE"/>
            </a:solidFill>
          </a:ln>
        </p:spPr>
        <p:style>
          <a:lnRef idx="1">
            <a:schemeClr val="accent1"/>
          </a:lnRef>
          <a:fillRef idx="0">
            <a:schemeClr val="accent1"/>
          </a:fillRef>
          <a:effectRef idx="0">
            <a:schemeClr val="accent1"/>
          </a:effectRef>
          <a:fontRef idx="minor">
            <a:schemeClr val="tx1"/>
          </a:fontRef>
        </p:style>
      </p:cxnSp>
      <p:sp>
        <p:nvSpPr>
          <p:cNvPr id="16" name="Slide Number Placeholder 15"/>
          <p:cNvSpPr>
            <a:spLocks noGrp="1"/>
          </p:cNvSpPr>
          <p:nvPr>
            <p:ph type="sldNum" sz="quarter" idx="11"/>
          </p:nvPr>
        </p:nvSpPr>
        <p:spPr/>
        <p:txBody>
          <a:bodyPr/>
          <a:lstStyle>
            <a:lvl1pPr>
              <a:defRPr>
                <a:latin typeface="+mj-lt"/>
              </a:defRPr>
            </a:lvl1pPr>
          </a:lstStyle>
          <a:p>
            <a:fld id="{3B80295F-48CD-49FC-897A-CCEC919B8070}" type="slidenum">
              <a:rPr lang="nl-BE" smtClean="0"/>
              <a:pPr/>
              <a:t>‹#›</a:t>
            </a:fld>
            <a:endParaRPr lang="nl-BE"/>
          </a:p>
        </p:txBody>
      </p:sp>
      <p:sp>
        <p:nvSpPr>
          <p:cNvPr id="17" name="Footer Placeholder 16"/>
          <p:cNvSpPr>
            <a:spLocks noGrp="1"/>
          </p:cNvSpPr>
          <p:nvPr>
            <p:ph type="ftr" sz="quarter" idx="12"/>
          </p:nvPr>
        </p:nvSpPr>
        <p:spPr/>
        <p:txBody>
          <a:bodyPr/>
          <a:lstStyle>
            <a:lvl1pPr>
              <a:defRPr>
                <a:latin typeface="+mj-lt"/>
              </a:defRPr>
            </a:lvl1pPr>
          </a:lstStyle>
          <a:p>
            <a:r>
              <a:rPr lang="nl-BE"/>
              <a:t>Data Science - Data Wrangling</a:t>
            </a:r>
          </a:p>
        </p:txBody>
      </p:sp>
      <p:sp>
        <p:nvSpPr>
          <p:cNvPr id="8" name="Date Placeholder 7"/>
          <p:cNvSpPr>
            <a:spLocks noGrp="1"/>
          </p:cNvSpPr>
          <p:nvPr>
            <p:ph type="dt" sz="half" idx="13"/>
          </p:nvPr>
        </p:nvSpPr>
        <p:spPr/>
        <p:txBody>
          <a:bodyPr/>
          <a:lstStyle>
            <a:lvl1pPr>
              <a:defRPr>
                <a:latin typeface="+mj-lt"/>
              </a:defRPr>
            </a:lvl1pPr>
          </a:lstStyle>
          <a:p>
            <a:pPr algn="l"/>
            <a:endParaRPr lang="nl-BE"/>
          </a:p>
        </p:txBody>
      </p:sp>
    </p:spTree>
    <p:extLst>
      <p:ext uri="{BB962C8B-B14F-4D97-AF65-F5344CB8AC3E}">
        <p14:creationId xmlns:p14="http://schemas.microsoft.com/office/powerpoint/2010/main" val="393255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1/09/2025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pandas.pydata.org/docs/getting_started/index.html" TargetMode="Externa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hyperlink" Target="https://www.roelpeters.be/pandas-read-json-orien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sqlitebrowser.org/" TargetMode="Externa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www.kaggle.com/learn/pandas" TargetMode="Externa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67.xml.rels><?xml version="1.0" encoding="UTF-8" standalone="yes"?>
<Relationships xmlns="http://schemas.openxmlformats.org/package/2006/relationships"><Relationship Id="rId3" Type="http://schemas.openxmlformats.org/officeDocument/2006/relationships/hyperlink" Target="https://pandas.pydata.org/Pandas_Cheat_Sheet.pdf" TargetMode="External"/><Relationship Id="rId2" Type="http://schemas.openxmlformats.org/officeDocument/2006/relationships/hyperlink" Target="https://www.learndatasci.com/tutorials/python-pandas-tutorial-complete-introduction-for-beginne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Chapter 5 – Intro Pandas </a:t>
            </a:r>
          </a:p>
        </p:txBody>
      </p:sp>
      <p:sp>
        <p:nvSpPr>
          <p:cNvPr id="3" name="Ondertitel 2"/>
          <p:cNvSpPr>
            <a:spLocks noGrp="1"/>
          </p:cNvSpPr>
          <p:nvPr>
            <p:ph type="subTitle" idx="1"/>
          </p:nvPr>
        </p:nvSpPr>
        <p:spPr/>
        <p:txBody>
          <a:bodyPr>
            <a:normAutofit/>
          </a:bodyPr>
          <a:lstStyle/>
          <a:p>
            <a:r>
              <a:rPr lang="en-US" noProof="0" dirty="0"/>
              <a:t>2025-2026</a:t>
            </a: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5340E-A41D-4850-BD2B-046AEC7038A6}"/>
              </a:ext>
            </a:extLst>
          </p:cNvPr>
          <p:cNvSpPr>
            <a:spLocks noGrp="1"/>
          </p:cNvSpPr>
          <p:nvPr>
            <p:ph type="title"/>
          </p:nvPr>
        </p:nvSpPr>
        <p:spPr/>
        <p:txBody>
          <a:bodyPr/>
          <a:lstStyle/>
          <a:p>
            <a:r>
              <a:rPr lang="en-US" noProof="0" dirty="0"/>
              <a:t>Overview</a:t>
            </a:r>
          </a:p>
        </p:txBody>
      </p:sp>
      <p:sp>
        <p:nvSpPr>
          <p:cNvPr id="3" name="Content Placeholder 2">
            <a:extLst>
              <a:ext uri="{FF2B5EF4-FFF2-40B4-BE49-F238E27FC236}">
                <a16:creationId xmlns:a16="http://schemas.microsoft.com/office/drawing/2014/main" id="{278F71F6-6095-4D6A-8746-0FE73F6C8062}"/>
              </a:ext>
            </a:extLst>
          </p:cNvPr>
          <p:cNvSpPr>
            <a:spLocks noGrp="1"/>
          </p:cNvSpPr>
          <p:nvPr>
            <p:ph idx="1"/>
          </p:nvPr>
        </p:nvSpPr>
        <p:spPr/>
        <p:txBody>
          <a:bodyPr>
            <a:normAutofit/>
          </a:bodyPr>
          <a:lstStyle/>
          <a:p>
            <a:pPr marL="514350" indent="-514350">
              <a:buFont typeface="+mj-lt"/>
              <a:buAutoNum type="arabicPeriod"/>
            </a:pPr>
            <a:r>
              <a:rPr lang="en-US" noProof="0" dirty="0"/>
              <a:t>Introduction</a:t>
            </a:r>
          </a:p>
          <a:p>
            <a:pPr marL="514350" indent="-514350">
              <a:buFont typeface="+mj-lt"/>
              <a:buAutoNum type="arabicPeriod"/>
            </a:pPr>
            <a:r>
              <a:rPr lang="en-US" noProof="0" dirty="0"/>
              <a:t>Data </a:t>
            </a:r>
            <a:r>
              <a:rPr lang="en-US" dirty="0"/>
              <a:t>structures in pandas: </a:t>
            </a:r>
            <a:r>
              <a:rPr lang="en-US" noProof="0" dirty="0"/>
              <a:t>Series and DataFrame</a:t>
            </a:r>
          </a:p>
          <a:p>
            <a:pPr marL="514350" indent="-514350">
              <a:buFont typeface="+mj-lt"/>
              <a:buAutoNum type="arabicPeriod"/>
            </a:pPr>
            <a:r>
              <a:rPr lang="en-US" noProof="0" dirty="0"/>
              <a:t>Extracting and assigning data</a:t>
            </a:r>
          </a:p>
          <a:p>
            <a:pPr marL="514350" indent="-514350">
              <a:buFont typeface="+mj-lt"/>
              <a:buAutoNum type="arabicPeriod"/>
            </a:pPr>
            <a:r>
              <a:rPr lang="en-US" noProof="0" dirty="0"/>
              <a:t>Reading/writing data (CSV, JSON and SQLite)</a:t>
            </a:r>
          </a:p>
          <a:p>
            <a:pPr marL="514350" indent="-514350">
              <a:buFont typeface="+mj-lt"/>
              <a:buAutoNum type="arabicPeriod"/>
            </a:pPr>
            <a:r>
              <a:rPr lang="en-US" noProof="0" dirty="0"/>
              <a:t>Basic DataFrame operations</a:t>
            </a:r>
          </a:p>
          <a:p>
            <a:pPr marL="514350" indent="-514350">
              <a:buFont typeface="+mj-lt"/>
              <a:buAutoNum type="arabicPeriod"/>
            </a:pPr>
            <a:r>
              <a:rPr lang="en-US" noProof="0" dirty="0"/>
              <a:t>Missing values</a:t>
            </a:r>
          </a:p>
          <a:p>
            <a:pPr marL="514350" indent="-514350">
              <a:buFont typeface="+mj-lt"/>
              <a:buAutoNum type="arabicPeriod"/>
            </a:pPr>
            <a:r>
              <a:rPr lang="en-US" noProof="0" dirty="0"/>
              <a:t>Conditional selections, sorting, grouping &amp; counting</a:t>
            </a:r>
          </a:p>
          <a:p>
            <a:pPr marL="514350" indent="-514350">
              <a:buFont typeface="+mj-lt"/>
              <a:buAutoNum type="arabicPeriod"/>
            </a:pPr>
            <a:r>
              <a:rPr lang="en-US" noProof="0" dirty="0"/>
              <a:t>Cleaning a dataset (using an example)</a:t>
            </a:r>
          </a:p>
          <a:p>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101865B1-0DBA-466F-A236-A14C7D284AD7}"/>
              </a:ext>
            </a:extLst>
          </p:cNvPr>
          <p:cNvSpPr>
            <a:spLocks noGrp="1"/>
          </p:cNvSpPr>
          <p:nvPr>
            <p:ph type="sldNum" sz="quarter" idx="12"/>
          </p:nvPr>
        </p:nvSpPr>
        <p:spPr/>
        <p:txBody>
          <a:bodyPr/>
          <a:lstStyle/>
          <a:p>
            <a:fld id="{FE1B3154-47D9-4402-8EDB-E791933DC0B9}" type="slidenum">
              <a:rPr lang="nl-BE" smtClean="0"/>
              <a:pPr/>
              <a:t>2</a:t>
            </a:fld>
            <a:endParaRPr lang="nl-BE"/>
          </a:p>
        </p:txBody>
      </p:sp>
    </p:spTree>
    <p:extLst>
      <p:ext uri="{BB962C8B-B14F-4D97-AF65-F5344CB8AC3E}">
        <p14:creationId xmlns:p14="http://schemas.microsoft.com/office/powerpoint/2010/main" val="3646269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123ACB-DD68-4388-B607-763D7883FFC8}"/>
              </a:ext>
            </a:extLst>
          </p:cNvPr>
          <p:cNvSpPr>
            <a:spLocks noGrp="1"/>
          </p:cNvSpPr>
          <p:nvPr>
            <p:ph idx="1"/>
          </p:nvPr>
        </p:nvSpPr>
        <p:spPr/>
        <p:txBody>
          <a:bodyPr>
            <a:normAutofit fontScale="77500" lnSpcReduction="20000"/>
          </a:bodyPr>
          <a:lstStyle/>
          <a:p>
            <a:r>
              <a:rPr lang="en-US" sz="3300" noProof="0" dirty="0"/>
              <a:t>T</a:t>
            </a:r>
            <a:r>
              <a:rPr lang="en-US" sz="3300" b="0" i="0" noProof="0" dirty="0">
                <a:effectLst/>
              </a:rPr>
              <a:t>he most popular Python library for data analysis</a:t>
            </a:r>
          </a:p>
          <a:p>
            <a:r>
              <a:rPr lang="en-US" sz="3300" b="0" i="0" noProof="0" dirty="0">
                <a:solidFill>
                  <a:srgbClr val="333333"/>
                </a:solidFill>
                <a:effectLst/>
              </a:rPr>
              <a:t>Through pandas, you get acquainted with your data </a:t>
            </a:r>
          </a:p>
          <a:p>
            <a:r>
              <a:rPr lang="en-US" sz="3300" b="0" i="0" noProof="0" dirty="0">
                <a:solidFill>
                  <a:srgbClr val="333333"/>
                </a:solidFill>
                <a:effectLst/>
              </a:rPr>
              <a:t>Pandas helps you</a:t>
            </a:r>
          </a:p>
          <a:p>
            <a:pPr lvl="1"/>
            <a:r>
              <a:rPr lang="en-US" sz="2900" noProof="0" dirty="0">
                <a:solidFill>
                  <a:srgbClr val="333333"/>
                </a:solidFill>
              </a:rPr>
              <a:t>c</a:t>
            </a:r>
            <a:r>
              <a:rPr lang="en-US" sz="2900" b="0" i="0" noProof="0" dirty="0">
                <a:solidFill>
                  <a:srgbClr val="333333"/>
                </a:solidFill>
                <a:effectLst/>
              </a:rPr>
              <a:t>alculate statistics and answer questions about the data, like</a:t>
            </a:r>
          </a:p>
          <a:p>
            <a:pPr marL="1200150" lvl="2" indent="-285750"/>
            <a:r>
              <a:rPr lang="en-US" sz="2900" b="0" i="0" noProof="0" dirty="0">
                <a:solidFill>
                  <a:srgbClr val="333333"/>
                </a:solidFill>
                <a:effectLst/>
              </a:rPr>
              <a:t>What's the average, median, max, or min of each column?</a:t>
            </a:r>
          </a:p>
          <a:p>
            <a:pPr marL="1200150" lvl="2" indent="-285750"/>
            <a:r>
              <a:rPr lang="en-US" sz="2900" b="0" i="0" noProof="0" dirty="0">
                <a:solidFill>
                  <a:srgbClr val="333333"/>
                </a:solidFill>
                <a:effectLst/>
              </a:rPr>
              <a:t>Does column A correlate to column B?</a:t>
            </a:r>
          </a:p>
          <a:p>
            <a:pPr marL="1200150" lvl="2" indent="-285750"/>
            <a:r>
              <a:rPr lang="en-US" sz="2900" b="0" i="0" noProof="0" dirty="0">
                <a:solidFill>
                  <a:srgbClr val="333333"/>
                </a:solidFill>
                <a:effectLst/>
              </a:rPr>
              <a:t>What does the distribution of data in column C look like?</a:t>
            </a:r>
          </a:p>
          <a:p>
            <a:pPr lvl="1"/>
            <a:r>
              <a:rPr lang="en-US" sz="2900" b="0" i="0" noProof="0" dirty="0">
                <a:solidFill>
                  <a:srgbClr val="333333"/>
                </a:solidFill>
                <a:effectLst/>
              </a:rPr>
              <a:t>clean the data by doing things like removing missing values and filtering rows or columns</a:t>
            </a:r>
          </a:p>
          <a:p>
            <a:pPr lvl="1"/>
            <a:r>
              <a:rPr lang="en-US" sz="2900" b="0" i="0" noProof="0" dirty="0">
                <a:solidFill>
                  <a:srgbClr val="333333"/>
                </a:solidFill>
                <a:effectLst/>
              </a:rPr>
              <a:t>visualize the data with help from Matplotlib</a:t>
            </a:r>
            <a:r>
              <a:rPr lang="en-US" sz="2900" noProof="0" dirty="0">
                <a:solidFill>
                  <a:srgbClr val="333333"/>
                </a:solidFill>
              </a:rPr>
              <a:t> (</a:t>
            </a:r>
            <a:r>
              <a:rPr lang="en-US" sz="2900" b="0" i="0" noProof="0" dirty="0">
                <a:solidFill>
                  <a:srgbClr val="333333"/>
                </a:solidFill>
                <a:effectLst/>
              </a:rPr>
              <a:t>plot bars, lines, histograms, bubbles, …)</a:t>
            </a:r>
          </a:p>
          <a:p>
            <a:pPr lvl="1"/>
            <a:r>
              <a:rPr lang="en-US" sz="2900" noProof="0" dirty="0">
                <a:solidFill>
                  <a:srgbClr val="333333"/>
                </a:solidFill>
              </a:rPr>
              <a:t>s</a:t>
            </a:r>
            <a:r>
              <a:rPr lang="en-US" sz="2900" b="0" i="0" noProof="0" dirty="0">
                <a:solidFill>
                  <a:srgbClr val="333333"/>
                </a:solidFill>
                <a:effectLst/>
              </a:rPr>
              <a:t>tore the cleaned, transformed data back into a CSV, other file or database</a:t>
            </a:r>
            <a:br>
              <a:rPr lang="en-US" sz="2400" b="0" i="1" noProof="0" dirty="0">
                <a:solidFill>
                  <a:srgbClr val="446785"/>
                </a:solidFill>
                <a:effectLst/>
              </a:rPr>
            </a:br>
            <a:br>
              <a:rPr lang="en-US" sz="2400" b="0" i="1" noProof="0" dirty="0">
                <a:solidFill>
                  <a:srgbClr val="446785"/>
                </a:solidFill>
                <a:effectLst/>
                <a:latin typeface="kepler-std-subhead"/>
              </a:rPr>
            </a:br>
            <a:br>
              <a:rPr lang="en-US" sz="2400" b="0" i="1" noProof="0" dirty="0">
                <a:solidFill>
                  <a:srgbClr val="446785"/>
                </a:solidFill>
                <a:effectLst/>
                <a:latin typeface="kepler-std-subhead"/>
              </a:rPr>
            </a:br>
            <a:endParaRPr lang="en-US" sz="2400" b="0" i="1" noProof="0" dirty="0">
              <a:solidFill>
                <a:srgbClr val="446785"/>
              </a:solidFill>
              <a:effectLst/>
              <a:latin typeface="kepler-std-subhead"/>
            </a:endParaRP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3</a:t>
            </a:fld>
            <a:endParaRPr lang="nl-BE"/>
          </a:p>
        </p:txBody>
      </p:sp>
      <p:pic>
        <p:nvPicPr>
          <p:cNvPr id="5" name="Picture 4">
            <a:extLst>
              <a:ext uri="{FF2B5EF4-FFF2-40B4-BE49-F238E27FC236}">
                <a16:creationId xmlns:a16="http://schemas.microsoft.com/office/drawing/2014/main" id="{6BB275B3-9C26-49F8-988E-7D4F687F28A6}"/>
              </a:ext>
            </a:extLst>
          </p:cNvPr>
          <p:cNvPicPr>
            <a:picLocks noChangeAspect="1"/>
          </p:cNvPicPr>
          <p:nvPr/>
        </p:nvPicPr>
        <p:blipFill>
          <a:blip r:embed="rId2"/>
          <a:stretch>
            <a:fillRect/>
          </a:stretch>
        </p:blipFill>
        <p:spPr>
          <a:xfrm>
            <a:off x="673319" y="104774"/>
            <a:ext cx="2857500" cy="1152525"/>
          </a:xfrm>
          <a:prstGeom prst="rect">
            <a:avLst/>
          </a:prstGeom>
        </p:spPr>
      </p:pic>
      <p:sp>
        <p:nvSpPr>
          <p:cNvPr id="6" name="Rectangle: Rounded Corners 5">
            <a:extLst>
              <a:ext uri="{FF2B5EF4-FFF2-40B4-BE49-F238E27FC236}">
                <a16:creationId xmlns:a16="http://schemas.microsoft.com/office/drawing/2014/main" id="{72D5582E-C60B-4564-8B40-1D7EAB84C2FE}"/>
              </a:ext>
            </a:extLst>
          </p:cNvPr>
          <p:cNvSpPr/>
          <p:nvPr/>
        </p:nvSpPr>
        <p:spPr>
          <a:xfrm>
            <a:off x="767255" y="5357156"/>
            <a:ext cx="10657489" cy="819807"/>
          </a:xfrm>
          <a:prstGeom prst="roundRect">
            <a:avLst/>
          </a:prstGeom>
          <a:no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sz="2400" b="0" dirty="0">
                <a:solidFill>
                  <a:srgbClr val="446785"/>
                </a:solidFill>
                <a:effectLst/>
                <a:latin typeface="kepler-std-subhead"/>
              </a:rPr>
              <a:t>pandas is derived from the term “panel data” </a:t>
            </a:r>
            <a:r>
              <a:rPr lang="en-US" sz="2400" dirty="0">
                <a:solidFill>
                  <a:srgbClr val="446785"/>
                </a:solidFill>
                <a:latin typeface="kepler-std-subhead"/>
              </a:rPr>
              <a:t>which are </a:t>
            </a:r>
            <a:r>
              <a:rPr lang="en-US" sz="2400" b="0" dirty="0">
                <a:solidFill>
                  <a:srgbClr val="446785"/>
                </a:solidFill>
                <a:effectLst/>
                <a:latin typeface="kepler-std-subhead"/>
              </a:rPr>
              <a:t>data sets that include observations over multiple time periods for the same individuals   [Wikipedia]</a:t>
            </a:r>
            <a:endParaRPr lang="nl-BE" sz="2400" dirty="0">
              <a:solidFill>
                <a:srgbClr val="446785"/>
              </a:solidFill>
            </a:endParaRPr>
          </a:p>
        </p:txBody>
      </p:sp>
    </p:spTree>
    <p:extLst>
      <p:ext uri="{BB962C8B-B14F-4D97-AF65-F5344CB8AC3E}">
        <p14:creationId xmlns:p14="http://schemas.microsoft.com/office/powerpoint/2010/main" val="3503501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41054-9015-4DDF-A576-0B0BE820AEB9}"/>
              </a:ext>
            </a:extLst>
          </p:cNvPr>
          <p:cNvSpPr>
            <a:spLocks noGrp="1"/>
          </p:cNvSpPr>
          <p:nvPr>
            <p:ph idx="1"/>
          </p:nvPr>
        </p:nvSpPr>
        <p:spPr>
          <a:xfrm>
            <a:off x="582705" y="1550894"/>
            <a:ext cx="11291048" cy="3403661"/>
          </a:xfrm>
        </p:spPr>
        <p:txBody>
          <a:bodyPr/>
          <a:lstStyle/>
          <a:p>
            <a:pPr algn="l"/>
            <a:r>
              <a:rPr lang="en-US" b="0" i="0" noProof="0" dirty="0">
                <a:solidFill>
                  <a:srgbClr val="333333"/>
                </a:solidFill>
                <a:effectLst/>
              </a:rPr>
              <a:t>The pandas library is a central component of the data science toolkit, but it is used in conjunction with other libraries</a:t>
            </a:r>
            <a:r>
              <a:rPr lang="en-US" noProof="0" dirty="0">
                <a:solidFill>
                  <a:srgbClr val="333333"/>
                </a:solidFill>
              </a:rPr>
              <a:t>.</a:t>
            </a:r>
            <a:endParaRPr lang="en-US" b="0" i="0" noProof="0" dirty="0">
              <a:solidFill>
                <a:srgbClr val="333333"/>
              </a:solidFill>
              <a:effectLst/>
            </a:endParaRPr>
          </a:p>
          <a:p>
            <a:r>
              <a:rPr lang="en-US" b="0" i="0" noProof="0" dirty="0">
                <a:solidFill>
                  <a:srgbClr val="333333"/>
                </a:solidFill>
                <a:effectLst/>
              </a:rPr>
              <a:t>Pandas is built on top of the </a:t>
            </a:r>
            <a:r>
              <a:rPr lang="en-US" b="1" i="0" noProof="0" dirty="0">
                <a:solidFill>
                  <a:srgbClr val="333333"/>
                </a:solidFill>
                <a:effectLst/>
              </a:rPr>
              <a:t>NumPy</a:t>
            </a:r>
            <a:r>
              <a:rPr lang="en-US" b="0" i="0" noProof="0" dirty="0">
                <a:solidFill>
                  <a:srgbClr val="333333"/>
                </a:solidFill>
                <a:effectLst/>
              </a:rPr>
              <a:t> package, meaning a lot of the structure of NumPy is used or replicated in pandas. </a:t>
            </a:r>
          </a:p>
          <a:p>
            <a:r>
              <a:rPr lang="en-US" b="0" i="0" noProof="0" dirty="0">
                <a:solidFill>
                  <a:srgbClr val="333333"/>
                </a:solidFill>
                <a:effectLst/>
              </a:rPr>
              <a:t>Data in pandas is often used to feed statistical analysis in </a:t>
            </a:r>
            <a:r>
              <a:rPr lang="en-US" b="1" i="0" noProof="0" dirty="0">
                <a:solidFill>
                  <a:srgbClr val="333333"/>
                </a:solidFill>
                <a:effectLst/>
              </a:rPr>
              <a:t>SciPy</a:t>
            </a:r>
            <a:r>
              <a:rPr lang="en-US" b="0" i="0" noProof="0" dirty="0">
                <a:solidFill>
                  <a:srgbClr val="333333"/>
                </a:solidFill>
                <a:effectLst/>
              </a:rPr>
              <a:t>, plotting functions </a:t>
            </a:r>
            <a:r>
              <a:rPr lang="en-US" noProof="0" dirty="0">
                <a:solidFill>
                  <a:srgbClr val="333333"/>
                </a:solidFill>
              </a:rPr>
              <a:t>in</a:t>
            </a:r>
            <a:r>
              <a:rPr lang="en-US" b="0" i="0" noProof="0" dirty="0">
                <a:solidFill>
                  <a:srgbClr val="333333"/>
                </a:solidFill>
                <a:effectLst/>
              </a:rPr>
              <a:t> </a:t>
            </a:r>
            <a:r>
              <a:rPr lang="en-US" b="1" i="0" noProof="0" dirty="0">
                <a:solidFill>
                  <a:srgbClr val="333333"/>
                </a:solidFill>
                <a:effectLst/>
              </a:rPr>
              <a:t>Matplotlib </a:t>
            </a:r>
            <a:r>
              <a:rPr lang="en-US" i="0" noProof="0" dirty="0">
                <a:solidFill>
                  <a:srgbClr val="333333"/>
                </a:solidFill>
                <a:effectLst/>
              </a:rPr>
              <a:t>and</a:t>
            </a:r>
            <a:r>
              <a:rPr lang="en-US" b="1" i="0" noProof="0" dirty="0">
                <a:solidFill>
                  <a:srgbClr val="333333"/>
                </a:solidFill>
                <a:effectLst/>
              </a:rPr>
              <a:t> </a:t>
            </a:r>
            <a:r>
              <a:rPr lang="en-US" b="1" i="0" noProof="0" dirty="0" err="1">
                <a:solidFill>
                  <a:srgbClr val="333333"/>
                </a:solidFill>
                <a:effectLst/>
              </a:rPr>
              <a:t>SeaBorn</a:t>
            </a:r>
            <a:r>
              <a:rPr lang="en-US" b="0" i="0" noProof="0" dirty="0">
                <a:solidFill>
                  <a:srgbClr val="333333"/>
                </a:solidFill>
                <a:effectLst/>
              </a:rPr>
              <a:t>, and machine learning algorithms in </a:t>
            </a:r>
            <a:r>
              <a:rPr lang="en-US" b="1" i="0" noProof="0" dirty="0">
                <a:solidFill>
                  <a:srgbClr val="333333"/>
                </a:solidFill>
                <a:effectLst/>
              </a:rPr>
              <a:t>Scikit-learn</a:t>
            </a:r>
            <a:r>
              <a:rPr lang="en-US" b="0" i="0" noProof="0" dirty="0">
                <a:solidFill>
                  <a:srgbClr val="333333"/>
                </a:solidFill>
                <a:effectLst/>
              </a:rPr>
              <a:t>.</a:t>
            </a:r>
          </a:p>
          <a:p>
            <a:endParaRPr lang="en-US" noProof="0" dirty="0"/>
          </a:p>
        </p:txBody>
      </p:sp>
      <p:sp>
        <p:nvSpPr>
          <p:cNvPr id="4" name="Slide Number Placeholder 3">
            <a:extLst>
              <a:ext uri="{FF2B5EF4-FFF2-40B4-BE49-F238E27FC236}">
                <a16:creationId xmlns:a16="http://schemas.microsoft.com/office/drawing/2014/main" id="{2C22AFA2-2B88-40D4-AEB6-957CC800E3D1}"/>
              </a:ext>
            </a:extLst>
          </p:cNvPr>
          <p:cNvSpPr>
            <a:spLocks noGrp="1"/>
          </p:cNvSpPr>
          <p:nvPr>
            <p:ph type="sldNum" sz="quarter" idx="12"/>
          </p:nvPr>
        </p:nvSpPr>
        <p:spPr/>
        <p:txBody>
          <a:bodyPr/>
          <a:lstStyle/>
          <a:p>
            <a:fld id="{FE1B3154-47D9-4402-8EDB-E791933DC0B9}" type="slidenum">
              <a:rPr lang="nl-BE" smtClean="0"/>
              <a:pPr/>
              <a:t>4</a:t>
            </a:fld>
            <a:endParaRPr lang="nl-BE"/>
          </a:p>
        </p:txBody>
      </p:sp>
      <p:pic>
        <p:nvPicPr>
          <p:cNvPr id="5" name="Picture 4">
            <a:extLst>
              <a:ext uri="{FF2B5EF4-FFF2-40B4-BE49-F238E27FC236}">
                <a16:creationId xmlns:a16="http://schemas.microsoft.com/office/drawing/2014/main" id="{9EFE9B24-F929-4FAE-9417-6CAB5C50AE23}"/>
              </a:ext>
            </a:extLst>
          </p:cNvPr>
          <p:cNvPicPr>
            <a:picLocks noChangeAspect="1"/>
          </p:cNvPicPr>
          <p:nvPr/>
        </p:nvPicPr>
        <p:blipFill>
          <a:blip r:embed="rId3"/>
          <a:stretch>
            <a:fillRect/>
          </a:stretch>
        </p:blipFill>
        <p:spPr>
          <a:xfrm>
            <a:off x="673319" y="104774"/>
            <a:ext cx="2857500" cy="1152525"/>
          </a:xfrm>
          <a:prstGeom prst="rect">
            <a:avLst/>
          </a:prstGeom>
        </p:spPr>
      </p:pic>
      <p:pic>
        <p:nvPicPr>
          <p:cNvPr id="1026" name="Picture 2">
            <a:extLst>
              <a:ext uri="{FF2B5EF4-FFF2-40B4-BE49-F238E27FC236}">
                <a16:creationId xmlns:a16="http://schemas.microsoft.com/office/drawing/2014/main" id="{42869831-D7F7-1DEC-00B8-3FAA4E42AA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220"/>
          <a:stretch/>
        </p:blipFill>
        <p:spPr bwMode="auto">
          <a:xfrm>
            <a:off x="4742164" y="4715140"/>
            <a:ext cx="2707672" cy="1880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12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E770-5794-4996-97C7-6719E46EC377}"/>
              </a:ext>
            </a:extLst>
          </p:cNvPr>
          <p:cNvSpPr>
            <a:spLocks noGrp="1"/>
          </p:cNvSpPr>
          <p:nvPr>
            <p:ph type="title"/>
          </p:nvPr>
        </p:nvSpPr>
        <p:spPr/>
        <p:txBody>
          <a:bodyPr/>
          <a:lstStyle/>
          <a:p>
            <a:r>
              <a:rPr lang="en-US" noProof="0" dirty="0"/>
              <a:t>Install and import pandas</a:t>
            </a:r>
          </a:p>
        </p:txBody>
      </p:sp>
      <p:sp>
        <p:nvSpPr>
          <p:cNvPr id="3" name="Content Placeholder 2">
            <a:extLst>
              <a:ext uri="{FF2B5EF4-FFF2-40B4-BE49-F238E27FC236}">
                <a16:creationId xmlns:a16="http://schemas.microsoft.com/office/drawing/2014/main" id="{619C11AC-FBB2-48B7-B5DC-26A21DC8E6EF}"/>
              </a:ext>
            </a:extLst>
          </p:cNvPr>
          <p:cNvSpPr>
            <a:spLocks noGrp="1"/>
          </p:cNvSpPr>
          <p:nvPr>
            <p:ph idx="1"/>
          </p:nvPr>
        </p:nvSpPr>
        <p:spPr>
          <a:xfrm>
            <a:off x="582705" y="1550894"/>
            <a:ext cx="11504192" cy="4626069"/>
          </a:xfrm>
        </p:spPr>
        <p:txBody>
          <a:bodyPr>
            <a:normAutofit fontScale="85000" lnSpcReduction="20000"/>
          </a:bodyPr>
          <a:lstStyle/>
          <a:p>
            <a:r>
              <a:rPr lang="en-US" sz="3100" noProof="0" dirty="0"/>
              <a:t>Run the install command in a terminal window</a:t>
            </a:r>
            <a:r>
              <a:rPr lang="en-US" noProof="0" dirty="0"/>
              <a:t>:</a:t>
            </a:r>
            <a:br>
              <a:rPr lang="en-US" noProof="0" dirty="0"/>
            </a:br>
            <a:endParaRPr lang="en-US" noProof="0" dirty="0"/>
          </a:p>
          <a:p>
            <a:pPr marL="457200" lvl="1" indent="0">
              <a:buNone/>
            </a:pPr>
            <a:r>
              <a:rPr lang="en-US" noProof="0" dirty="0">
                <a:latin typeface="Consolas" panose="020B0609020204030204" pitchFamily="49" charset="0"/>
              </a:rPr>
              <a:t>	pip install pandas</a:t>
            </a:r>
          </a:p>
          <a:p>
            <a:pPr marL="457200" lvl="1" indent="0">
              <a:buNone/>
            </a:pPr>
            <a:endParaRPr lang="en-US" noProof="0" dirty="0">
              <a:latin typeface="Consolas" panose="020B0609020204030204" pitchFamily="49" charset="0"/>
            </a:endParaRPr>
          </a:p>
          <a:p>
            <a:r>
              <a:rPr lang="en-US" sz="3100" noProof="0" dirty="0"/>
              <a:t>In </a:t>
            </a:r>
            <a:r>
              <a:rPr lang="en-US" sz="3100" noProof="0" dirty="0" err="1"/>
              <a:t>Jupyter</a:t>
            </a:r>
            <a:r>
              <a:rPr lang="en-US" sz="3100" noProof="0" dirty="0"/>
              <a:t> you must use a preceding</a:t>
            </a:r>
            <a:r>
              <a:rPr lang="en-US" sz="3100" noProof="0" dirty="0">
                <a:solidFill>
                  <a:srgbClr val="446785"/>
                </a:solidFill>
              </a:rPr>
              <a:t> </a:t>
            </a:r>
            <a:r>
              <a:rPr lang="en-US" sz="3100" b="1" noProof="0" dirty="0">
                <a:solidFill>
                  <a:srgbClr val="446785"/>
                </a:solidFill>
              </a:rPr>
              <a:t>!</a:t>
            </a:r>
            <a:r>
              <a:rPr lang="en-US" sz="3100" noProof="0" dirty="0">
                <a:solidFill>
                  <a:srgbClr val="446785"/>
                </a:solidFill>
              </a:rPr>
              <a:t> </a:t>
            </a:r>
            <a:r>
              <a:rPr lang="en-US" sz="3100" noProof="0" dirty="0"/>
              <a:t>to force the code cell to be executed in a terminal window:</a:t>
            </a:r>
            <a:br>
              <a:rPr lang="en-US" noProof="0" dirty="0"/>
            </a:br>
            <a:br>
              <a:rPr lang="en-US" noProof="0" dirty="0"/>
            </a:br>
            <a:r>
              <a:rPr lang="en-US" noProof="0" dirty="0"/>
              <a:t>  	</a:t>
            </a:r>
            <a:r>
              <a:rPr lang="en-US" b="1" noProof="0" dirty="0">
                <a:solidFill>
                  <a:srgbClr val="446785"/>
                </a:solidFill>
              </a:rPr>
              <a:t>!</a:t>
            </a:r>
            <a:r>
              <a:rPr lang="en-US" sz="2600" noProof="0" dirty="0">
                <a:latin typeface="Consolas" panose="020B0609020204030204" pitchFamily="49" charset="0"/>
              </a:rPr>
              <a:t>pip install pandas</a:t>
            </a:r>
          </a:p>
          <a:p>
            <a:endParaRPr lang="en-US" sz="3000" noProof="0" dirty="0">
              <a:latin typeface="Consolas" panose="020B0609020204030204" pitchFamily="49" charset="0"/>
            </a:endParaRPr>
          </a:p>
          <a:p>
            <a:r>
              <a:rPr lang="en-US" sz="3000" noProof="0" dirty="0"/>
              <a:t>To import pandas we usually import it with a shorter name since it's used so much</a:t>
            </a:r>
            <a:r>
              <a:rPr lang="en-US" sz="2600" noProof="0" dirty="0"/>
              <a:t>:</a:t>
            </a:r>
            <a:br>
              <a:rPr lang="en-US" sz="2600" noProof="0" dirty="0"/>
            </a:br>
            <a:br>
              <a:rPr lang="en-US" sz="3000" noProof="0" dirty="0"/>
            </a:br>
            <a:r>
              <a:rPr lang="en-US" sz="2600" noProof="0" dirty="0"/>
              <a:t>	</a:t>
            </a:r>
            <a:r>
              <a:rPr lang="en-US" sz="2600" noProof="0" dirty="0">
                <a:latin typeface="Consolas" panose="020B0609020204030204" pitchFamily="49" charset="0"/>
              </a:rPr>
              <a:t>import pandas as pd</a:t>
            </a:r>
            <a:br>
              <a:rPr lang="en-US" sz="2600" noProof="0" dirty="0">
                <a:latin typeface="Consolas" panose="020B0609020204030204" pitchFamily="49" charset="0"/>
              </a:rPr>
            </a:br>
            <a:br>
              <a:rPr lang="en-US" sz="2600" noProof="0" dirty="0">
                <a:latin typeface="Consolas" panose="020B0609020204030204" pitchFamily="49" charset="0"/>
              </a:rPr>
            </a:br>
            <a:endParaRPr lang="en-US" noProof="0" dirty="0"/>
          </a:p>
        </p:txBody>
      </p:sp>
      <p:sp>
        <p:nvSpPr>
          <p:cNvPr id="4" name="Slide Number Placeholder 3">
            <a:extLst>
              <a:ext uri="{FF2B5EF4-FFF2-40B4-BE49-F238E27FC236}">
                <a16:creationId xmlns:a16="http://schemas.microsoft.com/office/drawing/2014/main" id="{129864C0-7066-4F81-8C90-A968DDD3BBC7}"/>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5176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A613DE-5C17-FB29-B6ED-8A1FC2D998E2}"/>
              </a:ext>
            </a:extLst>
          </p:cNvPr>
          <p:cNvSpPr>
            <a:spLocks noGrp="1"/>
          </p:cNvSpPr>
          <p:nvPr>
            <p:ph type="ctrTitle"/>
          </p:nvPr>
        </p:nvSpPr>
        <p:spPr/>
        <p:txBody>
          <a:bodyPr/>
          <a:lstStyle/>
          <a:p>
            <a:r>
              <a:rPr lang="en-US" noProof="0" dirty="0"/>
              <a:t>About dirty data</a:t>
            </a:r>
          </a:p>
        </p:txBody>
      </p:sp>
      <p:sp>
        <p:nvSpPr>
          <p:cNvPr id="4" name="Slide Number Placeholder 3">
            <a:extLst>
              <a:ext uri="{FF2B5EF4-FFF2-40B4-BE49-F238E27FC236}">
                <a16:creationId xmlns:a16="http://schemas.microsoft.com/office/drawing/2014/main" id="{A2C1AA11-CD0D-08B5-315E-F2455843AD64}"/>
              </a:ext>
            </a:extLst>
          </p:cNvPr>
          <p:cNvSpPr>
            <a:spLocks noGrp="1"/>
          </p:cNvSpPr>
          <p:nvPr>
            <p:ph type="sldNum" sz="quarter" idx="12"/>
          </p:nvPr>
        </p:nvSpPr>
        <p:spPr/>
        <p:txBody>
          <a:bodyPr/>
          <a:lstStyle/>
          <a:p>
            <a:fld id="{FE1B3154-47D9-4402-8EDB-E791933DC0B9}" type="slidenum">
              <a:rPr lang="nl-BE" smtClean="0"/>
              <a:pPr/>
              <a:t>6</a:t>
            </a:fld>
            <a:endParaRPr lang="nl-BE"/>
          </a:p>
        </p:txBody>
      </p:sp>
    </p:spTree>
    <p:extLst>
      <p:ext uri="{BB962C8B-B14F-4D97-AF65-F5344CB8AC3E}">
        <p14:creationId xmlns:p14="http://schemas.microsoft.com/office/powerpoint/2010/main" val="3995905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43F21F-B143-7BEB-7A2B-FF280F7F56FF}"/>
              </a:ext>
            </a:extLst>
          </p:cNvPr>
          <p:cNvSpPr>
            <a:spLocks noGrp="1"/>
          </p:cNvSpPr>
          <p:nvPr>
            <p:ph type="title"/>
          </p:nvPr>
        </p:nvSpPr>
        <p:spPr/>
        <p:txBody>
          <a:bodyPr/>
          <a:lstStyle/>
          <a:p>
            <a:r>
              <a:rPr lang="en-US" noProof="0" dirty="0"/>
              <a:t>Same data, different formats</a:t>
            </a:r>
          </a:p>
        </p:txBody>
      </p:sp>
      <p:sp>
        <p:nvSpPr>
          <p:cNvPr id="4" name="Slide Number Placeholder 3">
            <a:extLst>
              <a:ext uri="{FF2B5EF4-FFF2-40B4-BE49-F238E27FC236}">
                <a16:creationId xmlns:a16="http://schemas.microsoft.com/office/drawing/2014/main" id="{FB70B171-9888-627F-53B1-A676AC91C03E}"/>
              </a:ext>
            </a:extLst>
          </p:cNvPr>
          <p:cNvSpPr>
            <a:spLocks noGrp="1"/>
          </p:cNvSpPr>
          <p:nvPr>
            <p:ph type="sldNum" sz="quarter" idx="12"/>
          </p:nvPr>
        </p:nvSpPr>
        <p:spPr/>
        <p:txBody>
          <a:bodyPr/>
          <a:lstStyle/>
          <a:p>
            <a:fld id="{FE1B3154-47D9-4402-8EDB-E791933DC0B9}" type="slidenum">
              <a:rPr lang="nl-BE" smtClean="0"/>
              <a:pPr/>
              <a:t>7</a:t>
            </a:fld>
            <a:endParaRPr lang="nl-BE"/>
          </a:p>
        </p:txBody>
      </p:sp>
      <p:sp>
        <p:nvSpPr>
          <p:cNvPr id="7" name="TextBox 6">
            <a:extLst>
              <a:ext uri="{FF2B5EF4-FFF2-40B4-BE49-F238E27FC236}">
                <a16:creationId xmlns:a16="http://schemas.microsoft.com/office/drawing/2014/main" id="{A5C7D404-5096-5571-8D50-9D758D701440}"/>
              </a:ext>
            </a:extLst>
          </p:cNvPr>
          <p:cNvSpPr txBox="1"/>
          <p:nvPr/>
        </p:nvSpPr>
        <p:spPr>
          <a:xfrm>
            <a:off x="822354" y="1613118"/>
            <a:ext cx="3949221"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&lt;chr&gt;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8" name="TextBox 7">
            <a:extLst>
              <a:ext uri="{FF2B5EF4-FFF2-40B4-BE49-F238E27FC236}">
                <a16:creationId xmlns:a16="http://schemas.microsoft.com/office/drawing/2014/main" id="{DD5F75E9-CFAB-EB40-35AE-850A7F52BD5F}"/>
              </a:ext>
            </a:extLst>
          </p:cNvPr>
          <p:cNvSpPr txBox="1"/>
          <p:nvPr/>
        </p:nvSpPr>
        <p:spPr>
          <a:xfrm>
            <a:off x="5672499" y="1619858"/>
            <a:ext cx="4499942" cy="3108543"/>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9" name="TextBox 8">
            <a:extLst>
              <a:ext uri="{FF2B5EF4-FFF2-40B4-BE49-F238E27FC236}">
                <a16:creationId xmlns:a16="http://schemas.microsoft.com/office/drawing/2014/main" id="{1233481F-46B6-A544-A757-E1FE4174962E}"/>
              </a:ext>
            </a:extLst>
          </p:cNvPr>
          <p:cNvSpPr txBox="1"/>
          <p:nvPr/>
        </p:nvSpPr>
        <p:spPr>
          <a:xfrm>
            <a:off x="822354" y="3832012"/>
            <a:ext cx="4059627"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0" name="TextBox 9">
            <a:extLst>
              <a:ext uri="{FF2B5EF4-FFF2-40B4-BE49-F238E27FC236}">
                <a16:creationId xmlns:a16="http://schemas.microsoft.com/office/drawing/2014/main" id="{07997F4B-5BF7-3352-779D-32727EA03727}"/>
              </a:ext>
            </a:extLst>
          </p:cNvPr>
          <p:cNvSpPr txBox="1"/>
          <p:nvPr/>
        </p:nvSpPr>
        <p:spPr>
          <a:xfrm>
            <a:off x="8894973" y="5063120"/>
            <a:ext cx="3297027"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1" name="TextBox 10">
            <a:extLst>
              <a:ext uri="{FF2B5EF4-FFF2-40B4-BE49-F238E27FC236}">
                <a16:creationId xmlns:a16="http://schemas.microsoft.com/office/drawing/2014/main" id="{0E0E00AD-52AD-A09F-A3FE-DD4239297FAF}"/>
              </a:ext>
            </a:extLst>
          </p:cNvPr>
          <p:cNvSpPr txBox="1"/>
          <p:nvPr/>
        </p:nvSpPr>
        <p:spPr>
          <a:xfrm>
            <a:off x="5214827" y="5063120"/>
            <a:ext cx="3680146"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&lt;chr&gt;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2" name="Oval 1">
            <a:extLst>
              <a:ext uri="{FF2B5EF4-FFF2-40B4-BE49-F238E27FC236}">
                <a16:creationId xmlns:a16="http://schemas.microsoft.com/office/drawing/2014/main" id="{ACA87372-0EF7-A9A6-59F7-3108C63BF6D4}"/>
              </a:ext>
            </a:extLst>
          </p:cNvPr>
          <p:cNvSpPr/>
          <p:nvPr/>
        </p:nvSpPr>
        <p:spPr>
          <a:xfrm>
            <a:off x="343542" y="1764131"/>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1</a:t>
            </a:r>
          </a:p>
        </p:txBody>
      </p:sp>
      <p:sp>
        <p:nvSpPr>
          <p:cNvPr id="3" name="Oval 2">
            <a:extLst>
              <a:ext uri="{FF2B5EF4-FFF2-40B4-BE49-F238E27FC236}">
                <a16:creationId xmlns:a16="http://schemas.microsoft.com/office/drawing/2014/main" id="{4E9EC5AE-7A7F-8ACC-D956-5C2ED95222D9}"/>
              </a:ext>
            </a:extLst>
          </p:cNvPr>
          <p:cNvSpPr/>
          <p:nvPr/>
        </p:nvSpPr>
        <p:spPr>
          <a:xfrm>
            <a:off x="5137196" y="1613118"/>
            <a:ext cx="320511" cy="319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2</a:t>
            </a:r>
          </a:p>
        </p:txBody>
      </p:sp>
      <p:sp>
        <p:nvSpPr>
          <p:cNvPr id="6" name="Oval 5">
            <a:extLst>
              <a:ext uri="{FF2B5EF4-FFF2-40B4-BE49-F238E27FC236}">
                <a16:creationId xmlns:a16="http://schemas.microsoft.com/office/drawing/2014/main" id="{BB572E41-7BB2-CF80-4AD8-386038DCB2C6}"/>
              </a:ext>
            </a:extLst>
          </p:cNvPr>
          <p:cNvSpPr/>
          <p:nvPr/>
        </p:nvSpPr>
        <p:spPr>
          <a:xfrm>
            <a:off x="343542" y="3915732"/>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3</a:t>
            </a:r>
          </a:p>
        </p:txBody>
      </p:sp>
      <p:sp>
        <p:nvSpPr>
          <p:cNvPr id="12" name="Oval 11">
            <a:extLst>
              <a:ext uri="{FF2B5EF4-FFF2-40B4-BE49-F238E27FC236}">
                <a16:creationId xmlns:a16="http://schemas.microsoft.com/office/drawing/2014/main" id="{60A21350-EA48-9306-4646-C2FBE480B532}"/>
              </a:ext>
            </a:extLst>
          </p:cNvPr>
          <p:cNvSpPr/>
          <p:nvPr/>
        </p:nvSpPr>
        <p:spPr>
          <a:xfrm>
            <a:off x="5214827" y="4634573"/>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4</a:t>
            </a:r>
          </a:p>
        </p:txBody>
      </p:sp>
    </p:spTree>
    <p:extLst>
      <p:ext uri="{BB962C8B-B14F-4D97-AF65-F5344CB8AC3E}">
        <p14:creationId xmlns:p14="http://schemas.microsoft.com/office/powerpoint/2010/main" val="204340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DBB8-2A01-96C4-9D46-AC288F870EA1}"/>
              </a:ext>
            </a:extLst>
          </p:cNvPr>
          <p:cNvSpPr>
            <a:spLocks noGrp="1"/>
          </p:cNvSpPr>
          <p:nvPr>
            <p:ph type="title"/>
          </p:nvPr>
        </p:nvSpPr>
        <p:spPr/>
        <p:txBody>
          <a:bodyPr/>
          <a:lstStyle/>
          <a:p>
            <a:r>
              <a:rPr lang="en-US" noProof="0" dirty="0"/>
              <a:t>3 rules for data files</a:t>
            </a:r>
          </a:p>
        </p:txBody>
      </p:sp>
      <p:sp>
        <p:nvSpPr>
          <p:cNvPr id="3" name="Content Placeholder 2">
            <a:extLst>
              <a:ext uri="{FF2B5EF4-FFF2-40B4-BE49-F238E27FC236}">
                <a16:creationId xmlns:a16="http://schemas.microsoft.com/office/drawing/2014/main" id="{DABCEDC8-E08B-2A29-617F-40D9A5D9F994}"/>
              </a:ext>
            </a:extLst>
          </p:cNvPr>
          <p:cNvSpPr>
            <a:spLocks noGrp="1"/>
          </p:cNvSpPr>
          <p:nvPr>
            <p:ph idx="1"/>
          </p:nvPr>
        </p:nvSpPr>
        <p:spPr/>
        <p:txBody>
          <a:bodyPr/>
          <a:lstStyle/>
          <a:p>
            <a:r>
              <a:rPr lang="en-US" noProof="0" dirty="0"/>
              <a:t>Each variable must have its own column.</a:t>
            </a:r>
          </a:p>
          <a:p>
            <a:r>
              <a:rPr lang="en-US" noProof="0" dirty="0"/>
              <a:t>Each observation must have its own row.</a:t>
            </a:r>
          </a:p>
          <a:p>
            <a:r>
              <a:rPr lang="en-US" noProof="0" dirty="0"/>
              <a:t>Each value must have its own cell.</a:t>
            </a:r>
          </a:p>
        </p:txBody>
      </p:sp>
      <p:sp>
        <p:nvSpPr>
          <p:cNvPr id="4" name="Slide Number Placeholder 3">
            <a:extLst>
              <a:ext uri="{FF2B5EF4-FFF2-40B4-BE49-F238E27FC236}">
                <a16:creationId xmlns:a16="http://schemas.microsoft.com/office/drawing/2014/main" id="{2A806239-B614-72EA-7991-AEB04CA61632}"/>
              </a:ext>
            </a:extLst>
          </p:cNvPr>
          <p:cNvSpPr>
            <a:spLocks noGrp="1"/>
          </p:cNvSpPr>
          <p:nvPr>
            <p:ph type="sldNum" sz="quarter" idx="12"/>
          </p:nvPr>
        </p:nvSpPr>
        <p:spPr/>
        <p:txBody>
          <a:bodyPr/>
          <a:lstStyle/>
          <a:p>
            <a:fld id="{FE1B3154-47D9-4402-8EDB-E791933DC0B9}" type="slidenum">
              <a:rPr lang="nl-BE" smtClean="0"/>
              <a:pPr/>
              <a:t>8</a:t>
            </a:fld>
            <a:endParaRPr lang="nl-BE"/>
          </a:p>
        </p:txBody>
      </p:sp>
      <p:pic>
        <p:nvPicPr>
          <p:cNvPr id="5" name="Picture 2" descr="Following three rules makes a dataset tidy: variables are in columns, observations are in rows, and values are in cells.">
            <a:extLst>
              <a:ext uri="{FF2B5EF4-FFF2-40B4-BE49-F238E27FC236}">
                <a16:creationId xmlns:a16="http://schemas.microsoft.com/office/drawing/2014/main" id="{E93E2039-9DFA-587B-0DD9-9FC1325D5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828" y="3394049"/>
            <a:ext cx="9192344" cy="2872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56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43F21F-B143-7BEB-7A2B-FF280F7F56FF}"/>
              </a:ext>
            </a:extLst>
          </p:cNvPr>
          <p:cNvSpPr>
            <a:spLocks noGrp="1"/>
          </p:cNvSpPr>
          <p:nvPr>
            <p:ph type="title"/>
          </p:nvPr>
        </p:nvSpPr>
        <p:spPr/>
        <p:txBody>
          <a:bodyPr/>
          <a:lstStyle/>
          <a:p>
            <a:r>
              <a:rPr lang="en-US" sz="4400" noProof="0" dirty="0"/>
              <a:t>Does each variable have its own column?</a:t>
            </a:r>
            <a:endParaRPr lang="en-US" noProof="0" dirty="0"/>
          </a:p>
        </p:txBody>
      </p:sp>
      <p:sp>
        <p:nvSpPr>
          <p:cNvPr id="4" name="Slide Number Placeholder 3">
            <a:extLst>
              <a:ext uri="{FF2B5EF4-FFF2-40B4-BE49-F238E27FC236}">
                <a16:creationId xmlns:a16="http://schemas.microsoft.com/office/drawing/2014/main" id="{FB70B171-9888-627F-53B1-A676AC91C03E}"/>
              </a:ext>
            </a:extLst>
          </p:cNvPr>
          <p:cNvSpPr>
            <a:spLocks noGrp="1"/>
          </p:cNvSpPr>
          <p:nvPr>
            <p:ph type="sldNum" sz="quarter" idx="12"/>
          </p:nvPr>
        </p:nvSpPr>
        <p:spPr/>
        <p:txBody>
          <a:bodyPr/>
          <a:lstStyle/>
          <a:p>
            <a:fld id="{FE1B3154-47D9-4402-8EDB-E791933DC0B9}" type="slidenum">
              <a:rPr lang="nl-BE" smtClean="0"/>
              <a:pPr/>
              <a:t>9</a:t>
            </a:fld>
            <a:endParaRPr lang="nl-BE"/>
          </a:p>
        </p:txBody>
      </p:sp>
      <p:sp>
        <p:nvSpPr>
          <p:cNvPr id="7" name="TextBox 6">
            <a:extLst>
              <a:ext uri="{FF2B5EF4-FFF2-40B4-BE49-F238E27FC236}">
                <a16:creationId xmlns:a16="http://schemas.microsoft.com/office/drawing/2014/main" id="{A5C7D404-5096-5571-8D50-9D758D701440}"/>
              </a:ext>
            </a:extLst>
          </p:cNvPr>
          <p:cNvSpPr txBox="1"/>
          <p:nvPr/>
        </p:nvSpPr>
        <p:spPr>
          <a:xfrm>
            <a:off x="822354" y="1613118"/>
            <a:ext cx="3949221"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&lt;chr&gt;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8" name="TextBox 7">
            <a:extLst>
              <a:ext uri="{FF2B5EF4-FFF2-40B4-BE49-F238E27FC236}">
                <a16:creationId xmlns:a16="http://schemas.microsoft.com/office/drawing/2014/main" id="{DD5F75E9-CFAB-EB40-35AE-850A7F52BD5F}"/>
              </a:ext>
            </a:extLst>
          </p:cNvPr>
          <p:cNvSpPr txBox="1"/>
          <p:nvPr/>
        </p:nvSpPr>
        <p:spPr>
          <a:xfrm>
            <a:off x="5672499" y="1619858"/>
            <a:ext cx="4499942" cy="3108543"/>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9" name="TextBox 8">
            <a:extLst>
              <a:ext uri="{FF2B5EF4-FFF2-40B4-BE49-F238E27FC236}">
                <a16:creationId xmlns:a16="http://schemas.microsoft.com/office/drawing/2014/main" id="{1233481F-46B6-A544-A757-E1FE4174962E}"/>
              </a:ext>
            </a:extLst>
          </p:cNvPr>
          <p:cNvSpPr txBox="1"/>
          <p:nvPr/>
        </p:nvSpPr>
        <p:spPr>
          <a:xfrm>
            <a:off x="822354" y="3832012"/>
            <a:ext cx="4059627"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0" name="TextBox 9">
            <a:extLst>
              <a:ext uri="{FF2B5EF4-FFF2-40B4-BE49-F238E27FC236}">
                <a16:creationId xmlns:a16="http://schemas.microsoft.com/office/drawing/2014/main" id="{07997F4B-5BF7-3352-779D-32727EA03727}"/>
              </a:ext>
            </a:extLst>
          </p:cNvPr>
          <p:cNvSpPr txBox="1"/>
          <p:nvPr/>
        </p:nvSpPr>
        <p:spPr>
          <a:xfrm>
            <a:off x="8894973" y="5063120"/>
            <a:ext cx="3297027"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1" name="TextBox 10">
            <a:extLst>
              <a:ext uri="{FF2B5EF4-FFF2-40B4-BE49-F238E27FC236}">
                <a16:creationId xmlns:a16="http://schemas.microsoft.com/office/drawing/2014/main" id="{0E0E00AD-52AD-A09F-A3FE-DD4239297FAF}"/>
              </a:ext>
            </a:extLst>
          </p:cNvPr>
          <p:cNvSpPr txBox="1"/>
          <p:nvPr/>
        </p:nvSpPr>
        <p:spPr>
          <a:xfrm>
            <a:off x="5214827" y="5063120"/>
            <a:ext cx="3680146"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&lt;chr&gt;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2" name="Oval 1">
            <a:extLst>
              <a:ext uri="{FF2B5EF4-FFF2-40B4-BE49-F238E27FC236}">
                <a16:creationId xmlns:a16="http://schemas.microsoft.com/office/drawing/2014/main" id="{ACA87372-0EF7-A9A6-59F7-3108C63BF6D4}"/>
              </a:ext>
            </a:extLst>
          </p:cNvPr>
          <p:cNvSpPr/>
          <p:nvPr/>
        </p:nvSpPr>
        <p:spPr>
          <a:xfrm>
            <a:off x="343542" y="1764131"/>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1</a:t>
            </a:r>
          </a:p>
        </p:txBody>
      </p:sp>
      <p:sp>
        <p:nvSpPr>
          <p:cNvPr id="3" name="Oval 2">
            <a:extLst>
              <a:ext uri="{FF2B5EF4-FFF2-40B4-BE49-F238E27FC236}">
                <a16:creationId xmlns:a16="http://schemas.microsoft.com/office/drawing/2014/main" id="{4E9EC5AE-7A7F-8ACC-D956-5C2ED95222D9}"/>
              </a:ext>
            </a:extLst>
          </p:cNvPr>
          <p:cNvSpPr/>
          <p:nvPr/>
        </p:nvSpPr>
        <p:spPr>
          <a:xfrm>
            <a:off x="5137196" y="1613118"/>
            <a:ext cx="320511" cy="319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2</a:t>
            </a:r>
          </a:p>
        </p:txBody>
      </p:sp>
      <p:sp>
        <p:nvSpPr>
          <p:cNvPr id="6" name="Oval 5">
            <a:extLst>
              <a:ext uri="{FF2B5EF4-FFF2-40B4-BE49-F238E27FC236}">
                <a16:creationId xmlns:a16="http://schemas.microsoft.com/office/drawing/2014/main" id="{BB572E41-7BB2-CF80-4AD8-386038DCB2C6}"/>
              </a:ext>
            </a:extLst>
          </p:cNvPr>
          <p:cNvSpPr/>
          <p:nvPr/>
        </p:nvSpPr>
        <p:spPr>
          <a:xfrm>
            <a:off x="343542" y="3915732"/>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3</a:t>
            </a:r>
          </a:p>
        </p:txBody>
      </p:sp>
      <p:sp>
        <p:nvSpPr>
          <p:cNvPr id="12" name="Oval 11">
            <a:extLst>
              <a:ext uri="{FF2B5EF4-FFF2-40B4-BE49-F238E27FC236}">
                <a16:creationId xmlns:a16="http://schemas.microsoft.com/office/drawing/2014/main" id="{60A21350-EA48-9306-4646-C2FBE480B532}"/>
              </a:ext>
            </a:extLst>
          </p:cNvPr>
          <p:cNvSpPr/>
          <p:nvPr/>
        </p:nvSpPr>
        <p:spPr>
          <a:xfrm>
            <a:off x="5214827" y="4634573"/>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4</a:t>
            </a:r>
          </a:p>
        </p:txBody>
      </p:sp>
    </p:spTree>
    <p:extLst>
      <p:ext uri="{BB962C8B-B14F-4D97-AF65-F5344CB8AC3E}">
        <p14:creationId xmlns:p14="http://schemas.microsoft.com/office/powerpoint/2010/main" val="277479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9B9DB0-AD21-954A-9235-C509248868A6}"/>
              </a:ext>
            </a:extLst>
          </p:cNvPr>
          <p:cNvSpPr>
            <a:spLocks noGrp="1"/>
          </p:cNvSpPr>
          <p:nvPr>
            <p:ph type="title"/>
          </p:nvPr>
        </p:nvSpPr>
        <p:spPr/>
        <p:txBody>
          <a:bodyPr>
            <a:normAutofit/>
          </a:bodyPr>
          <a:lstStyle/>
          <a:p>
            <a:r>
              <a:rPr lang="en-US" sz="4400" noProof="0" dirty="0"/>
              <a:t>Each variable must have its own column</a:t>
            </a:r>
            <a:endParaRPr lang="en-US" noProof="0" dirty="0"/>
          </a:p>
        </p:txBody>
      </p:sp>
      <p:sp>
        <p:nvSpPr>
          <p:cNvPr id="8" name="Content Placeholder 7">
            <a:extLst>
              <a:ext uri="{FF2B5EF4-FFF2-40B4-BE49-F238E27FC236}">
                <a16:creationId xmlns:a16="http://schemas.microsoft.com/office/drawing/2014/main" id="{71E13728-9FBE-CB41-B00B-C935CF287365}"/>
              </a:ext>
            </a:extLst>
          </p:cNvPr>
          <p:cNvSpPr>
            <a:spLocks noGrp="1"/>
          </p:cNvSpPr>
          <p:nvPr>
            <p:ph idx="1"/>
          </p:nvPr>
        </p:nvSpPr>
        <p:spPr>
          <a:xfrm>
            <a:off x="826355" y="1984527"/>
            <a:ext cx="11291048" cy="4626069"/>
          </a:xfrm>
          <a:ln>
            <a:noFill/>
          </a:ln>
        </p:spPr>
        <p:txBody>
          <a:bodyPr lIns="0" rIns="0">
            <a:normAutofit/>
          </a:bodyPr>
          <a:lstStyle/>
          <a:p>
            <a:pPr marL="0" indent="0">
              <a:buNone/>
            </a:pPr>
            <a:endParaRPr lang="en-US" sz="2000" noProof="0" dirty="0"/>
          </a:p>
          <a:p>
            <a:pPr marL="0" indent="0">
              <a:buNone/>
            </a:pPr>
            <a:endParaRPr lang="en-US" sz="2000" noProof="0" dirty="0"/>
          </a:p>
          <a:p>
            <a:pPr marL="0" indent="0">
              <a:buNone/>
            </a:pPr>
            <a:endParaRPr lang="en-US" sz="2000" noProof="0" dirty="0"/>
          </a:p>
          <a:p>
            <a:pPr marL="0" indent="0">
              <a:buNone/>
            </a:pPr>
            <a:br>
              <a:rPr lang="en-US" sz="2000" noProof="0" dirty="0"/>
            </a:br>
            <a:endParaRPr lang="en-US" sz="2000" noProof="0" dirty="0"/>
          </a:p>
        </p:txBody>
      </p:sp>
      <p:sp>
        <p:nvSpPr>
          <p:cNvPr id="4" name="Slide Number Placeholder 3">
            <a:extLst>
              <a:ext uri="{FF2B5EF4-FFF2-40B4-BE49-F238E27FC236}">
                <a16:creationId xmlns:a16="http://schemas.microsoft.com/office/drawing/2014/main" id="{2EFDF702-68FC-F645-8BB5-B31E03D262A3}"/>
              </a:ext>
            </a:extLst>
          </p:cNvPr>
          <p:cNvSpPr>
            <a:spLocks noGrp="1"/>
          </p:cNvSpPr>
          <p:nvPr>
            <p:ph type="sldNum" sz="quarter" idx="12"/>
          </p:nvPr>
        </p:nvSpPr>
        <p:spPr/>
        <p:txBody>
          <a:bodyPr/>
          <a:lstStyle/>
          <a:p>
            <a:fld id="{3B80295F-48CD-49FC-897A-CCEC919B8070}" type="slidenum">
              <a:rPr lang="nl-BE" smtClean="0"/>
              <a:pPr/>
              <a:t>10</a:t>
            </a:fld>
            <a:endParaRPr lang="nl-BE"/>
          </a:p>
        </p:txBody>
      </p:sp>
      <p:sp>
        <p:nvSpPr>
          <p:cNvPr id="10" name="TextBox 9">
            <a:extLst>
              <a:ext uri="{FF2B5EF4-FFF2-40B4-BE49-F238E27FC236}">
                <a16:creationId xmlns:a16="http://schemas.microsoft.com/office/drawing/2014/main" id="{46CE32B8-8E72-944F-B532-D6287AB42CE7}"/>
              </a:ext>
            </a:extLst>
          </p:cNvPr>
          <p:cNvSpPr txBox="1"/>
          <p:nvPr/>
        </p:nvSpPr>
        <p:spPr>
          <a:xfrm>
            <a:off x="1149531" y="326571"/>
            <a:ext cx="184731" cy="369332"/>
          </a:xfrm>
          <a:prstGeom prst="rect">
            <a:avLst/>
          </a:prstGeom>
          <a:noFill/>
        </p:spPr>
        <p:txBody>
          <a:bodyPr wrap="none" rtlCol="0">
            <a:spAutoFit/>
          </a:bodyPr>
          <a:lstStyle/>
          <a:p>
            <a:endParaRPr lang="en-BE"/>
          </a:p>
        </p:txBody>
      </p:sp>
      <p:sp>
        <p:nvSpPr>
          <p:cNvPr id="13" name="Content Placeholder 7">
            <a:extLst>
              <a:ext uri="{FF2B5EF4-FFF2-40B4-BE49-F238E27FC236}">
                <a16:creationId xmlns:a16="http://schemas.microsoft.com/office/drawing/2014/main" id="{228986BC-6F8D-7144-97D7-FB57AE01933F}"/>
              </a:ext>
            </a:extLst>
          </p:cNvPr>
          <p:cNvSpPr txBox="1">
            <a:spLocks/>
          </p:cNvSpPr>
          <p:nvPr/>
        </p:nvSpPr>
        <p:spPr>
          <a:xfrm>
            <a:off x="4072589" y="1152644"/>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15" name="Content Placeholder 7">
            <a:extLst>
              <a:ext uri="{FF2B5EF4-FFF2-40B4-BE49-F238E27FC236}">
                <a16:creationId xmlns:a16="http://schemas.microsoft.com/office/drawing/2014/main" id="{4163AFD7-B9F8-AC47-977D-C58A07A6E9C0}"/>
              </a:ext>
            </a:extLst>
          </p:cNvPr>
          <p:cNvSpPr txBox="1">
            <a:spLocks/>
          </p:cNvSpPr>
          <p:nvPr/>
        </p:nvSpPr>
        <p:spPr>
          <a:xfrm>
            <a:off x="8136389" y="1152000"/>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24" name="TextBox 23">
            <a:extLst>
              <a:ext uri="{FF2B5EF4-FFF2-40B4-BE49-F238E27FC236}">
                <a16:creationId xmlns:a16="http://schemas.microsoft.com/office/drawing/2014/main" id="{97CB46E8-93C2-C044-BD2E-9F5BBD277297}"/>
              </a:ext>
            </a:extLst>
          </p:cNvPr>
          <p:cNvSpPr txBox="1"/>
          <p:nvPr/>
        </p:nvSpPr>
        <p:spPr>
          <a:xfrm>
            <a:off x="532505" y="1678107"/>
            <a:ext cx="4004425" cy="1815882"/>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&lt;chr&gt;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30" name="TextBox 29">
            <a:extLst>
              <a:ext uri="{FF2B5EF4-FFF2-40B4-BE49-F238E27FC236}">
                <a16:creationId xmlns:a16="http://schemas.microsoft.com/office/drawing/2014/main" id="{CB74D426-4CA0-6D44-AA36-997D791E29E4}"/>
              </a:ext>
            </a:extLst>
          </p:cNvPr>
          <p:cNvSpPr txBox="1"/>
          <p:nvPr/>
        </p:nvSpPr>
        <p:spPr>
          <a:xfrm>
            <a:off x="4947606" y="1646932"/>
            <a:ext cx="4499942" cy="3108543"/>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&lt;chr&gt;       &lt;int&gt; &lt;chr&gt;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32" name="TextBox 31">
            <a:extLst>
              <a:ext uri="{FF2B5EF4-FFF2-40B4-BE49-F238E27FC236}">
                <a16:creationId xmlns:a16="http://schemas.microsoft.com/office/drawing/2014/main" id="{CE0E57CD-09A1-4E40-837D-0BC33DDBFCA1}"/>
              </a:ext>
            </a:extLst>
          </p:cNvPr>
          <p:cNvSpPr txBox="1"/>
          <p:nvPr/>
        </p:nvSpPr>
        <p:spPr>
          <a:xfrm>
            <a:off x="477303" y="3980397"/>
            <a:ext cx="4059627" cy="1815882"/>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4" name="TextBox 13">
            <a:extLst>
              <a:ext uri="{FF2B5EF4-FFF2-40B4-BE49-F238E27FC236}">
                <a16:creationId xmlns:a16="http://schemas.microsoft.com/office/drawing/2014/main" id="{FC77FA09-48F4-E84D-834D-74A2AC10D15D}"/>
              </a:ext>
            </a:extLst>
          </p:cNvPr>
          <p:cNvSpPr txBox="1"/>
          <p:nvPr/>
        </p:nvSpPr>
        <p:spPr>
          <a:xfrm>
            <a:off x="8571898" y="5127785"/>
            <a:ext cx="3297027" cy="1169551"/>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6" name="TextBox 15">
            <a:extLst>
              <a:ext uri="{FF2B5EF4-FFF2-40B4-BE49-F238E27FC236}">
                <a16:creationId xmlns:a16="http://schemas.microsoft.com/office/drawing/2014/main" id="{616D50CB-C088-554F-B589-AF3DFE138529}"/>
              </a:ext>
            </a:extLst>
          </p:cNvPr>
          <p:cNvSpPr txBox="1"/>
          <p:nvPr/>
        </p:nvSpPr>
        <p:spPr>
          <a:xfrm>
            <a:off x="4891752" y="5127786"/>
            <a:ext cx="3680146" cy="1169551"/>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18" name="TextBox 17">
            <a:extLst>
              <a:ext uri="{FF2B5EF4-FFF2-40B4-BE49-F238E27FC236}">
                <a16:creationId xmlns:a16="http://schemas.microsoft.com/office/drawing/2014/main" id="{2916F1C5-0C9E-0A42-A4E6-BCACFFB2F8DB}"/>
              </a:ext>
            </a:extLst>
          </p:cNvPr>
          <p:cNvSpPr txBox="1"/>
          <p:nvPr/>
        </p:nvSpPr>
        <p:spPr>
          <a:xfrm>
            <a:off x="415679" y="5762666"/>
            <a:ext cx="5112568" cy="338554"/>
          </a:xfrm>
          <a:prstGeom prst="rect">
            <a:avLst/>
          </a:prstGeom>
          <a:noFill/>
        </p:spPr>
        <p:txBody>
          <a:bodyPr wrap="square" rtlCol="0">
            <a:spAutoFit/>
          </a:bodyPr>
          <a:lstStyle/>
          <a:p>
            <a:r>
              <a:rPr lang="en-BE" sz="1600">
                <a:solidFill>
                  <a:srgbClr val="FF0000"/>
                </a:solidFill>
              </a:rPr>
              <a:t>One column contains two variables</a:t>
            </a:r>
          </a:p>
        </p:txBody>
      </p:sp>
      <p:sp>
        <p:nvSpPr>
          <p:cNvPr id="19" name="TextBox 18">
            <a:extLst>
              <a:ext uri="{FF2B5EF4-FFF2-40B4-BE49-F238E27FC236}">
                <a16:creationId xmlns:a16="http://schemas.microsoft.com/office/drawing/2014/main" id="{8E69BEA0-A016-2B47-90BF-92316CD20613}"/>
              </a:ext>
            </a:extLst>
          </p:cNvPr>
          <p:cNvSpPr txBox="1"/>
          <p:nvPr/>
        </p:nvSpPr>
        <p:spPr>
          <a:xfrm>
            <a:off x="4847827" y="4842664"/>
            <a:ext cx="7021098" cy="338554"/>
          </a:xfrm>
          <a:prstGeom prst="rect">
            <a:avLst/>
          </a:prstGeom>
          <a:noFill/>
        </p:spPr>
        <p:txBody>
          <a:bodyPr wrap="square" rtlCol="0">
            <a:spAutoFit/>
          </a:bodyPr>
          <a:lstStyle/>
          <a:p>
            <a:r>
              <a:rPr lang="en-BE" sz="1600">
                <a:solidFill>
                  <a:srgbClr val="FF0000"/>
                </a:solidFill>
              </a:rPr>
              <a:t>1999 and 2000 are not variables, they are values!</a:t>
            </a:r>
          </a:p>
        </p:txBody>
      </p:sp>
      <p:sp>
        <p:nvSpPr>
          <p:cNvPr id="21" name="TextBox 20">
            <a:extLst>
              <a:ext uri="{FF2B5EF4-FFF2-40B4-BE49-F238E27FC236}">
                <a16:creationId xmlns:a16="http://schemas.microsoft.com/office/drawing/2014/main" id="{AECC01DB-97C0-B746-AF1C-2B4DB7FBBA00}"/>
              </a:ext>
            </a:extLst>
          </p:cNvPr>
          <p:cNvSpPr txBox="1"/>
          <p:nvPr/>
        </p:nvSpPr>
        <p:spPr>
          <a:xfrm>
            <a:off x="9563706" y="1892070"/>
            <a:ext cx="1861843" cy="1323439"/>
          </a:xfrm>
          <a:prstGeom prst="rect">
            <a:avLst/>
          </a:prstGeom>
          <a:noFill/>
        </p:spPr>
        <p:txBody>
          <a:bodyPr wrap="square" rtlCol="0">
            <a:spAutoFit/>
          </a:bodyPr>
          <a:lstStyle/>
          <a:p>
            <a:r>
              <a:rPr lang="en-BE" sz="1600">
                <a:solidFill>
                  <a:srgbClr val="FF0000"/>
                </a:solidFill>
              </a:rPr>
              <a:t>type and count are </a:t>
            </a:r>
            <a:r>
              <a:rPr lang="nl-BE" sz="1600">
                <a:solidFill>
                  <a:srgbClr val="FF0000"/>
                </a:solidFill>
              </a:rPr>
              <a:t>no </a:t>
            </a:r>
            <a:r>
              <a:rPr lang="nl-BE" sz="1600" err="1">
                <a:solidFill>
                  <a:srgbClr val="FF0000"/>
                </a:solidFill>
              </a:rPr>
              <a:t>true</a:t>
            </a:r>
            <a:r>
              <a:rPr lang="nl-BE" sz="1600">
                <a:solidFill>
                  <a:srgbClr val="FF0000"/>
                </a:solidFill>
              </a:rPr>
              <a:t> variables </a:t>
            </a:r>
            <a:br>
              <a:rPr lang="nl-BE" sz="1600">
                <a:solidFill>
                  <a:srgbClr val="FF0000"/>
                </a:solidFill>
              </a:rPr>
            </a:br>
            <a:r>
              <a:rPr lang="nl-BE" sz="1600">
                <a:solidFill>
                  <a:srgbClr val="FF0000"/>
                </a:solidFill>
              </a:rPr>
              <a:t>(= </a:t>
            </a:r>
            <a:r>
              <a:rPr lang="nl-BE" sz="1600" err="1">
                <a:solidFill>
                  <a:srgbClr val="FF0000"/>
                </a:solidFill>
              </a:rPr>
              <a:t>characteristics</a:t>
            </a:r>
            <a:r>
              <a:rPr lang="nl-BE" sz="1600">
                <a:solidFill>
                  <a:srgbClr val="FF0000"/>
                </a:solidFill>
              </a:rPr>
              <a:t> of </a:t>
            </a:r>
            <a:r>
              <a:rPr lang="nl-BE" sz="1600" err="1">
                <a:solidFill>
                  <a:srgbClr val="FF0000"/>
                </a:solidFill>
              </a:rPr>
              <a:t>the</a:t>
            </a:r>
            <a:r>
              <a:rPr lang="nl-BE" sz="1600">
                <a:solidFill>
                  <a:srgbClr val="FF0000"/>
                </a:solidFill>
              </a:rPr>
              <a:t> </a:t>
            </a:r>
            <a:r>
              <a:rPr lang="nl-BE" sz="1600" err="1">
                <a:solidFill>
                  <a:srgbClr val="FF0000"/>
                </a:solidFill>
              </a:rPr>
              <a:t>observation</a:t>
            </a:r>
            <a:r>
              <a:rPr lang="nl-BE" sz="1600">
                <a:solidFill>
                  <a:srgbClr val="FF0000"/>
                </a:solidFill>
              </a:rPr>
              <a:t> object)</a:t>
            </a:r>
          </a:p>
        </p:txBody>
      </p:sp>
    </p:spTree>
    <p:extLst>
      <p:ext uri="{BB962C8B-B14F-4D97-AF65-F5344CB8AC3E}">
        <p14:creationId xmlns:p14="http://schemas.microsoft.com/office/powerpoint/2010/main" val="41265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43F21F-B143-7BEB-7A2B-FF280F7F56FF}"/>
              </a:ext>
            </a:extLst>
          </p:cNvPr>
          <p:cNvSpPr>
            <a:spLocks noGrp="1"/>
          </p:cNvSpPr>
          <p:nvPr>
            <p:ph type="title"/>
          </p:nvPr>
        </p:nvSpPr>
        <p:spPr/>
        <p:txBody>
          <a:bodyPr/>
          <a:lstStyle/>
          <a:p>
            <a:r>
              <a:rPr lang="en-US" sz="4400" noProof="0" dirty="0"/>
              <a:t>Does each observation have its own row?</a:t>
            </a:r>
          </a:p>
        </p:txBody>
      </p:sp>
      <p:sp>
        <p:nvSpPr>
          <p:cNvPr id="4" name="Slide Number Placeholder 3">
            <a:extLst>
              <a:ext uri="{FF2B5EF4-FFF2-40B4-BE49-F238E27FC236}">
                <a16:creationId xmlns:a16="http://schemas.microsoft.com/office/drawing/2014/main" id="{FB70B171-9888-627F-53B1-A676AC91C03E}"/>
              </a:ext>
            </a:extLst>
          </p:cNvPr>
          <p:cNvSpPr>
            <a:spLocks noGrp="1"/>
          </p:cNvSpPr>
          <p:nvPr>
            <p:ph type="sldNum" sz="quarter" idx="12"/>
          </p:nvPr>
        </p:nvSpPr>
        <p:spPr/>
        <p:txBody>
          <a:bodyPr/>
          <a:lstStyle/>
          <a:p>
            <a:fld id="{FE1B3154-47D9-4402-8EDB-E791933DC0B9}" type="slidenum">
              <a:rPr lang="nl-BE" smtClean="0"/>
              <a:pPr/>
              <a:t>11</a:t>
            </a:fld>
            <a:endParaRPr lang="nl-BE"/>
          </a:p>
        </p:txBody>
      </p:sp>
      <p:sp>
        <p:nvSpPr>
          <p:cNvPr id="7" name="TextBox 6">
            <a:extLst>
              <a:ext uri="{FF2B5EF4-FFF2-40B4-BE49-F238E27FC236}">
                <a16:creationId xmlns:a16="http://schemas.microsoft.com/office/drawing/2014/main" id="{A5C7D404-5096-5571-8D50-9D758D701440}"/>
              </a:ext>
            </a:extLst>
          </p:cNvPr>
          <p:cNvSpPr txBox="1"/>
          <p:nvPr/>
        </p:nvSpPr>
        <p:spPr>
          <a:xfrm>
            <a:off x="822354" y="1613118"/>
            <a:ext cx="3949221"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&lt;chr&gt;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8" name="TextBox 7">
            <a:extLst>
              <a:ext uri="{FF2B5EF4-FFF2-40B4-BE49-F238E27FC236}">
                <a16:creationId xmlns:a16="http://schemas.microsoft.com/office/drawing/2014/main" id="{DD5F75E9-CFAB-EB40-35AE-850A7F52BD5F}"/>
              </a:ext>
            </a:extLst>
          </p:cNvPr>
          <p:cNvSpPr txBox="1"/>
          <p:nvPr/>
        </p:nvSpPr>
        <p:spPr>
          <a:xfrm>
            <a:off x="5672499" y="1619858"/>
            <a:ext cx="4499942" cy="3108543"/>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9" name="TextBox 8">
            <a:extLst>
              <a:ext uri="{FF2B5EF4-FFF2-40B4-BE49-F238E27FC236}">
                <a16:creationId xmlns:a16="http://schemas.microsoft.com/office/drawing/2014/main" id="{1233481F-46B6-A544-A757-E1FE4174962E}"/>
              </a:ext>
            </a:extLst>
          </p:cNvPr>
          <p:cNvSpPr txBox="1"/>
          <p:nvPr/>
        </p:nvSpPr>
        <p:spPr>
          <a:xfrm>
            <a:off x="822354" y="3832012"/>
            <a:ext cx="4059627"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0" name="TextBox 9">
            <a:extLst>
              <a:ext uri="{FF2B5EF4-FFF2-40B4-BE49-F238E27FC236}">
                <a16:creationId xmlns:a16="http://schemas.microsoft.com/office/drawing/2014/main" id="{07997F4B-5BF7-3352-779D-32727EA03727}"/>
              </a:ext>
            </a:extLst>
          </p:cNvPr>
          <p:cNvSpPr txBox="1"/>
          <p:nvPr/>
        </p:nvSpPr>
        <p:spPr>
          <a:xfrm>
            <a:off x="8894973" y="5063120"/>
            <a:ext cx="3297027"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1" name="TextBox 10">
            <a:extLst>
              <a:ext uri="{FF2B5EF4-FFF2-40B4-BE49-F238E27FC236}">
                <a16:creationId xmlns:a16="http://schemas.microsoft.com/office/drawing/2014/main" id="{0E0E00AD-52AD-A09F-A3FE-DD4239297FAF}"/>
              </a:ext>
            </a:extLst>
          </p:cNvPr>
          <p:cNvSpPr txBox="1"/>
          <p:nvPr/>
        </p:nvSpPr>
        <p:spPr>
          <a:xfrm>
            <a:off x="5214827" y="5063120"/>
            <a:ext cx="3680146"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&lt;chr&gt;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2" name="Oval 1">
            <a:extLst>
              <a:ext uri="{FF2B5EF4-FFF2-40B4-BE49-F238E27FC236}">
                <a16:creationId xmlns:a16="http://schemas.microsoft.com/office/drawing/2014/main" id="{ACA87372-0EF7-A9A6-59F7-3108C63BF6D4}"/>
              </a:ext>
            </a:extLst>
          </p:cNvPr>
          <p:cNvSpPr/>
          <p:nvPr/>
        </p:nvSpPr>
        <p:spPr>
          <a:xfrm>
            <a:off x="343542" y="1764131"/>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1</a:t>
            </a:r>
          </a:p>
        </p:txBody>
      </p:sp>
      <p:sp>
        <p:nvSpPr>
          <p:cNvPr id="3" name="Oval 2">
            <a:extLst>
              <a:ext uri="{FF2B5EF4-FFF2-40B4-BE49-F238E27FC236}">
                <a16:creationId xmlns:a16="http://schemas.microsoft.com/office/drawing/2014/main" id="{4E9EC5AE-7A7F-8ACC-D956-5C2ED95222D9}"/>
              </a:ext>
            </a:extLst>
          </p:cNvPr>
          <p:cNvSpPr/>
          <p:nvPr/>
        </p:nvSpPr>
        <p:spPr>
          <a:xfrm>
            <a:off x="5137196" y="1613118"/>
            <a:ext cx="320511" cy="319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2</a:t>
            </a:r>
          </a:p>
        </p:txBody>
      </p:sp>
      <p:sp>
        <p:nvSpPr>
          <p:cNvPr id="6" name="Oval 5">
            <a:extLst>
              <a:ext uri="{FF2B5EF4-FFF2-40B4-BE49-F238E27FC236}">
                <a16:creationId xmlns:a16="http://schemas.microsoft.com/office/drawing/2014/main" id="{BB572E41-7BB2-CF80-4AD8-386038DCB2C6}"/>
              </a:ext>
            </a:extLst>
          </p:cNvPr>
          <p:cNvSpPr/>
          <p:nvPr/>
        </p:nvSpPr>
        <p:spPr>
          <a:xfrm>
            <a:off x="343542" y="3915732"/>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3</a:t>
            </a:r>
          </a:p>
        </p:txBody>
      </p:sp>
      <p:sp>
        <p:nvSpPr>
          <p:cNvPr id="12" name="Oval 11">
            <a:extLst>
              <a:ext uri="{FF2B5EF4-FFF2-40B4-BE49-F238E27FC236}">
                <a16:creationId xmlns:a16="http://schemas.microsoft.com/office/drawing/2014/main" id="{60A21350-EA48-9306-4646-C2FBE480B532}"/>
              </a:ext>
            </a:extLst>
          </p:cNvPr>
          <p:cNvSpPr/>
          <p:nvPr/>
        </p:nvSpPr>
        <p:spPr>
          <a:xfrm>
            <a:off x="5214827" y="4634573"/>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4</a:t>
            </a:r>
          </a:p>
        </p:txBody>
      </p:sp>
    </p:spTree>
    <p:extLst>
      <p:ext uri="{BB962C8B-B14F-4D97-AF65-F5344CB8AC3E}">
        <p14:creationId xmlns:p14="http://schemas.microsoft.com/office/powerpoint/2010/main" val="1755412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9B9DB0-AD21-954A-9235-C509248868A6}"/>
              </a:ext>
            </a:extLst>
          </p:cNvPr>
          <p:cNvSpPr>
            <a:spLocks noGrp="1"/>
          </p:cNvSpPr>
          <p:nvPr>
            <p:ph type="title"/>
          </p:nvPr>
        </p:nvSpPr>
        <p:spPr/>
        <p:txBody>
          <a:bodyPr>
            <a:normAutofit/>
          </a:bodyPr>
          <a:lstStyle/>
          <a:p>
            <a:r>
              <a:rPr lang="en-US" sz="4400" noProof="0" dirty="0"/>
              <a:t>Each observation must have its own row</a:t>
            </a:r>
            <a:endParaRPr lang="en-US" noProof="0" dirty="0"/>
          </a:p>
        </p:txBody>
      </p:sp>
      <p:sp>
        <p:nvSpPr>
          <p:cNvPr id="4" name="Slide Number Placeholder 3">
            <a:extLst>
              <a:ext uri="{FF2B5EF4-FFF2-40B4-BE49-F238E27FC236}">
                <a16:creationId xmlns:a16="http://schemas.microsoft.com/office/drawing/2014/main" id="{2EFDF702-68FC-F645-8BB5-B31E03D262A3}"/>
              </a:ext>
            </a:extLst>
          </p:cNvPr>
          <p:cNvSpPr>
            <a:spLocks noGrp="1"/>
          </p:cNvSpPr>
          <p:nvPr>
            <p:ph type="sldNum" sz="quarter" idx="12"/>
          </p:nvPr>
        </p:nvSpPr>
        <p:spPr/>
        <p:txBody>
          <a:bodyPr/>
          <a:lstStyle/>
          <a:p>
            <a:fld id="{3B80295F-48CD-49FC-897A-CCEC919B8070}" type="slidenum">
              <a:rPr lang="nl-BE" smtClean="0"/>
              <a:pPr/>
              <a:t>12</a:t>
            </a:fld>
            <a:endParaRPr lang="nl-BE"/>
          </a:p>
        </p:txBody>
      </p:sp>
      <p:sp>
        <p:nvSpPr>
          <p:cNvPr id="10" name="TextBox 9">
            <a:extLst>
              <a:ext uri="{FF2B5EF4-FFF2-40B4-BE49-F238E27FC236}">
                <a16:creationId xmlns:a16="http://schemas.microsoft.com/office/drawing/2014/main" id="{46CE32B8-8E72-944F-B532-D6287AB42CE7}"/>
              </a:ext>
            </a:extLst>
          </p:cNvPr>
          <p:cNvSpPr txBox="1"/>
          <p:nvPr/>
        </p:nvSpPr>
        <p:spPr>
          <a:xfrm>
            <a:off x="1149531" y="326571"/>
            <a:ext cx="184731" cy="369332"/>
          </a:xfrm>
          <a:prstGeom prst="rect">
            <a:avLst/>
          </a:prstGeom>
          <a:noFill/>
        </p:spPr>
        <p:txBody>
          <a:bodyPr wrap="none" rtlCol="0">
            <a:spAutoFit/>
          </a:bodyPr>
          <a:lstStyle/>
          <a:p>
            <a:endParaRPr lang="en-BE"/>
          </a:p>
        </p:txBody>
      </p:sp>
      <p:sp>
        <p:nvSpPr>
          <p:cNvPr id="13" name="Content Placeholder 7">
            <a:extLst>
              <a:ext uri="{FF2B5EF4-FFF2-40B4-BE49-F238E27FC236}">
                <a16:creationId xmlns:a16="http://schemas.microsoft.com/office/drawing/2014/main" id="{228986BC-6F8D-7144-97D7-FB57AE01933F}"/>
              </a:ext>
            </a:extLst>
          </p:cNvPr>
          <p:cNvSpPr txBox="1">
            <a:spLocks/>
          </p:cNvSpPr>
          <p:nvPr/>
        </p:nvSpPr>
        <p:spPr>
          <a:xfrm>
            <a:off x="4072589" y="1152644"/>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15" name="Content Placeholder 7">
            <a:extLst>
              <a:ext uri="{FF2B5EF4-FFF2-40B4-BE49-F238E27FC236}">
                <a16:creationId xmlns:a16="http://schemas.microsoft.com/office/drawing/2014/main" id="{4163AFD7-B9F8-AC47-977D-C58A07A6E9C0}"/>
              </a:ext>
            </a:extLst>
          </p:cNvPr>
          <p:cNvSpPr txBox="1">
            <a:spLocks/>
          </p:cNvSpPr>
          <p:nvPr/>
        </p:nvSpPr>
        <p:spPr>
          <a:xfrm>
            <a:off x="8136389" y="1152000"/>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24" name="TextBox 23">
            <a:extLst>
              <a:ext uri="{FF2B5EF4-FFF2-40B4-BE49-F238E27FC236}">
                <a16:creationId xmlns:a16="http://schemas.microsoft.com/office/drawing/2014/main" id="{97CB46E8-93C2-C044-BD2E-9F5BBD277297}"/>
              </a:ext>
            </a:extLst>
          </p:cNvPr>
          <p:cNvSpPr txBox="1"/>
          <p:nvPr/>
        </p:nvSpPr>
        <p:spPr>
          <a:xfrm>
            <a:off x="344275" y="1813886"/>
            <a:ext cx="4026879" cy="1815882"/>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a:t>
            </a:r>
            <a:r>
              <a:rPr lang="en-GB" sz="1400" i="1" err="1">
                <a:solidFill>
                  <a:srgbClr val="B7A9B6"/>
                </a:solidFill>
              </a:rPr>
              <a:t>chr</a:t>
            </a:r>
            <a:r>
              <a:rPr lang="en-GB" sz="1400" i="1">
                <a:solidFill>
                  <a:srgbClr val="B7A9B6"/>
                </a:solidFill>
              </a:rPr>
              <a:t>&gt;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30" name="TextBox 29">
            <a:extLst>
              <a:ext uri="{FF2B5EF4-FFF2-40B4-BE49-F238E27FC236}">
                <a16:creationId xmlns:a16="http://schemas.microsoft.com/office/drawing/2014/main" id="{CB74D426-4CA0-6D44-AA36-997D791E29E4}"/>
              </a:ext>
            </a:extLst>
          </p:cNvPr>
          <p:cNvSpPr txBox="1"/>
          <p:nvPr/>
        </p:nvSpPr>
        <p:spPr>
          <a:xfrm>
            <a:off x="4758031" y="1502248"/>
            <a:ext cx="4499942" cy="3108543"/>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32" name="TextBox 31">
            <a:extLst>
              <a:ext uri="{FF2B5EF4-FFF2-40B4-BE49-F238E27FC236}">
                <a16:creationId xmlns:a16="http://schemas.microsoft.com/office/drawing/2014/main" id="{CE0E57CD-09A1-4E40-837D-0BC33DDBFCA1}"/>
              </a:ext>
            </a:extLst>
          </p:cNvPr>
          <p:cNvSpPr txBox="1"/>
          <p:nvPr/>
        </p:nvSpPr>
        <p:spPr>
          <a:xfrm>
            <a:off x="344275" y="3913458"/>
            <a:ext cx="4059627" cy="1815882"/>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4" name="TextBox 13">
            <a:extLst>
              <a:ext uri="{FF2B5EF4-FFF2-40B4-BE49-F238E27FC236}">
                <a16:creationId xmlns:a16="http://schemas.microsoft.com/office/drawing/2014/main" id="{FC77FA09-48F4-E84D-834D-74A2AC10D15D}"/>
              </a:ext>
            </a:extLst>
          </p:cNvPr>
          <p:cNvSpPr txBox="1"/>
          <p:nvPr/>
        </p:nvSpPr>
        <p:spPr>
          <a:xfrm>
            <a:off x="8650053" y="5067599"/>
            <a:ext cx="3297027" cy="1169551"/>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&lt;chr&gt;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6" name="TextBox 15">
            <a:extLst>
              <a:ext uri="{FF2B5EF4-FFF2-40B4-BE49-F238E27FC236}">
                <a16:creationId xmlns:a16="http://schemas.microsoft.com/office/drawing/2014/main" id="{616D50CB-C088-554F-B589-AF3DFE138529}"/>
              </a:ext>
            </a:extLst>
          </p:cNvPr>
          <p:cNvSpPr txBox="1"/>
          <p:nvPr/>
        </p:nvSpPr>
        <p:spPr>
          <a:xfrm>
            <a:off x="4815924" y="5067599"/>
            <a:ext cx="3680146" cy="1169551"/>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19" name="TextBox 18">
            <a:extLst>
              <a:ext uri="{FF2B5EF4-FFF2-40B4-BE49-F238E27FC236}">
                <a16:creationId xmlns:a16="http://schemas.microsoft.com/office/drawing/2014/main" id="{3F3735B5-185D-A849-96E6-CACFE02F467D}"/>
              </a:ext>
            </a:extLst>
          </p:cNvPr>
          <p:cNvSpPr txBox="1"/>
          <p:nvPr/>
        </p:nvSpPr>
        <p:spPr>
          <a:xfrm>
            <a:off x="4758031" y="4718935"/>
            <a:ext cx="7021098" cy="338554"/>
          </a:xfrm>
          <a:prstGeom prst="rect">
            <a:avLst/>
          </a:prstGeom>
          <a:noFill/>
        </p:spPr>
        <p:txBody>
          <a:bodyPr wrap="square" rtlCol="0">
            <a:spAutoFit/>
          </a:bodyPr>
          <a:lstStyle/>
          <a:p>
            <a:r>
              <a:rPr lang="en-BE" sz="1600">
                <a:solidFill>
                  <a:srgbClr val="FF0000"/>
                </a:solidFill>
              </a:rPr>
              <a:t>Observations spread across two tables</a:t>
            </a:r>
          </a:p>
        </p:txBody>
      </p:sp>
      <p:sp>
        <p:nvSpPr>
          <p:cNvPr id="20" name="TextBox 19">
            <a:extLst>
              <a:ext uri="{FF2B5EF4-FFF2-40B4-BE49-F238E27FC236}">
                <a16:creationId xmlns:a16="http://schemas.microsoft.com/office/drawing/2014/main" id="{471168E1-53B6-294A-A6DE-F5B8A6B901A8}"/>
              </a:ext>
            </a:extLst>
          </p:cNvPr>
          <p:cNvSpPr txBox="1"/>
          <p:nvPr/>
        </p:nvSpPr>
        <p:spPr>
          <a:xfrm>
            <a:off x="9280894" y="1969788"/>
            <a:ext cx="2592859" cy="338554"/>
          </a:xfrm>
          <a:prstGeom prst="rect">
            <a:avLst/>
          </a:prstGeom>
          <a:noFill/>
        </p:spPr>
        <p:txBody>
          <a:bodyPr wrap="square" rtlCol="0">
            <a:spAutoFit/>
          </a:bodyPr>
          <a:lstStyle/>
          <a:p>
            <a:r>
              <a:rPr lang="nl-BE" sz="1600">
                <a:solidFill>
                  <a:srgbClr val="FF0000"/>
                </a:solidFill>
              </a:rPr>
              <a:t>2</a:t>
            </a:r>
            <a:r>
              <a:rPr lang="en-BE" sz="1600">
                <a:solidFill>
                  <a:srgbClr val="FF0000"/>
                </a:solidFill>
              </a:rPr>
              <a:t> rows per observation</a:t>
            </a:r>
          </a:p>
        </p:txBody>
      </p:sp>
    </p:spTree>
    <p:extLst>
      <p:ext uri="{BB962C8B-B14F-4D97-AF65-F5344CB8AC3E}">
        <p14:creationId xmlns:p14="http://schemas.microsoft.com/office/powerpoint/2010/main" val="3153470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43F21F-B143-7BEB-7A2B-FF280F7F56FF}"/>
              </a:ext>
            </a:extLst>
          </p:cNvPr>
          <p:cNvSpPr>
            <a:spLocks noGrp="1"/>
          </p:cNvSpPr>
          <p:nvPr>
            <p:ph type="title"/>
          </p:nvPr>
        </p:nvSpPr>
        <p:spPr/>
        <p:txBody>
          <a:bodyPr/>
          <a:lstStyle/>
          <a:p>
            <a:r>
              <a:rPr lang="en-US" noProof="0" dirty="0"/>
              <a:t>Does e</a:t>
            </a:r>
            <a:r>
              <a:rPr lang="en-US" sz="4400" noProof="0" dirty="0"/>
              <a:t>ach value have its own cell?</a:t>
            </a:r>
          </a:p>
        </p:txBody>
      </p:sp>
      <p:sp>
        <p:nvSpPr>
          <p:cNvPr id="4" name="Slide Number Placeholder 3">
            <a:extLst>
              <a:ext uri="{FF2B5EF4-FFF2-40B4-BE49-F238E27FC236}">
                <a16:creationId xmlns:a16="http://schemas.microsoft.com/office/drawing/2014/main" id="{FB70B171-9888-627F-53B1-A676AC91C03E}"/>
              </a:ext>
            </a:extLst>
          </p:cNvPr>
          <p:cNvSpPr>
            <a:spLocks noGrp="1"/>
          </p:cNvSpPr>
          <p:nvPr>
            <p:ph type="sldNum" sz="quarter" idx="12"/>
          </p:nvPr>
        </p:nvSpPr>
        <p:spPr/>
        <p:txBody>
          <a:bodyPr/>
          <a:lstStyle/>
          <a:p>
            <a:fld id="{FE1B3154-47D9-4402-8EDB-E791933DC0B9}" type="slidenum">
              <a:rPr lang="nl-BE" smtClean="0"/>
              <a:pPr/>
              <a:t>13</a:t>
            </a:fld>
            <a:endParaRPr lang="nl-BE"/>
          </a:p>
        </p:txBody>
      </p:sp>
      <p:sp>
        <p:nvSpPr>
          <p:cNvPr id="7" name="TextBox 6">
            <a:extLst>
              <a:ext uri="{FF2B5EF4-FFF2-40B4-BE49-F238E27FC236}">
                <a16:creationId xmlns:a16="http://schemas.microsoft.com/office/drawing/2014/main" id="{A5C7D404-5096-5571-8D50-9D758D701440}"/>
              </a:ext>
            </a:extLst>
          </p:cNvPr>
          <p:cNvSpPr txBox="1"/>
          <p:nvPr/>
        </p:nvSpPr>
        <p:spPr>
          <a:xfrm>
            <a:off x="822354" y="1613118"/>
            <a:ext cx="3949221"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&lt;chr&gt;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8" name="TextBox 7">
            <a:extLst>
              <a:ext uri="{FF2B5EF4-FFF2-40B4-BE49-F238E27FC236}">
                <a16:creationId xmlns:a16="http://schemas.microsoft.com/office/drawing/2014/main" id="{DD5F75E9-CFAB-EB40-35AE-850A7F52BD5F}"/>
              </a:ext>
            </a:extLst>
          </p:cNvPr>
          <p:cNvSpPr txBox="1"/>
          <p:nvPr/>
        </p:nvSpPr>
        <p:spPr>
          <a:xfrm>
            <a:off x="5672499" y="1619858"/>
            <a:ext cx="4499942" cy="3108543"/>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9" name="TextBox 8">
            <a:extLst>
              <a:ext uri="{FF2B5EF4-FFF2-40B4-BE49-F238E27FC236}">
                <a16:creationId xmlns:a16="http://schemas.microsoft.com/office/drawing/2014/main" id="{1233481F-46B6-A544-A757-E1FE4174962E}"/>
              </a:ext>
            </a:extLst>
          </p:cNvPr>
          <p:cNvSpPr txBox="1"/>
          <p:nvPr/>
        </p:nvSpPr>
        <p:spPr>
          <a:xfrm>
            <a:off x="822354" y="3832012"/>
            <a:ext cx="4059627" cy="1815882"/>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0" name="TextBox 9">
            <a:extLst>
              <a:ext uri="{FF2B5EF4-FFF2-40B4-BE49-F238E27FC236}">
                <a16:creationId xmlns:a16="http://schemas.microsoft.com/office/drawing/2014/main" id="{07997F4B-5BF7-3352-779D-32727EA03727}"/>
              </a:ext>
            </a:extLst>
          </p:cNvPr>
          <p:cNvSpPr txBox="1"/>
          <p:nvPr/>
        </p:nvSpPr>
        <p:spPr>
          <a:xfrm>
            <a:off x="8894973" y="5063120"/>
            <a:ext cx="3297027"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1" name="TextBox 10">
            <a:extLst>
              <a:ext uri="{FF2B5EF4-FFF2-40B4-BE49-F238E27FC236}">
                <a16:creationId xmlns:a16="http://schemas.microsoft.com/office/drawing/2014/main" id="{0E0E00AD-52AD-A09F-A3FE-DD4239297FAF}"/>
              </a:ext>
            </a:extLst>
          </p:cNvPr>
          <p:cNvSpPr txBox="1"/>
          <p:nvPr/>
        </p:nvSpPr>
        <p:spPr>
          <a:xfrm>
            <a:off x="5214827" y="5063120"/>
            <a:ext cx="3680146" cy="1169551"/>
          </a:xfrm>
          <a:prstGeom prst="rect">
            <a:avLst/>
          </a:prstGeom>
          <a:no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&lt;chr&gt;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2" name="Oval 1">
            <a:extLst>
              <a:ext uri="{FF2B5EF4-FFF2-40B4-BE49-F238E27FC236}">
                <a16:creationId xmlns:a16="http://schemas.microsoft.com/office/drawing/2014/main" id="{ACA87372-0EF7-A9A6-59F7-3108C63BF6D4}"/>
              </a:ext>
            </a:extLst>
          </p:cNvPr>
          <p:cNvSpPr/>
          <p:nvPr/>
        </p:nvSpPr>
        <p:spPr>
          <a:xfrm>
            <a:off x="343542" y="1764131"/>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1</a:t>
            </a:r>
          </a:p>
        </p:txBody>
      </p:sp>
      <p:sp>
        <p:nvSpPr>
          <p:cNvPr id="3" name="Oval 2">
            <a:extLst>
              <a:ext uri="{FF2B5EF4-FFF2-40B4-BE49-F238E27FC236}">
                <a16:creationId xmlns:a16="http://schemas.microsoft.com/office/drawing/2014/main" id="{4E9EC5AE-7A7F-8ACC-D956-5C2ED95222D9}"/>
              </a:ext>
            </a:extLst>
          </p:cNvPr>
          <p:cNvSpPr/>
          <p:nvPr/>
        </p:nvSpPr>
        <p:spPr>
          <a:xfrm>
            <a:off x="5137196" y="1613118"/>
            <a:ext cx="320511" cy="319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2</a:t>
            </a:r>
          </a:p>
        </p:txBody>
      </p:sp>
      <p:sp>
        <p:nvSpPr>
          <p:cNvPr id="6" name="Oval 5">
            <a:extLst>
              <a:ext uri="{FF2B5EF4-FFF2-40B4-BE49-F238E27FC236}">
                <a16:creationId xmlns:a16="http://schemas.microsoft.com/office/drawing/2014/main" id="{BB572E41-7BB2-CF80-4AD8-386038DCB2C6}"/>
              </a:ext>
            </a:extLst>
          </p:cNvPr>
          <p:cNvSpPr/>
          <p:nvPr/>
        </p:nvSpPr>
        <p:spPr>
          <a:xfrm>
            <a:off x="343542" y="3915732"/>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3</a:t>
            </a:r>
          </a:p>
        </p:txBody>
      </p:sp>
      <p:sp>
        <p:nvSpPr>
          <p:cNvPr id="12" name="Oval 11">
            <a:extLst>
              <a:ext uri="{FF2B5EF4-FFF2-40B4-BE49-F238E27FC236}">
                <a16:creationId xmlns:a16="http://schemas.microsoft.com/office/drawing/2014/main" id="{60A21350-EA48-9306-4646-C2FBE480B532}"/>
              </a:ext>
            </a:extLst>
          </p:cNvPr>
          <p:cNvSpPr/>
          <p:nvPr/>
        </p:nvSpPr>
        <p:spPr>
          <a:xfrm>
            <a:off x="5214827" y="4634573"/>
            <a:ext cx="320511" cy="2909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t>4</a:t>
            </a:r>
          </a:p>
        </p:txBody>
      </p:sp>
    </p:spTree>
    <p:extLst>
      <p:ext uri="{BB962C8B-B14F-4D97-AF65-F5344CB8AC3E}">
        <p14:creationId xmlns:p14="http://schemas.microsoft.com/office/powerpoint/2010/main" val="1344342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9B9DB0-AD21-954A-9235-C509248868A6}"/>
              </a:ext>
            </a:extLst>
          </p:cNvPr>
          <p:cNvSpPr>
            <a:spLocks noGrp="1"/>
          </p:cNvSpPr>
          <p:nvPr>
            <p:ph type="title"/>
          </p:nvPr>
        </p:nvSpPr>
        <p:spPr/>
        <p:txBody>
          <a:bodyPr>
            <a:normAutofit/>
          </a:bodyPr>
          <a:lstStyle/>
          <a:p>
            <a:r>
              <a:rPr lang="en-US" sz="4400" noProof="0" dirty="0"/>
              <a:t>Each value must have its own cell</a:t>
            </a:r>
            <a:endParaRPr lang="en-US" noProof="0" dirty="0"/>
          </a:p>
        </p:txBody>
      </p:sp>
      <p:sp>
        <p:nvSpPr>
          <p:cNvPr id="4" name="Slide Number Placeholder 3">
            <a:extLst>
              <a:ext uri="{FF2B5EF4-FFF2-40B4-BE49-F238E27FC236}">
                <a16:creationId xmlns:a16="http://schemas.microsoft.com/office/drawing/2014/main" id="{2EFDF702-68FC-F645-8BB5-B31E03D262A3}"/>
              </a:ext>
            </a:extLst>
          </p:cNvPr>
          <p:cNvSpPr>
            <a:spLocks noGrp="1"/>
          </p:cNvSpPr>
          <p:nvPr>
            <p:ph type="sldNum" sz="quarter" idx="12"/>
          </p:nvPr>
        </p:nvSpPr>
        <p:spPr/>
        <p:txBody>
          <a:bodyPr/>
          <a:lstStyle/>
          <a:p>
            <a:fld id="{3B80295F-48CD-49FC-897A-CCEC919B8070}" type="slidenum">
              <a:rPr lang="nl-BE" smtClean="0"/>
              <a:pPr/>
              <a:t>14</a:t>
            </a:fld>
            <a:endParaRPr lang="nl-BE"/>
          </a:p>
        </p:txBody>
      </p:sp>
      <p:sp>
        <p:nvSpPr>
          <p:cNvPr id="10" name="TextBox 9">
            <a:extLst>
              <a:ext uri="{FF2B5EF4-FFF2-40B4-BE49-F238E27FC236}">
                <a16:creationId xmlns:a16="http://schemas.microsoft.com/office/drawing/2014/main" id="{46CE32B8-8E72-944F-B532-D6287AB42CE7}"/>
              </a:ext>
            </a:extLst>
          </p:cNvPr>
          <p:cNvSpPr txBox="1"/>
          <p:nvPr/>
        </p:nvSpPr>
        <p:spPr>
          <a:xfrm>
            <a:off x="1149531" y="326571"/>
            <a:ext cx="184731" cy="369332"/>
          </a:xfrm>
          <a:prstGeom prst="rect">
            <a:avLst/>
          </a:prstGeom>
          <a:noFill/>
        </p:spPr>
        <p:txBody>
          <a:bodyPr wrap="none" rtlCol="0">
            <a:spAutoFit/>
          </a:bodyPr>
          <a:lstStyle/>
          <a:p>
            <a:endParaRPr lang="en-BE"/>
          </a:p>
        </p:txBody>
      </p:sp>
      <p:sp>
        <p:nvSpPr>
          <p:cNvPr id="13" name="Content Placeholder 7">
            <a:extLst>
              <a:ext uri="{FF2B5EF4-FFF2-40B4-BE49-F238E27FC236}">
                <a16:creationId xmlns:a16="http://schemas.microsoft.com/office/drawing/2014/main" id="{228986BC-6F8D-7144-97D7-FB57AE01933F}"/>
              </a:ext>
            </a:extLst>
          </p:cNvPr>
          <p:cNvSpPr txBox="1">
            <a:spLocks/>
          </p:cNvSpPr>
          <p:nvPr/>
        </p:nvSpPr>
        <p:spPr>
          <a:xfrm>
            <a:off x="4072589" y="1152644"/>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15" name="Content Placeholder 7">
            <a:extLst>
              <a:ext uri="{FF2B5EF4-FFF2-40B4-BE49-F238E27FC236}">
                <a16:creationId xmlns:a16="http://schemas.microsoft.com/office/drawing/2014/main" id="{4163AFD7-B9F8-AC47-977D-C58A07A6E9C0}"/>
              </a:ext>
            </a:extLst>
          </p:cNvPr>
          <p:cNvSpPr txBox="1">
            <a:spLocks/>
          </p:cNvSpPr>
          <p:nvPr/>
        </p:nvSpPr>
        <p:spPr>
          <a:xfrm>
            <a:off x="8136389" y="1152000"/>
            <a:ext cx="4064399" cy="4428000"/>
          </a:xfrm>
          <a:prstGeom prst="rect">
            <a:avLst/>
          </a:prstGeom>
          <a:ln>
            <a:noFill/>
          </a:ln>
        </p:spPr>
        <p:txBody>
          <a:bodyPr vert="horz" lIns="0" tIns="252000" rIns="0" bIns="144000" rtlCol="0">
            <a:normAutofit/>
          </a:bodyPr>
          <a:lstStyle>
            <a:lvl1pPr marL="323850" indent="-32385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mj-lt"/>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500" kern="1200">
                <a:solidFill>
                  <a:srgbClr val="000000"/>
                </a:solidFill>
                <a:latin typeface="+mj-lt"/>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300" kern="1200">
                <a:solidFill>
                  <a:srgbClr val="000000"/>
                </a:solidFill>
                <a:latin typeface="+mj-lt"/>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000" kern="1200">
                <a:solidFill>
                  <a:srgbClr val="000000"/>
                </a:solidFill>
                <a:latin typeface="+mj-lt"/>
                <a:ea typeface="+mn-ea"/>
                <a:cs typeface="+mn-cs"/>
              </a:defRPr>
            </a:lvl4pPr>
            <a:lvl5pPr marL="1609725" indent="-258763" algn="l" defTabSz="914400" rtl="0" eaLnBrk="1" latinLnBrk="0" hangingPunct="1">
              <a:lnSpc>
                <a:spcPct val="90000"/>
              </a:lnSpc>
              <a:spcBef>
                <a:spcPts val="600"/>
              </a:spcBef>
              <a:spcAft>
                <a:spcPts val="600"/>
              </a:spcAft>
              <a:buClr>
                <a:schemeClr val="tx1"/>
              </a:buClr>
              <a:buFont typeface="Arial" pitchFamily="34" charset="0"/>
              <a:buNone/>
              <a:defRPr sz="17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endParaRPr lang="en-BE"/>
          </a:p>
          <a:p>
            <a:pPr marL="0" indent="0">
              <a:buFont typeface="Verdana" pitchFamily="34" charset="0"/>
              <a:buNone/>
            </a:pPr>
            <a:br>
              <a:rPr lang="en-BE"/>
            </a:br>
            <a:endParaRPr lang="en-BE"/>
          </a:p>
        </p:txBody>
      </p:sp>
      <p:sp>
        <p:nvSpPr>
          <p:cNvPr id="24" name="TextBox 23">
            <a:extLst>
              <a:ext uri="{FF2B5EF4-FFF2-40B4-BE49-F238E27FC236}">
                <a16:creationId xmlns:a16="http://schemas.microsoft.com/office/drawing/2014/main" id="{97CB46E8-93C2-C044-BD2E-9F5BBD277297}"/>
              </a:ext>
            </a:extLst>
          </p:cNvPr>
          <p:cNvSpPr txBox="1"/>
          <p:nvPr/>
        </p:nvSpPr>
        <p:spPr>
          <a:xfrm>
            <a:off x="499214" y="1534765"/>
            <a:ext cx="3949221" cy="1815882"/>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cases population</a:t>
            </a:r>
          </a:p>
          <a:p>
            <a:r>
              <a:rPr lang="en-GB" sz="1400" i="1">
                <a:solidFill>
                  <a:srgbClr val="B7A9B6"/>
                </a:solidFill>
              </a:rPr>
              <a:t>  &lt;</a:t>
            </a:r>
            <a:r>
              <a:rPr lang="en-GB" sz="1400" i="1" err="1">
                <a:solidFill>
                  <a:srgbClr val="B7A9B6"/>
                </a:solidFill>
              </a:rPr>
              <a:t>chr</a:t>
            </a:r>
            <a:r>
              <a:rPr lang="en-GB" sz="1400" i="1">
                <a:solidFill>
                  <a:srgbClr val="B7A9B6"/>
                </a:solidFill>
              </a:rPr>
              <a:t>&gt;       &lt;int&gt;  &lt;int&gt;      &lt;int&gt;</a:t>
            </a:r>
          </a:p>
          <a:p>
            <a:r>
              <a:rPr lang="en-GB" sz="1400">
                <a:solidFill>
                  <a:srgbClr val="000000"/>
                </a:solidFill>
              </a:rPr>
              <a:t>1 Afghanistan  1999    745   19987071</a:t>
            </a:r>
          </a:p>
          <a:p>
            <a:r>
              <a:rPr lang="en-GB" sz="1400">
                <a:solidFill>
                  <a:srgbClr val="000000"/>
                </a:solidFill>
              </a:rPr>
              <a:t>2 Afghanistan  2000   2666   20595360</a:t>
            </a:r>
          </a:p>
          <a:p>
            <a:r>
              <a:rPr lang="en-GB" sz="1400">
                <a:solidFill>
                  <a:srgbClr val="000000"/>
                </a:solidFill>
              </a:rPr>
              <a:t>3 Brazil       1999  37737  172006362</a:t>
            </a:r>
          </a:p>
          <a:p>
            <a:r>
              <a:rPr lang="en-GB" sz="1400">
                <a:solidFill>
                  <a:srgbClr val="000000"/>
                </a:solidFill>
              </a:rPr>
              <a:t>4 Brazil       2000  80488  174504898</a:t>
            </a:r>
          </a:p>
          <a:p>
            <a:r>
              <a:rPr lang="en-GB" sz="1400">
                <a:solidFill>
                  <a:srgbClr val="000000"/>
                </a:solidFill>
              </a:rPr>
              <a:t>5 China        1999 212258 1272915272</a:t>
            </a:r>
          </a:p>
          <a:p>
            <a:r>
              <a:rPr lang="en-GB" sz="1400">
                <a:solidFill>
                  <a:srgbClr val="000000"/>
                </a:solidFill>
              </a:rPr>
              <a:t>6 China        2000 213766 1280428583</a:t>
            </a:r>
          </a:p>
        </p:txBody>
      </p:sp>
      <p:sp>
        <p:nvSpPr>
          <p:cNvPr id="30" name="TextBox 29">
            <a:extLst>
              <a:ext uri="{FF2B5EF4-FFF2-40B4-BE49-F238E27FC236}">
                <a16:creationId xmlns:a16="http://schemas.microsoft.com/office/drawing/2014/main" id="{CB74D426-4CA0-6D44-AA36-997D791E29E4}"/>
              </a:ext>
            </a:extLst>
          </p:cNvPr>
          <p:cNvSpPr txBox="1"/>
          <p:nvPr/>
        </p:nvSpPr>
        <p:spPr>
          <a:xfrm>
            <a:off x="4895101" y="1546018"/>
            <a:ext cx="4499942" cy="3108543"/>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type            count</a:t>
            </a:r>
          </a:p>
          <a:p>
            <a:r>
              <a:rPr lang="en-GB" sz="1400" i="1">
                <a:solidFill>
                  <a:srgbClr val="B7A9B6"/>
                </a:solidFill>
              </a:rPr>
              <a:t>   &lt;</a:t>
            </a:r>
            <a:r>
              <a:rPr lang="en-GB" sz="1400" i="1" err="1">
                <a:solidFill>
                  <a:srgbClr val="B7A9B6"/>
                </a:solidFill>
              </a:rPr>
              <a:t>chr</a:t>
            </a:r>
            <a:r>
              <a:rPr lang="en-GB" sz="1400" i="1">
                <a:solidFill>
                  <a:srgbClr val="B7A9B6"/>
                </a:solidFill>
              </a:rPr>
              <a:t>&gt;       &lt;int&gt; &lt;</a:t>
            </a:r>
            <a:r>
              <a:rPr lang="en-GB" sz="1400" i="1" err="1">
                <a:solidFill>
                  <a:srgbClr val="B7A9B6"/>
                </a:solidFill>
              </a:rPr>
              <a:t>chr</a:t>
            </a:r>
            <a:r>
              <a:rPr lang="en-GB" sz="1400" i="1">
                <a:solidFill>
                  <a:srgbClr val="B7A9B6"/>
                </a:solidFill>
              </a:rPr>
              <a:t>&gt;           &lt;int&gt;</a:t>
            </a:r>
          </a:p>
          <a:p>
            <a:r>
              <a:rPr lang="en-GB" sz="1400">
                <a:solidFill>
                  <a:srgbClr val="000000"/>
                </a:solidFill>
              </a:rPr>
              <a:t> 1 Afghanistan  1999 cases             745</a:t>
            </a:r>
          </a:p>
          <a:p>
            <a:r>
              <a:rPr lang="en-GB" sz="1400">
                <a:solidFill>
                  <a:srgbClr val="000000"/>
                </a:solidFill>
              </a:rPr>
              <a:t> 2 Afghanistan  1999 population   19987071</a:t>
            </a:r>
          </a:p>
          <a:p>
            <a:r>
              <a:rPr lang="en-GB" sz="1400">
                <a:solidFill>
                  <a:srgbClr val="000000"/>
                </a:solidFill>
              </a:rPr>
              <a:t> 3 Afghanistan  2000 cases            2666</a:t>
            </a:r>
          </a:p>
          <a:p>
            <a:r>
              <a:rPr lang="en-GB" sz="1400">
                <a:solidFill>
                  <a:srgbClr val="000000"/>
                </a:solidFill>
              </a:rPr>
              <a:t> 4 Afghanistan  2000 population   20595360</a:t>
            </a:r>
          </a:p>
          <a:p>
            <a:r>
              <a:rPr lang="en-GB" sz="1400">
                <a:solidFill>
                  <a:srgbClr val="000000"/>
                </a:solidFill>
              </a:rPr>
              <a:t> 5 Brazil       1999 cases           37737</a:t>
            </a:r>
          </a:p>
          <a:p>
            <a:r>
              <a:rPr lang="en-GB" sz="1400">
                <a:solidFill>
                  <a:srgbClr val="000000"/>
                </a:solidFill>
              </a:rPr>
              <a:t> 6 Brazil       1999 population  172006362</a:t>
            </a:r>
          </a:p>
          <a:p>
            <a:r>
              <a:rPr lang="en-GB" sz="1400">
                <a:solidFill>
                  <a:srgbClr val="000000"/>
                </a:solidFill>
              </a:rPr>
              <a:t> 7 Brazil       2000 cases           80488</a:t>
            </a:r>
          </a:p>
          <a:p>
            <a:r>
              <a:rPr lang="en-GB" sz="1400">
                <a:solidFill>
                  <a:srgbClr val="000000"/>
                </a:solidFill>
              </a:rPr>
              <a:t> 8 Brazil       2000 population  174504898</a:t>
            </a:r>
          </a:p>
          <a:p>
            <a:r>
              <a:rPr lang="en-GB" sz="1400">
                <a:solidFill>
                  <a:srgbClr val="000000"/>
                </a:solidFill>
              </a:rPr>
              <a:t> 9 China        1999 cases          212258</a:t>
            </a:r>
          </a:p>
          <a:p>
            <a:r>
              <a:rPr lang="en-GB" sz="1400">
                <a:solidFill>
                  <a:srgbClr val="000000"/>
                </a:solidFill>
              </a:rPr>
              <a:t>10 China        1999 population 1272915272</a:t>
            </a:r>
          </a:p>
          <a:p>
            <a:r>
              <a:rPr lang="en-GB" sz="1400">
                <a:solidFill>
                  <a:srgbClr val="000000"/>
                </a:solidFill>
              </a:rPr>
              <a:t>11 China        2000 cases          213766</a:t>
            </a:r>
          </a:p>
          <a:p>
            <a:r>
              <a:rPr lang="en-GB" sz="1400">
                <a:solidFill>
                  <a:srgbClr val="000000"/>
                </a:solidFill>
              </a:rPr>
              <a:t>12 China        2000 population 1280428583</a:t>
            </a:r>
          </a:p>
        </p:txBody>
      </p:sp>
      <p:sp>
        <p:nvSpPr>
          <p:cNvPr id="32" name="TextBox 31">
            <a:extLst>
              <a:ext uri="{FF2B5EF4-FFF2-40B4-BE49-F238E27FC236}">
                <a16:creationId xmlns:a16="http://schemas.microsoft.com/office/drawing/2014/main" id="{CE0E57CD-09A1-4E40-837D-0BC33DDBFCA1}"/>
              </a:ext>
            </a:extLst>
          </p:cNvPr>
          <p:cNvSpPr txBox="1"/>
          <p:nvPr/>
        </p:nvSpPr>
        <p:spPr>
          <a:xfrm>
            <a:off x="497248" y="3507354"/>
            <a:ext cx="4059627" cy="1815882"/>
          </a:xfrm>
          <a:prstGeom prst="rect">
            <a:avLst/>
          </a:prstGeom>
          <a:solidFill>
            <a:srgbClr val="EC4B2E">
              <a:alpha val="24706"/>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year rate             </a:t>
            </a:r>
          </a:p>
          <a:p>
            <a:r>
              <a:rPr lang="en-GB" sz="1400" i="1">
                <a:solidFill>
                  <a:srgbClr val="B7A9B6"/>
                </a:solidFill>
              </a:rPr>
              <a:t>* &lt;chr&gt;       &lt;int&gt; &lt;chr&gt;            </a:t>
            </a:r>
          </a:p>
          <a:p>
            <a:r>
              <a:rPr lang="en-GB" sz="1400">
                <a:solidFill>
                  <a:srgbClr val="000000"/>
                </a:solidFill>
              </a:rPr>
              <a:t>1 Afghanistan  1999 745/19987071     </a:t>
            </a:r>
          </a:p>
          <a:p>
            <a:r>
              <a:rPr lang="en-GB" sz="1400">
                <a:solidFill>
                  <a:srgbClr val="000000"/>
                </a:solidFill>
              </a:rPr>
              <a:t>2 Afghanistan  2000 2666/20595360    </a:t>
            </a:r>
          </a:p>
          <a:p>
            <a:r>
              <a:rPr lang="en-GB" sz="1400">
                <a:solidFill>
                  <a:srgbClr val="000000"/>
                </a:solidFill>
              </a:rPr>
              <a:t>3 Brazil       1999 37737/172006362  </a:t>
            </a:r>
          </a:p>
          <a:p>
            <a:r>
              <a:rPr lang="en-GB" sz="1400">
                <a:solidFill>
                  <a:srgbClr val="000000"/>
                </a:solidFill>
              </a:rPr>
              <a:t>4 Brazil       2000 80488/174504898  </a:t>
            </a:r>
          </a:p>
          <a:p>
            <a:r>
              <a:rPr lang="en-GB" sz="1400">
                <a:solidFill>
                  <a:srgbClr val="000000"/>
                </a:solidFill>
              </a:rPr>
              <a:t>5 China        1999 212258/1272915272</a:t>
            </a:r>
          </a:p>
          <a:p>
            <a:r>
              <a:rPr lang="en-GB" sz="1400">
                <a:solidFill>
                  <a:srgbClr val="000000"/>
                </a:solidFill>
              </a:rPr>
              <a:t>6 China        2000 213766/1280428583</a:t>
            </a:r>
          </a:p>
        </p:txBody>
      </p:sp>
      <p:sp>
        <p:nvSpPr>
          <p:cNvPr id="14" name="TextBox 13">
            <a:extLst>
              <a:ext uri="{FF2B5EF4-FFF2-40B4-BE49-F238E27FC236}">
                <a16:creationId xmlns:a16="http://schemas.microsoft.com/office/drawing/2014/main" id="{FC77FA09-48F4-E84D-834D-74A2AC10D15D}"/>
              </a:ext>
            </a:extLst>
          </p:cNvPr>
          <p:cNvSpPr txBox="1"/>
          <p:nvPr/>
        </p:nvSpPr>
        <p:spPr>
          <a:xfrm>
            <a:off x="8620675" y="4995810"/>
            <a:ext cx="3297027" cy="1169551"/>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745   2666</a:t>
            </a:r>
          </a:p>
          <a:p>
            <a:r>
              <a:rPr lang="en-GB" sz="1400">
                <a:solidFill>
                  <a:srgbClr val="000000"/>
                </a:solidFill>
              </a:rPr>
              <a:t>2 Brazil       37737  80488</a:t>
            </a:r>
          </a:p>
          <a:p>
            <a:r>
              <a:rPr lang="en-GB" sz="1400">
                <a:solidFill>
                  <a:srgbClr val="000000"/>
                </a:solidFill>
              </a:rPr>
              <a:t>3 China       212258 213766</a:t>
            </a:r>
          </a:p>
        </p:txBody>
      </p:sp>
      <p:sp>
        <p:nvSpPr>
          <p:cNvPr id="16" name="TextBox 15">
            <a:extLst>
              <a:ext uri="{FF2B5EF4-FFF2-40B4-BE49-F238E27FC236}">
                <a16:creationId xmlns:a16="http://schemas.microsoft.com/office/drawing/2014/main" id="{616D50CB-C088-554F-B589-AF3DFE138529}"/>
              </a:ext>
            </a:extLst>
          </p:cNvPr>
          <p:cNvSpPr txBox="1"/>
          <p:nvPr/>
        </p:nvSpPr>
        <p:spPr>
          <a:xfrm>
            <a:off x="4895101" y="4995810"/>
            <a:ext cx="3680146" cy="1169551"/>
          </a:xfrm>
          <a:prstGeom prst="rect">
            <a:avLst/>
          </a:prstGeom>
          <a:solidFill>
            <a:srgbClr val="0C720B">
              <a:alpha val="25490"/>
            </a:srgbClr>
          </a:solidFill>
          <a:ln w="12700">
            <a:solidFill>
              <a:srgbClr val="000000"/>
            </a:solidFill>
          </a:ln>
        </p:spPr>
        <p:txBody>
          <a:bodyPr wrap="square" rtlCol="0">
            <a:spAutoFit/>
          </a:bodyPr>
          <a:lstStyle>
            <a:defPPr>
              <a:defRPr lang="nl-BE"/>
            </a:defPPr>
            <a:lvl1pPr>
              <a:defRPr sz="1600">
                <a:solidFill>
                  <a:srgbClr val="2306FF"/>
                </a:solidFill>
                <a:latin typeface="Consolas" panose="020B0609020204030204" pitchFamily="49" charset="0"/>
                <a:cs typeface="Consolas" panose="020B0609020204030204" pitchFamily="49" charset="0"/>
              </a:defRPr>
            </a:lvl1pPr>
          </a:lstStyle>
          <a:p>
            <a:r>
              <a:rPr lang="en-GB" sz="1400">
                <a:solidFill>
                  <a:srgbClr val="000000"/>
                </a:solidFill>
              </a:rPr>
              <a:t>  country         `1999`     `2000`</a:t>
            </a:r>
          </a:p>
          <a:p>
            <a:r>
              <a:rPr lang="en-GB" sz="1400">
                <a:solidFill>
                  <a:srgbClr val="000000"/>
                </a:solidFill>
              </a:rPr>
              <a:t>* &lt;</a:t>
            </a:r>
            <a:r>
              <a:rPr lang="en-GB" sz="1400" err="1">
                <a:solidFill>
                  <a:srgbClr val="000000"/>
                </a:solidFill>
              </a:rPr>
              <a:t>chr</a:t>
            </a:r>
            <a:r>
              <a:rPr lang="en-GB" sz="1400">
                <a:solidFill>
                  <a:srgbClr val="000000"/>
                </a:solidFill>
              </a:rPr>
              <a:t>&gt;            &lt;int&gt;      &lt;int&gt;</a:t>
            </a:r>
          </a:p>
          <a:p>
            <a:r>
              <a:rPr lang="en-GB" sz="1400">
                <a:solidFill>
                  <a:srgbClr val="000000"/>
                </a:solidFill>
              </a:rPr>
              <a:t>1 Afghanistan   19987071   20595360</a:t>
            </a:r>
          </a:p>
          <a:p>
            <a:r>
              <a:rPr lang="en-GB" sz="1400">
                <a:solidFill>
                  <a:srgbClr val="000000"/>
                </a:solidFill>
              </a:rPr>
              <a:t>2 Brazil       172006362  174504898</a:t>
            </a:r>
          </a:p>
          <a:p>
            <a:r>
              <a:rPr lang="en-GB" sz="1400">
                <a:solidFill>
                  <a:srgbClr val="000000"/>
                </a:solidFill>
              </a:rPr>
              <a:t>3 China       1272915272 1280428583</a:t>
            </a:r>
          </a:p>
        </p:txBody>
      </p:sp>
      <p:sp>
        <p:nvSpPr>
          <p:cNvPr id="18" name="TextBox 17">
            <a:extLst>
              <a:ext uri="{FF2B5EF4-FFF2-40B4-BE49-F238E27FC236}">
                <a16:creationId xmlns:a16="http://schemas.microsoft.com/office/drawing/2014/main" id="{CF24C1D1-AF9A-5649-A818-7E48E73F5252}"/>
              </a:ext>
            </a:extLst>
          </p:cNvPr>
          <p:cNvSpPr txBox="1"/>
          <p:nvPr/>
        </p:nvSpPr>
        <p:spPr>
          <a:xfrm>
            <a:off x="419759" y="5410723"/>
            <a:ext cx="5112568" cy="338554"/>
          </a:xfrm>
          <a:prstGeom prst="rect">
            <a:avLst/>
          </a:prstGeom>
          <a:noFill/>
        </p:spPr>
        <p:txBody>
          <a:bodyPr wrap="square" rtlCol="0">
            <a:spAutoFit/>
          </a:bodyPr>
          <a:lstStyle/>
          <a:p>
            <a:r>
              <a:rPr lang="en-BE" sz="1600">
                <a:solidFill>
                  <a:srgbClr val="FF0000"/>
                </a:solidFill>
              </a:rPr>
              <a:t>One cell contains two values</a:t>
            </a:r>
          </a:p>
        </p:txBody>
      </p:sp>
    </p:spTree>
    <p:extLst>
      <p:ext uri="{BB962C8B-B14F-4D97-AF65-F5344CB8AC3E}">
        <p14:creationId xmlns:p14="http://schemas.microsoft.com/office/powerpoint/2010/main" val="2777237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p:txBody>
          <a:bodyPr/>
          <a:lstStyle/>
          <a:p>
            <a:r>
              <a:rPr lang="en-US" noProof="0" dirty="0"/>
              <a:t>Pandas – Data Structures</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15</a:t>
            </a:fld>
            <a:endParaRPr lang="nl-BE"/>
          </a:p>
        </p:txBody>
      </p:sp>
    </p:spTree>
    <p:extLst>
      <p:ext uri="{BB962C8B-B14F-4D97-AF65-F5344CB8AC3E}">
        <p14:creationId xmlns:p14="http://schemas.microsoft.com/office/powerpoint/2010/main" val="239910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605C-E6F9-4332-94F9-E95582807E1C}"/>
              </a:ext>
            </a:extLst>
          </p:cNvPr>
          <p:cNvSpPr>
            <a:spLocks noGrp="1"/>
          </p:cNvSpPr>
          <p:nvPr>
            <p:ph type="title"/>
          </p:nvPr>
        </p:nvSpPr>
        <p:spPr/>
        <p:txBody>
          <a:bodyPr>
            <a:normAutofit fontScale="90000"/>
          </a:bodyPr>
          <a:lstStyle/>
          <a:p>
            <a:r>
              <a:rPr lang="en-US" noProof="0" dirty="0"/>
              <a:t>Core components of pandas: Series &amp; DataFrame</a:t>
            </a:r>
          </a:p>
        </p:txBody>
      </p:sp>
      <p:sp>
        <p:nvSpPr>
          <p:cNvPr id="3" name="Content Placeholder 2">
            <a:extLst>
              <a:ext uri="{FF2B5EF4-FFF2-40B4-BE49-F238E27FC236}">
                <a16:creationId xmlns:a16="http://schemas.microsoft.com/office/drawing/2014/main" id="{78517DC7-C625-4933-B006-DEA50D1D4C27}"/>
              </a:ext>
            </a:extLst>
          </p:cNvPr>
          <p:cNvSpPr>
            <a:spLocks noGrp="1"/>
          </p:cNvSpPr>
          <p:nvPr>
            <p:ph idx="1"/>
          </p:nvPr>
        </p:nvSpPr>
        <p:spPr/>
        <p:txBody>
          <a:bodyPr/>
          <a:lstStyle/>
          <a:p>
            <a:r>
              <a:rPr lang="en-US" noProof="0" dirty="0"/>
              <a:t>A Series is essentially a column</a:t>
            </a:r>
          </a:p>
          <a:p>
            <a:r>
              <a:rPr lang="en-US" noProof="0" dirty="0"/>
              <a:t>A DataFrame is a multi-dimensional table made up of a collection of Series</a:t>
            </a:r>
          </a:p>
        </p:txBody>
      </p:sp>
      <p:sp>
        <p:nvSpPr>
          <p:cNvPr id="4" name="Slide Number Placeholder 3">
            <a:extLst>
              <a:ext uri="{FF2B5EF4-FFF2-40B4-BE49-F238E27FC236}">
                <a16:creationId xmlns:a16="http://schemas.microsoft.com/office/drawing/2014/main" id="{545B9078-552F-4305-BD70-C5FA873EA965}"/>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7" name="Picture 6">
            <a:extLst>
              <a:ext uri="{FF2B5EF4-FFF2-40B4-BE49-F238E27FC236}">
                <a16:creationId xmlns:a16="http://schemas.microsoft.com/office/drawing/2014/main" id="{FE9FE84B-4396-4521-A8D4-EB1B10310CD4}"/>
              </a:ext>
            </a:extLst>
          </p:cNvPr>
          <p:cNvPicPr>
            <a:picLocks noChangeAspect="1"/>
          </p:cNvPicPr>
          <p:nvPr/>
        </p:nvPicPr>
        <p:blipFill>
          <a:blip r:embed="rId3"/>
          <a:stretch>
            <a:fillRect/>
          </a:stretch>
        </p:blipFill>
        <p:spPr>
          <a:xfrm>
            <a:off x="2337122" y="3025375"/>
            <a:ext cx="7517756" cy="2879301"/>
          </a:xfrm>
          <a:prstGeom prst="rect">
            <a:avLst/>
          </a:prstGeom>
        </p:spPr>
      </p:pic>
    </p:spTree>
    <p:extLst>
      <p:ext uri="{BB962C8B-B14F-4D97-AF65-F5344CB8AC3E}">
        <p14:creationId xmlns:p14="http://schemas.microsoft.com/office/powerpoint/2010/main" val="1477805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929D-7398-436A-89C3-FEEE195E09D7}"/>
              </a:ext>
            </a:extLst>
          </p:cNvPr>
          <p:cNvSpPr>
            <a:spLocks noGrp="1"/>
          </p:cNvSpPr>
          <p:nvPr>
            <p:ph type="title"/>
          </p:nvPr>
        </p:nvSpPr>
        <p:spPr/>
        <p:txBody>
          <a:bodyPr/>
          <a:lstStyle/>
          <a:p>
            <a:r>
              <a:rPr lang="en-US" noProof="0" dirty="0"/>
              <a:t>Creating </a:t>
            </a:r>
            <a:r>
              <a:rPr lang="en-US" noProof="0" dirty="0" err="1"/>
              <a:t>DataFrames</a:t>
            </a:r>
            <a:r>
              <a:rPr lang="en-US" noProof="0" dirty="0"/>
              <a:t> from scratch</a:t>
            </a:r>
          </a:p>
        </p:txBody>
      </p:sp>
      <p:sp>
        <p:nvSpPr>
          <p:cNvPr id="3" name="Content Placeholder 2">
            <a:extLst>
              <a:ext uri="{FF2B5EF4-FFF2-40B4-BE49-F238E27FC236}">
                <a16:creationId xmlns:a16="http://schemas.microsoft.com/office/drawing/2014/main" id="{A9B8EC7A-D63C-447B-A73C-8616B9420745}"/>
              </a:ext>
            </a:extLst>
          </p:cNvPr>
          <p:cNvSpPr>
            <a:spLocks noGrp="1"/>
          </p:cNvSpPr>
          <p:nvPr>
            <p:ph idx="1"/>
          </p:nvPr>
        </p:nvSpPr>
        <p:spPr/>
        <p:txBody>
          <a:bodyPr>
            <a:normAutofit/>
          </a:bodyPr>
          <a:lstStyle/>
          <a:p>
            <a:r>
              <a:rPr lang="en-US" noProof="0" dirty="0"/>
              <a:t>There are many ways to create a DataFrame from scratch, but a great option is to use a simple dictionary.</a:t>
            </a:r>
          </a:p>
          <a:p>
            <a:r>
              <a:rPr lang="en-US" noProof="0" dirty="0"/>
              <a:t>Let's say we have a fruit stand that sells apples and oranges. We want to have a column for each fruit and a row for each customer purchase. Organized as a dictionary this looks like:</a:t>
            </a:r>
          </a:p>
          <a:p>
            <a:endParaRPr lang="en-US" noProof="0" dirty="0"/>
          </a:p>
          <a:p>
            <a:endParaRPr lang="en-US" noProof="0" dirty="0"/>
          </a:p>
          <a:p>
            <a:endParaRPr lang="en-US" noProof="0" dirty="0"/>
          </a:p>
          <a:p>
            <a:r>
              <a:rPr lang="en-US" noProof="0" dirty="0"/>
              <a:t>The data dictionary counts 2 key-value pairs</a:t>
            </a:r>
          </a:p>
          <a:p>
            <a:pPr lvl="1"/>
            <a:r>
              <a:rPr lang="en-US" noProof="0" dirty="0"/>
              <a:t>Keys: apples + oranges 	Values: lists with the corresponding purchases</a:t>
            </a:r>
          </a:p>
          <a:p>
            <a:endParaRPr lang="en-US" noProof="0" dirty="0"/>
          </a:p>
        </p:txBody>
      </p:sp>
      <p:sp>
        <p:nvSpPr>
          <p:cNvPr id="4" name="Slide Number Placeholder 3">
            <a:extLst>
              <a:ext uri="{FF2B5EF4-FFF2-40B4-BE49-F238E27FC236}">
                <a16:creationId xmlns:a16="http://schemas.microsoft.com/office/drawing/2014/main" id="{F93E8A19-0AFE-41DE-B55D-AAF83A9CBF42}"/>
              </a:ext>
            </a:extLst>
          </p:cNvPr>
          <p:cNvSpPr>
            <a:spLocks noGrp="1"/>
          </p:cNvSpPr>
          <p:nvPr>
            <p:ph type="sldNum" sz="quarter" idx="12"/>
          </p:nvPr>
        </p:nvSpPr>
        <p:spPr/>
        <p:txBody>
          <a:bodyPr/>
          <a:lstStyle/>
          <a:p>
            <a:fld id="{FE1B3154-47D9-4402-8EDB-E791933DC0B9}" type="slidenum">
              <a:rPr lang="nl-BE" smtClean="0"/>
              <a:pPr/>
              <a:t>17</a:t>
            </a:fld>
            <a:endParaRPr lang="nl-BE"/>
          </a:p>
        </p:txBody>
      </p:sp>
      <p:sp>
        <p:nvSpPr>
          <p:cNvPr id="7" name="TextBox 6">
            <a:extLst>
              <a:ext uri="{FF2B5EF4-FFF2-40B4-BE49-F238E27FC236}">
                <a16:creationId xmlns:a16="http://schemas.microsoft.com/office/drawing/2014/main" id="{E52774AC-086E-49FB-AF3B-65C4CDE83575}"/>
              </a:ext>
            </a:extLst>
          </p:cNvPr>
          <p:cNvSpPr txBox="1"/>
          <p:nvPr/>
        </p:nvSpPr>
        <p:spPr>
          <a:xfrm>
            <a:off x="906518" y="3863928"/>
            <a:ext cx="10702777" cy="1200329"/>
          </a:xfrm>
          <a:prstGeom prst="rect">
            <a:avLst/>
          </a:prstGeom>
          <a:noFill/>
          <a:ln>
            <a:solidFill>
              <a:srgbClr val="446785"/>
            </a:solidFill>
          </a:ln>
        </p:spPr>
        <p:txBody>
          <a:bodyPr wrap="square">
            <a:spAutoFit/>
          </a:bodyPr>
          <a:lstStyle/>
          <a:p>
            <a:pPr algn="l"/>
            <a:r>
              <a:rPr lang="it-IT" b="0" i="0" dirty="0">
                <a:solidFill>
                  <a:srgbClr val="4D4D4C"/>
                </a:solidFill>
                <a:effectLst/>
                <a:latin typeface="Monaco"/>
              </a:rPr>
              <a:t>data </a:t>
            </a:r>
            <a:r>
              <a:rPr lang="it-IT" b="0" i="0" dirty="0">
                <a:solidFill>
                  <a:srgbClr val="3E999F"/>
                </a:solidFill>
                <a:effectLst/>
                <a:latin typeface="Monaco"/>
              </a:rPr>
              <a:t>=</a:t>
            </a:r>
            <a:r>
              <a:rPr lang="it-IT" b="0" i="0" dirty="0">
                <a:solidFill>
                  <a:srgbClr val="4D4D4C"/>
                </a:solidFill>
                <a:effectLst/>
                <a:latin typeface="Monaco"/>
              </a:rPr>
              <a:t> { </a:t>
            </a:r>
          </a:p>
          <a:p>
            <a:pPr algn="l"/>
            <a:r>
              <a:rPr lang="it-IT" b="0" i="0" dirty="0">
                <a:solidFill>
                  <a:srgbClr val="718C00"/>
                </a:solidFill>
                <a:effectLst/>
                <a:latin typeface="Monaco"/>
              </a:rPr>
              <a:t>'apples'</a:t>
            </a:r>
            <a:r>
              <a:rPr lang="it-IT" b="0" i="0" dirty="0">
                <a:solidFill>
                  <a:srgbClr val="4D4D4C"/>
                </a:solidFill>
                <a:effectLst/>
                <a:latin typeface="Monaco"/>
              </a:rPr>
              <a:t>: [</a:t>
            </a:r>
            <a:r>
              <a:rPr lang="it-IT" b="0" i="0" dirty="0">
                <a:solidFill>
                  <a:srgbClr val="F5871F"/>
                </a:solidFill>
                <a:effectLst/>
                <a:latin typeface="Monaco"/>
              </a:rPr>
              <a:t>3</a:t>
            </a:r>
            <a:r>
              <a:rPr lang="it-IT" b="0" i="0" dirty="0">
                <a:solidFill>
                  <a:srgbClr val="4D4D4C"/>
                </a:solidFill>
                <a:effectLst/>
                <a:latin typeface="Monaco"/>
              </a:rPr>
              <a:t>, </a:t>
            </a:r>
            <a:r>
              <a:rPr lang="it-IT" b="0" i="0" dirty="0">
                <a:solidFill>
                  <a:srgbClr val="F5871F"/>
                </a:solidFill>
                <a:effectLst/>
                <a:latin typeface="Monaco"/>
              </a:rPr>
              <a:t>2</a:t>
            </a:r>
            <a:r>
              <a:rPr lang="it-IT" b="0" i="0" dirty="0">
                <a:solidFill>
                  <a:srgbClr val="4D4D4C"/>
                </a:solidFill>
                <a:effectLst/>
                <a:latin typeface="Monaco"/>
              </a:rPr>
              <a:t>, </a:t>
            </a:r>
            <a:r>
              <a:rPr lang="it-IT" b="0" i="0" dirty="0">
                <a:solidFill>
                  <a:srgbClr val="F5871F"/>
                </a:solidFill>
                <a:effectLst/>
                <a:latin typeface="Monaco"/>
              </a:rPr>
              <a:t>0</a:t>
            </a:r>
            <a:r>
              <a:rPr lang="it-IT" b="0" i="0" dirty="0">
                <a:solidFill>
                  <a:srgbClr val="4D4D4C"/>
                </a:solidFill>
                <a:effectLst/>
                <a:latin typeface="Monaco"/>
              </a:rPr>
              <a:t>, </a:t>
            </a:r>
            <a:r>
              <a:rPr lang="it-IT" b="0" i="0" dirty="0">
                <a:solidFill>
                  <a:srgbClr val="F5871F"/>
                </a:solidFill>
                <a:effectLst/>
                <a:latin typeface="Monaco"/>
              </a:rPr>
              <a:t>1</a:t>
            </a:r>
            <a:r>
              <a:rPr lang="it-IT" b="0" i="0" dirty="0">
                <a:solidFill>
                  <a:srgbClr val="4D4D4C"/>
                </a:solidFill>
                <a:effectLst/>
                <a:latin typeface="Monaco"/>
              </a:rPr>
              <a:t>], </a:t>
            </a:r>
          </a:p>
          <a:p>
            <a:pPr algn="l"/>
            <a:r>
              <a:rPr lang="it-IT" b="0" i="0" dirty="0">
                <a:solidFill>
                  <a:srgbClr val="718C00"/>
                </a:solidFill>
                <a:effectLst/>
                <a:latin typeface="Monaco"/>
              </a:rPr>
              <a:t>'oranges'</a:t>
            </a:r>
            <a:r>
              <a:rPr lang="it-IT" b="0" i="0" dirty="0">
                <a:solidFill>
                  <a:srgbClr val="4D4D4C"/>
                </a:solidFill>
                <a:effectLst/>
                <a:latin typeface="Monaco"/>
              </a:rPr>
              <a:t>: [</a:t>
            </a:r>
            <a:r>
              <a:rPr lang="it-IT" b="0" i="0" dirty="0">
                <a:solidFill>
                  <a:srgbClr val="F5871F"/>
                </a:solidFill>
                <a:effectLst/>
                <a:latin typeface="Monaco"/>
              </a:rPr>
              <a:t>0</a:t>
            </a:r>
            <a:r>
              <a:rPr lang="it-IT" b="0" i="0" dirty="0">
                <a:solidFill>
                  <a:srgbClr val="4D4D4C"/>
                </a:solidFill>
                <a:effectLst/>
                <a:latin typeface="Monaco"/>
              </a:rPr>
              <a:t>, </a:t>
            </a:r>
            <a:r>
              <a:rPr lang="it-IT" b="0" i="0" dirty="0">
                <a:solidFill>
                  <a:srgbClr val="F5871F"/>
                </a:solidFill>
                <a:effectLst/>
                <a:latin typeface="Monaco"/>
              </a:rPr>
              <a:t>3</a:t>
            </a:r>
            <a:r>
              <a:rPr lang="it-IT" b="0" i="0" dirty="0">
                <a:solidFill>
                  <a:srgbClr val="4D4D4C"/>
                </a:solidFill>
                <a:effectLst/>
                <a:latin typeface="Monaco"/>
              </a:rPr>
              <a:t>, </a:t>
            </a:r>
            <a:r>
              <a:rPr lang="it-IT" b="0" i="0" dirty="0">
                <a:solidFill>
                  <a:srgbClr val="F5871F"/>
                </a:solidFill>
                <a:effectLst/>
                <a:latin typeface="Monaco"/>
              </a:rPr>
              <a:t>7</a:t>
            </a:r>
            <a:r>
              <a:rPr lang="it-IT" b="0" i="0" dirty="0">
                <a:solidFill>
                  <a:srgbClr val="4D4D4C"/>
                </a:solidFill>
                <a:effectLst/>
                <a:latin typeface="Monaco"/>
              </a:rPr>
              <a:t>, </a:t>
            </a:r>
            <a:r>
              <a:rPr lang="it-IT" b="0" i="0" dirty="0">
                <a:solidFill>
                  <a:srgbClr val="F5871F"/>
                </a:solidFill>
                <a:effectLst/>
                <a:latin typeface="Monaco"/>
              </a:rPr>
              <a:t>2</a:t>
            </a:r>
            <a:r>
              <a:rPr lang="it-IT" b="0" i="0" dirty="0">
                <a:solidFill>
                  <a:srgbClr val="4D4D4C"/>
                </a:solidFill>
                <a:effectLst/>
                <a:latin typeface="Monaco"/>
              </a:rPr>
              <a:t>] </a:t>
            </a:r>
          </a:p>
          <a:p>
            <a:pPr algn="l"/>
            <a:r>
              <a:rPr lang="it-IT" b="0" i="0" dirty="0">
                <a:solidFill>
                  <a:srgbClr val="4D4D4C"/>
                </a:solidFill>
                <a:effectLst/>
                <a:latin typeface="Monaco"/>
              </a:rPr>
              <a:t>}</a:t>
            </a:r>
          </a:p>
        </p:txBody>
      </p:sp>
    </p:spTree>
    <p:extLst>
      <p:ext uri="{BB962C8B-B14F-4D97-AF65-F5344CB8AC3E}">
        <p14:creationId xmlns:p14="http://schemas.microsoft.com/office/powerpoint/2010/main" val="3657540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29BE-7583-4D97-9699-C3FDBD0B056B}"/>
              </a:ext>
            </a:extLst>
          </p:cNvPr>
          <p:cNvSpPr>
            <a:spLocks noGrp="1"/>
          </p:cNvSpPr>
          <p:nvPr>
            <p:ph type="title"/>
          </p:nvPr>
        </p:nvSpPr>
        <p:spPr/>
        <p:txBody>
          <a:bodyPr/>
          <a:lstStyle/>
          <a:p>
            <a:r>
              <a:rPr lang="en-US" noProof="0" dirty="0"/>
              <a:t>Creating </a:t>
            </a:r>
            <a:r>
              <a:rPr lang="en-US" noProof="0" dirty="0" err="1"/>
              <a:t>DataFrames</a:t>
            </a:r>
            <a:r>
              <a:rPr lang="en-US" noProof="0" dirty="0"/>
              <a:t> from scratch</a:t>
            </a:r>
          </a:p>
        </p:txBody>
      </p:sp>
      <p:sp>
        <p:nvSpPr>
          <p:cNvPr id="3" name="Content Placeholder 2">
            <a:extLst>
              <a:ext uri="{FF2B5EF4-FFF2-40B4-BE49-F238E27FC236}">
                <a16:creationId xmlns:a16="http://schemas.microsoft.com/office/drawing/2014/main" id="{959E4D49-D748-4D00-86EF-29E970D12A65}"/>
              </a:ext>
            </a:extLst>
          </p:cNvPr>
          <p:cNvSpPr>
            <a:spLocks noGrp="1"/>
          </p:cNvSpPr>
          <p:nvPr>
            <p:ph idx="1"/>
          </p:nvPr>
        </p:nvSpPr>
        <p:spPr/>
        <p:txBody>
          <a:bodyPr>
            <a:normAutofit/>
          </a:bodyPr>
          <a:lstStyle/>
          <a:p>
            <a:r>
              <a:rPr lang="en-US" sz="2600" noProof="0" dirty="0"/>
              <a:t>Next the dictionary can be passed to the DataFrame constructor</a:t>
            </a:r>
            <a:br>
              <a:rPr lang="en-US" sz="2600" noProof="0" dirty="0"/>
            </a:br>
            <a:endParaRPr lang="en-US" sz="2600" noProof="0" dirty="0"/>
          </a:p>
          <a:p>
            <a:endParaRPr lang="en-US" sz="2600" noProof="0" dirty="0"/>
          </a:p>
          <a:p>
            <a:endParaRPr lang="en-US" sz="2600" noProof="0" dirty="0"/>
          </a:p>
          <a:p>
            <a:r>
              <a:rPr lang="en-US" sz="2600" noProof="0" dirty="0"/>
              <a:t>Each (key, value) pair in the dictionary now corresponds to a column in the resulting DataFrame. </a:t>
            </a:r>
            <a:r>
              <a:rPr lang="en-US" sz="2600" b="0" i="0" noProof="0" dirty="0">
                <a:solidFill>
                  <a:srgbClr val="333333"/>
                </a:solidFill>
                <a:effectLst/>
                <a:latin typeface="proxima-nova"/>
              </a:rPr>
              <a:t>The </a:t>
            </a:r>
            <a:r>
              <a:rPr lang="en-US" sz="2600" b="1" noProof="0" dirty="0">
                <a:solidFill>
                  <a:srgbClr val="333333"/>
                </a:solidFill>
                <a:latin typeface="proxima-nova"/>
              </a:rPr>
              <a:t>i</a:t>
            </a:r>
            <a:r>
              <a:rPr lang="en-US" sz="2600" b="1" i="0" noProof="0" dirty="0">
                <a:solidFill>
                  <a:srgbClr val="333333"/>
                </a:solidFill>
                <a:effectLst/>
                <a:latin typeface="proxima-nova"/>
              </a:rPr>
              <a:t>ndex</a:t>
            </a:r>
            <a:r>
              <a:rPr lang="en-US" sz="2600" b="0" i="0" noProof="0" dirty="0">
                <a:solidFill>
                  <a:srgbClr val="333333"/>
                </a:solidFill>
                <a:effectLst/>
                <a:latin typeface="proxima-nova"/>
              </a:rPr>
              <a:t> of this DataFrame is generated on creation as the numbers 0-3.</a:t>
            </a:r>
            <a:endParaRPr lang="en-US" sz="2600" noProof="0" dirty="0"/>
          </a:p>
        </p:txBody>
      </p:sp>
      <p:sp>
        <p:nvSpPr>
          <p:cNvPr id="4" name="Slide Number Placeholder 3">
            <a:extLst>
              <a:ext uri="{FF2B5EF4-FFF2-40B4-BE49-F238E27FC236}">
                <a16:creationId xmlns:a16="http://schemas.microsoft.com/office/drawing/2014/main" id="{6C312FB8-EA3D-447B-AA99-C1583ED1E753}"/>
              </a:ext>
            </a:extLst>
          </p:cNvPr>
          <p:cNvSpPr>
            <a:spLocks noGrp="1"/>
          </p:cNvSpPr>
          <p:nvPr>
            <p:ph type="sldNum" sz="quarter" idx="12"/>
          </p:nvPr>
        </p:nvSpPr>
        <p:spPr/>
        <p:txBody>
          <a:bodyPr/>
          <a:lstStyle/>
          <a:p>
            <a:fld id="{FE1B3154-47D9-4402-8EDB-E791933DC0B9}" type="slidenum">
              <a:rPr lang="nl-BE" smtClean="0"/>
              <a:pPr/>
              <a:t>18</a:t>
            </a:fld>
            <a:endParaRPr lang="nl-BE"/>
          </a:p>
        </p:txBody>
      </p:sp>
      <p:sp>
        <p:nvSpPr>
          <p:cNvPr id="8" name="TextBox 7">
            <a:extLst>
              <a:ext uri="{FF2B5EF4-FFF2-40B4-BE49-F238E27FC236}">
                <a16:creationId xmlns:a16="http://schemas.microsoft.com/office/drawing/2014/main" id="{D6160D61-74D3-48A3-9121-87EC1262151F}"/>
              </a:ext>
            </a:extLst>
          </p:cNvPr>
          <p:cNvSpPr txBox="1"/>
          <p:nvPr/>
        </p:nvSpPr>
        <p:spPr>
          <a:xfrm>
            <a:off x="917027" y="2234469"/>
            <a:ext cx="10087303" cy="923330"/>
          </a:xfrm>
          <a:prstGeom prst="rect">
            <a:avLst/>
          </a:prstGeom>
          <a:noFill/>
          <a:ln>
            <a:solidFill>
              <a:srgbClr val="446785"/>
            </a:solidFill>
          </a:ln>
        </p:spPr>
        <p:txBody>
          <a:bodyPr wrap="square">
            <a:spAutoFit/>
          </a:bodyPr>
          <a:lstStyle>
            <a:defPPr>
              <a:defRPr lang="nl-BE"/>
            </a:defPPr>
            <a:lvl1pPr>
              <a:defRPr b="0" i="0">
                <a:solidFill>
                  <a:srgbClr val="4D4D4C"/>
                </a:solidFill>
                <a:effectLst/>
                <a:latin typeface="Monaco"/>
              </a:defRPr>
            </a:lvl1pPr>
          </a:lstStyle>
          <a:p>
            <a:r>
              <a:rPr lang="nl-BE" err="1"/>
              <a:t>purchases</a:t>
            </a:r>
            <a:r>
              <a:rPr lang="nl-BE"/>
              <a:t> = </a:t>
            </a:r>
            <a:r>
              <a:rPr lang="nl-BE" err="1"/>
              <a:t>pd.DataFrame</a:t>
            </a:r>
            <a:r>
              <a:rPr lang="nl-BE"/>
              <a:t>(data)</a:t>
            </a:r>
            <a:br>
              <a:rPr lang="nl-BE"/>
            </a:br>
            <a:br>
              <a:rPr lang="nl-BE"/>
            </a:br>
            <a:r>
              <a:rPr lang="nl-BE" err="1"/>
              <a:t>purchases</a:t>
            </a:r>
            <a:endParaRPr lang="nl-BE"/>
          </a:p>
        </p:txBody>
      </p:sp>
      <p:pic>
        <p:nvPicPr>
          <p:cNvPr id="12" name="Picture 11">
            <a:extLst>
              <a:ext uri="{FF2B5EF4-FFF2-40B4-BE49-F238E27FC236}">
                <a16:creationId xmlns:a16="http://schemas.microsoft.com/office/drawing/2014/main" id="{E086D840-559D-4B06-A057-AB64EA99A7B0}"/>
              </a:ext>
            </a:extLst>
          </p:cNvPr>
          <p:cNvPicPr>
            <a:picLocks noChangeAspect="1"/>
          </p:cNvPicPr>
          <p:nvPr/>
        </p:nvPicPr>
        <p:blipFill>
          <a:blip r:embed="rId2"/>
          <a:stretch>
            <a:fillRect/>
          </a:stretch>
        </p:blipFill>
        <p:spPr>
          <a:xfrm>
            <a:off x="917027" y="4617217"/>
            <a:ext cx="2971801" cy="1921695"/>
          </a:xfrm>
          <a:prstGeom prst="rect">
            <a:avLst/>
          </a:prstGeom>
          <a:ln>
            <a:solidFill>
              <a:srgbClr val="446785"/>
            </a:solidFill>
          </a:ln>
        </p:spPr>
      </p:pic>
    </p:spTree>
    <p:extLst>
      <p:ext uri="{BB962C8B-B14F-4D97-AF65-F5344CB8AC3E}">
        <p14:creationId xmlns:p14="http://schemas.microsoft.com/office/powerpoint/2010/main" val="2239775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0CCD-0B5A-4A5E-9B0C-F26989D51D28}"/>
              </a:ext>
            </a:extLst>
          </p:cNvPr>
          <p:cNvSpPr>
            <a:spLocks noGrp="1"/>
          </p:cNvSpPr>
          <p:nvPr>
            <p:ph type="title"/>
          </p:nvPr>
        </p:nvSpPr>
        <p:spPr/>
        <p:txBody>
          <a:bodyPr/>
          <a:lstStyle/>
          <a:p>
            <a:r>
              <a:rPr lang="en-US" noProof="0" dirty="0"/>
              <a:t>Creating </a:t>
            </a:r>
            <a:r>
              <a:rPr lang="en-US" noProof="0" dirty="0" err="1"/>
              <a:t>DataFrames</a:t>
            </a:r>
            <a:r>
              <a:rPr lang="en-US" noProof="0" dirty="0"/>
              <a:t> from scratch</a:t>
            </a:r>
          </a:p>
        </p:txBody>
      </p:sp>
      <p:sp>
        <p:nvSpPr>
          <p:cNvPr id="3" name="Content Placeholder 2">
            <a:extLst>
              <a:ext uri="{FF2B5EF4-FFF2-40B4-BE49-F238E27FC236}">
                <a16:creationId xmlns:a16="http://schemas.microsoft.com/office/drawing/2014/main" id="{3B5BD2C0-5F08-4ACA-B9E8-98A8C194D8F2}"/>
              </a:ext>
            </a:extLst>
          </p:cNvPr>
          <p:cNvSpPr>
            <a:spLocks noGrp="1"/>
          </p:cNvSpPr>
          <p:nvPr>
            <p:ph idx="1"/>
          </p:nvPr>
        </p:nvSpPr>
        <p:spPr/>
        <p:txBody>
          <a:bodyPr/>
          <a:lstStyle/>
          <a:p>
            <a:r>
              <a:rPr lang="en-US" noProof="0" dirty="0"/>
              <a:t>Instead of the default numeric indexing, each row can get a custom index label: e.g. customer names</a:t>
            </a:r>
          </a:p>
          <a:p>
            <a:endParaRPr lang="en-US" noProof="0" dirty="0"/>
          </a:p>
          <a:p>
            <a:endParaRPr lang="en-US" noProof="0" dirty="0"/>
          </a:p>
          <a:p>
            <a:endParaRPr lang="en-US" noProof="0" dirty="0"/>
          </a:p>
          <a:p>
            <a:r>
              <a:rPr lang="en-US" noProof="0" dirty="0"/>
              <a:t>A </a:t>
            </a:r>
            <a:r>
              <a:rPr lang="en-US" noProof="0" dirty="0" err="1"/>
              <a:t>datarow</a:t>
            </a:r>
            <a:r>
              <a:rPr lang="en-US" noProof="0" dirty="0"/>
              <a:t> of a specific customer can then be located based on their name</a:t>
            </a:r>
          </a:p>
        </p:txBody>
      </p:sp>
      <p:sp>
        <p:nvSpPr>
          <p:cNvPr id="4" name="Slide Number Placeholder 3">
            <a:extLst>
              <a:ext uri="{FF2B5EF4-FFF2-40B4-BE49-F238E27FC236}">
                <a16:creationId xmlns:a16="http://schemas.microsoft.com/office/drawing/2014/main" id="{DD39A5DB-64FD-4F47-9937-08FCC3C93270}"/>
              </a:ext>
            </a:extLst>
          </p:cNvPr>
          <p:cNvSpPr>
            <a:spLocks noGrp="1"/>
          </p:cNvSpPr>
          <p:nvPr>
            <p:ph type="sldNum" sz="quarter" idx="12"/>
          </p:nvPr>
        </p:nvSpPr>
        <p:spPr/>
        <p:txBody>
          <a:bodyPr/>
          <a:lstStyle/>
          <a:p>
            <a:fld id="{FE1B3154-47D9-4402-8EDB-E791933DC0B9}" type="slidenum">
              <a:rPr lang="nl-BE" smtClean="0"/>
              <a:pPr/>
              <a:t>19</a:t>
            </a:fld>
            <a:endParaRPr lang="nl-BE"/>
          </a:p>
        </p:txBody>
      </p:sp>
      <p:sp>
        <p:nvSpPr>
          <p:cNvPr id="8" name="TextBox 7">
            <a:extLst>
              <a:ext uri="{FF2B5EF4-FFF2-40B4-BE49-F238E27FC236}">
                <a16:creationId xmlns:a16="http://schemas.microsoft.com/office/drawing/2014/main" id="{DC5F1A80-60B9-4A76-8100-DD40317AE925}"/>
              </a:ext>
            </a:extLst>
          </p:cNvPr>
          <p:cNvSpPr txBox="1"/>
          <p:nvPr/>
        </p:nvSpPr>
        <p:spPr>
          <a:xfrm>
            <a:off x="938049" y="2628376"/>
            <a:ext cx="7091854" cy="646331"/>
          </a:xfrm>
          <a:prstGeom prst="rect">
            <a:avLst/>
          </a:prstGeom>
          <a:noFill/>
          <a:ln>
            <a:solidFill>
              <a:srgbClr val="446785"/>
            </a:solidFill>
          </a:ln>
        </p:spPr>
        <p:txBody>
          <a:bodyPr wrap="square">
            <a:spAutoFit/>
          </a:bodyPr>
          <a:lstStyle/>
          <a:p>
            <a:pPr algn="l"/>
            <a:r>
              <a:rPr lang="en-US" b="0" i="0" dirty="0">
                <a:solidFill>
                  <a:srgbClr val="4D4D4C"/>
                </a:solidFill>
                <a:effectLst/>
                <a:latin typeface="Monaco"/>
              </a:rPr>
              <a:t>purchases </a:t>
            </a:r>
            <a:r>
              <a:rPr lang="en-US" b="0" i="0" dirty="0">
                <a:solidFill>
                  <a:srgbClr val="3E999F"/>
                </a:solidFill>
                <a:effectLst/>
                <a:latin typeface="Monaco"/>
              </a:rPr>
              <a:t>=</a:t>
            </a:r>
            <a:r>
              <a:rPr lang="en-US" b="0" i="0" dirty="0">
                <a:solidFill>
                  <a:srgbClr val="4D4D4C"/>
                </a:solidFill>
                <a:effectLst/>
                <a:latin typeface="Monaco"/>
              </a:rPr>
              <a:t> </a:t>
            </a:r>
            <a:r>
              <a:rPr lang="en-US" b="0" i="0" dirty="0" err="1">
                <a:solidFill>
                  <a:srgbClr val="4D4D4C"/>
                </a:solidFill>
                <a:effectLst/>
                <a:latin typeface="Monaco"/>
              </a:rPr>
              <a:t>pd.</a:t>
            </a:r>
            <a:r>
              <a:rPr lang="en-US" b="0" i="0" dirty="0" err="1">
                <a:solidFill>
                  <a:srgbClr val="4271AE"/>
                </a:solidFill>
                <a:effectLst/>
                <a:latin typeface="Monaco"/>
              </a:rPr>
              <a:t>DataFrame</a:t>
            </a:r>
            <a:r>
              <a:rPr lang="en-US" b="0" i="0" dirty="0">
                <a:solidFill>
                  <a:srgbClr val="4D4D4C"/>
                </a:solidFill>
                <a:effectLst/>
                <a:latin typeface="Monaco"/>
              </a:rPr>
              <a:t>(data, index</a:t>
            </a:r>
            <a:r>
              <a:rPr lang="en-US" b="0" i="0" dirty="0">
                <a:solidFill>
                  <a:srgbClr val="3E999F"/>
                </a:solidFill>
                <a:effectLst/>
                <a:latin typeface="Monaco"/>
              </a:rPr>
              <a:t>=</a:t>
            </a:r>
            <a:r>
              <a:rPr lang="en-US" b="0" i="0" dirty="0">
                <a:solidFill>
                  <a:srgbClr val="4D4D4C"/>
                </a:solidFill>
                <a:effectLst/>
                <a:latin typeface="Monaco"/>
              </a:rPr>
              <a:t>[</a:t>
            </a:r>
            <a:r>
              <a:rPr lang="en-US" b="0" i="0" dirty="0">
                <a:solidFill>
                  <a:srgbClr val="718C00"/>
                </a:solidFill>
                <a:effectLst/>
                <a:latin typeface="Monaco"/>
              </a:rPr>
              <a:t>'June'</a:t>
            </a:r>
            <a:r>
              <a:rPr lang="en-US" b="0" i="0" dirty="0">
                <a:solidFill>
                  <a:srgbClr val="4D4D4C"/>
                </a:solidFill>
                <a:effectLst/>
                <a:latin typeface="Monaco"/>
              </a:rPr>
              <a:t>, </a:t>
            </a:r>
            <a:r>
              <a:rPr lang="en-US" b="0" i="0" dirty="0">
                <a:solidFill>
                  <a:srgbClr val="718C00"/>
                </a:solidFill>
                <a:effectLst/>
                <a:latin typeface="Monaco"/>
              </a:rPr>
              <a:t>'Robert'</a:t>
            </a:r>
            <a:r>
              <a:rPr lang="en-US" b="0" i="0" dirty="0">
                <a:solidFill>
                  <a:srgbClr val="4D4D4C"/>
                </a:solidFill>
                <a:effectLst/>
                <a:latin typeface="Monaco"/>
              </a:rPr>
              <a:t>, </a:t>
            </a:r>
            <a:r>
              <a:rPr lang="en-US" b="0" i="0" dirty="0">
                <a:solidFill>
                  <a:srgbClr val="718C00"/>
                </a:solidFill>
                <a:effectLst/>
                <a:latin typeface="Monaco"/>
              </a:rPr>
              <a:t>'Lily'</a:t>
            </a:r>
            <a:r>
              <a:rPr lang="en-US" b="0" i="0" dirty="0">
                <a:solidFill>
                  <a:srgbClr val="4D4D4C"/>
                </a:solidFill>
                <a:effectLst/>
                <a:latin typeface="Monaco"/>
              </a:rPr>
              <a:t>, </a:t>
            </a:r>
            <a:r>
              <a:rPr lang="en-US" b="0" i="0" dirty="0">
                <a:solidFill>
                  <a:srgbClr val="718C00"/>
                </a:solidFill>
                <a:effectLst/>
                <a:latin typeface="Monaco"/>
              </a:rPr>
              <a:t>‘David'</a:t>
            </a:r>
            <a:r>
              <a:rPr lang="en-US" b="0" i="0" dirty="0">
                <a:solidFill>
                  <a:srgbClr val="4D4D4C"/>
                </a:solidFill>
                <a:effectLst/>
                <a:latin typeface="Monaco"/>
              </a:rPr>
              <a:t>]) </a:t>
            </a:r>
          </a:p>
          <a:p>
            <a:pPr algn="l"/>
            <a:r>
              <a:rPr lang="en-US" b="0" i="0" dirty="0">
                <a:solidFill>
                  <a:srgbClr val="4D4D4C"/>
                </a:solidFill>
                <a:effectLst/>
                <a:latin typeface="Monaco"/>
              </a:rPr>
              <a:t>purchases</a:t>
            </a:r>
          </a:p>
        </p:txBody>
      </p:sp>
      <p:pic>
        <p:nvPicPr>
          <p:cNvPr id="10" name="Picture 9">
            <a:extLst>
              <a:ext uri="{FF2B5EF4-FFF2-40B4-BE49-F238E27FC236}">
                <a16:creationId xmlns:a16="http://schemas.microsoft.com/office/drawing/2014/main" id="{891FE83B-5868-4F86-B11F-3F6393C20134}"/>
              </a:ext>
            </a:extLst>
          </p:cNvPr>
          <p:cNvPicPr>
            <a:picLocks noChangeAspect="1"/>
          </p:cNvPicPr>
          <p:nvPr/>
        </p:nvPicPr>
        <p:blipFill>
          <a:blip r:embed="rId2"/>
          <a:stretch>
            <a:fillRect/>
          </a:stretch>
        </p:blipFill>
        <p:spPr>
          <a:xfrm>
            <a:off x="8367876" y="2139903"/>
            <a:ext cx="2886075" cy="1724025"/>
          </a:xfrm>
          <a:prstGeom prst="rect">
            <a:avLst/>
          </a:prstGeom>
        </p:spPr>
      </p:pic>
      <p:pic>
        <p:nvPicPr>
          <p:cNvPr id="12" name="Picture 11">
            <a:extLst>
              <a:ext uri="{FF2B5EF4-FFF2-40B4-BE49-F238E27FC236}">
                <a16:creationId xmlns:a16="http://schemas.microsoft.com/office/drawing/2014/main" id="{7E116586-07B4-459F-BFCA-317752FA646C}"/>
              </a:ext>
            </a:extLst>
          </p:cNvPr>
          <p:cNvPicPr>
            <a:picLocks noChangeAspect="1"/>
          </p:cNvPicPr>
          <p:nvPr/>
        </p:nvPicPr>
        <p:blipFill>
          <a:blip r:embed="rId3"/>
          <a:stretch>
            <a:fillRect/>
          </a:stretch>
        </p:blipFill>
        <p:spPr>
          <a:xfrm>
            <a:off x="8598611" y="4874776"/>
            <a:ext cx="3171825" cy="666750"/>
          </a:xfrm>
          <a:prstGeom prst="rect">
            <a:avLst/>
          </a:prstGeom>
        </p:spPr>
      </p:pic>
      <p:sp>
        <p:nvSpPr>
          <p:cNvPr id="13" name="TextBox 12">
            <a:extLst>
              <a:ext uri="{FF2B5EF4-FFF2-40B4-BE49-F238E27FC236}">
                <a16:creationId xmlns:a16="http://schemas.microsoft.com/office/drawing/2014/main" id="{909F7AF1-B649-442D-B1DA-A95E41592C85}"/>
              </a:ext>
            </a:extLst>
          </p:cNvPr>
          <p:cNvSpPr txBox="1"/>
          <p:nvPr/>
        </p:nvSpPr>
        <p:spPr>
          <a:xfrm>
            <a:off x="938049" y="4874776"/>
            <a:ext cx="7091854" cy="369332"/>
          </a:xfrm>
          <a:prstGeom prst="rect">
            <a:avLst/>
          </a:prstGeom>
          <a:noFill/>
          <a:ln>
            <a:solidFill>
              <a:srgbClr val="446785"/>
            </a:solidFill>
          </a:ln>
        </p:spPr>
        <p:txBody>
          <a:bodyPr wrap="square">
            <a:spAutoFit/>
          </a:bodyPr>
          <a:lstStyle/>
          <a:p>
            <a:pPr algn="l"/>
            <a:r>
              <a:rPr lang="en-US" b="0" i="0">
                <a:solidFill>
                  <a:srgbClr val="4D4D4C"/>
                </a:solidFill>
                <a:effectLst/>
                <a:latin typeface="Monaco"/>
              </a:rPr>
              <a:t>purchases </a:t>
            </a:r>
            <a:r>
              <a:rPr lang="en-US" b="0" i="0">
                <a:solidFill>
                  <a:srgbClr val="3E999F"/>
                </a:solidFill>
                <a:effectLst/>
                <a:latin typeface="Monaco"/>
              </a:rPr>
              <a:t>=</a:t>
            </a:r>
            <a:r>
              <a:rPr lang="en-US" b="0" i="0">
                <a:solidFill>
                  <a:srgbClr val="4D4D4C"/>
                </a:solidFill>
                <a:effectLst/>
                <a:latin typeface="Monaco"/>
              </a:rPr>
              <a:t> </a:t>
            </a:r>
            <a:r>
              <a:rPr lang="en-US" b="0" i="0" err="1">
                <a:solidFill>
                  <a:srgbClr val="4D4D4C"/>
                </a:solidFill>
                <a:effectLst/>
                <a:latin typeface="Monaco"/>
              </a:rPr>
              <a:t>purchases.loc</a:t>
            </a:r>
            <a:r>
              <a:rPr lang="en-US" b="0" i="0">
                <a:solidFill>
                  <a:srgbClr val="4D4D4C"/>
                </a:solidFill>
                <a:effectLst/>
                <a:latin typeface="Monaco"/>
              </a:rPr>
              <a:t>[ </a:t>
            </a:r>
            <a:r>
              <a:rPr lang="en-US" b="0" i="0">
                <a:solidFill>
                  <a:srgbClr val="718C00"/>
                </a:solidFill>
                <a:effectLst/>
                <a:latin typeface="Monaco"/>
              </a:rPr>
              <a:t>'Lily']</a:t>
            </a:r>
            <a:r>
              <a:rPr lang="en-US" b="0" i="0">
                <a:solidFill>
                  <a:srgbClr val="4D4D4C"/>
                </a:solidFill>
                <a:effectLst/>
                <a:latin typeface="Monaco"/>
              </a:rPr>
              <a:t> </a:t>
            </a:r>
          </a:p>
        </p:txBody>
      </p:sp>
      <p:sp>
        <p:nvSpPr>
          <p:cNvPr id="9" name="TextBox 8">
            <a:extLst>
              <a:ext uri="{FF2B5EF4-FFF2-40B4-BE49-F238E27FC236}">
                <a16:creationId xmlns:a16="http://schemas.microsoft.com/office/drawing/2014/main" id="{07BBEB04-A158-4FBF-B094-3E5A83BCE8B9}"/>
              </a:ext>
            </a:extLst>
          </p:cNvPr>
          <p:cNvSpPr txBox="1"/>
          <p:nvPr/>
        </p:nvSpPr>
        <p:spPr>
          <a:xfrm>
            <a:off x="783262" y="5443061"/>
            <a:ext cx="7584614" cy="830997"/>
          </a:xfrm>
          <a:prstGeom prst="rect">
            <a:avLst/>
          </a:prstGeom>
          <a:noFill/>
        </p:spPr>
        <p:txBody>
          <a:bodyPr wrap="square" rtlCol="0">
            <a:spAutoFit/>
          </a:bodyPr>
          <a:lstStyle/>
          <a:p>
            <a:r>
              <a:rPr lang="nl-BE" sz="2400" err="1"/>
              <a:t>To</a:t>
            </a:r>
            <a:r>
              <a:rPr lang="nl-BE" sz="2400"/>
              <a:t> extract </a:t>
            </a:r>
            <a:r>
              <a:rPr lang="nl-BE" sz="2400" err="1"/>
              <a:t>rows</a:t>
            </a:r>
            <a:r>
              <a:rPr lang="nl-BE" sz="2400"/>
              <a:t> </a:t>
            </a:r>
            <a:r>
              <a:rPr lang="nl-BE" sz="2400" err="1"/>
              <a:t>based</a:t>
            </a:r>
            <a:r>
              <a:rPr lang="nl-BE" sz="2400"/>
              <a:t> on </a:t>
            </a:r>
            <a:r>
              <a:rPr lang="nl-BE" sz="2400" err="1"/>
              <a:t>the</a:t>
            </a:r>
            <a:r>
              <a:rPr lang="nl-BE" sz="2400"/>
              <a:t> index label, </a:t>
            </a:r>
            <a:r>
              <a:rPr lang="nl-BE" sz="2400" err="1"/>
              <a:t>you</a:t>
            </a:r>
            <a:r>
              <a:rPr lang="nl-BE" sz="2400"/>
              <a:t> </a:t>
            </a:r>
            <a:r>
              <a:rPr lang="nl-BE" sz="2400" err="1"/>
              <a:t>use</a:t>
            </a:r>
            <a:r>
              <a:rPr lang="nl-BE" sz="2400"/>
              <a:t>: </a:t>
            </a:r>
            <a:r>
              <a:rPr lang="nl-BE" sz="2400" i="1">
                <a:solidFill>
                  <a:srgbClr val="446785"/>
                </a:solidFill>
              </a:rPr>
              <a:t>.loc[</a:t>
            </a:r>
            <a:r>
              <a:rPr lang="nl-BE" sz="2400" i="1">
                <a:solidFill>
                  <a:schemeClr val="accent6">
                    <a:lumMod val="60000"/>
                    <a:lumOff val="40000"/>
                  </a:schemeClr>
                </a:solidFill>
              </a:rPr>
              <a:t>‘label’</a:t>
            </a:r>
            <a:r>
              <a:rPr lang="nl-BE" sz="2400" i="1">
                <a:solidFill>
                  <a:srgbClr val="446785"/>
                </a:solidFill>
              </a:rPr>
              <a:t>]  </a:t>
            </a:r>
            <a:endParaRPr lang="en-US" sz="2400"/>
          </a:p>
        </p:txBody>
      </p:sp>
    </p:spTree>
    <p:extLst>
      <p:ext uri="{BB962C8B-B14F-4D97-AF65-F5344CB8AC3E}">
        <p14:creationId xmlns:p14="http://schemas.microsoft.com/office/powerpoint/2010/main" val="1370275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FD09-8706-1B51-F709-C789773CDF64}"/>
              </a:ext>
            </a:extLst>
          </p:cNvPr>
          <p:cNvSpPr>
            <a:spLocks noGrp="1"/>
          </p:cNvSpPr>
          <p:nvPr>
            <p:ph type="title"/>
          </p:nvPr>
        </p:nvSpPr>
        <p:spPr/>
        <p:txBody>
          <a:bodyPr/>
          <a:lstStyle/>
          <a:p>
            <a:r>
              <a:rPr lang="en-US" noProof="0" dirty="0"/>
              <a:t>Reset index</a:t>
            </a:r>
          </a:p>
        </p:txBody>
      </p:sp>
      <p:sp>
        <p:nvSpPr>
          <p:cNvPr id="3" name="Content Placeholder 2">
            <a:extLst>
              <a:ext uri="{FF2B5EF4-FFF2-40B4-BE49-F238E27FC236}">
                <a16:creationId xmlns:a16="http://schemas.microsoft.com/office/drawing/2014/main" id="{DF37E82F-0CA0-7690-C972-68C2BD7B4353}"/>
              </a:ext>
            </a:extLst>
          </p:cNvPr>
          <p:cNvSpPr>
            <a:spLocks noGrp="1"/>
          </p:cNvSpPr>
          <p:nvPr>
            <p:ph idx="1"/>
          </p:nvPr>
        </p:nvSpPr>
        <p:spPr/>
        <p:txBody>
          <a:bodyPr/>
          <a:lstStyle/>
          <a:p>
            <a:r>
              <a:rPr lang="en-US" noProof="0" dirty="0"/>
              <a:t>You can always go back from the labeled indices (e.g. </a:t>
            </a:r>
            <a:r>
              <a:rPr lang="en-US" b="0" i="0" noProof="0" dirty="0">
                <a:effectLst/>
                <a:latin typeface="Monaco"/>
              </a:rPr>
              <a:t>index=['June', 'Robert', 'Lily', ‘David’]) </a:t>
            </a:r>
            <a:r>
              <a:rPr lang="en-US" noProof="0" dirty="0"/>
              <a:t> to the default numerical ones (e.g. 0-3) by using </a:t>
            </a:r>
            <a:r>
              <a:rPr lang="en-US" i="1" noProof="0" dirty="0" err="1">
                <a:solidFill>
                  <a:srgbClr val="446785"/>
                </a:solidFill>
              </a:rPr>
              <a:t>reset_index</a:t>
            </a:r>
            <a:r>
              <a:rPr lang="en-US" i="1" noProof="0" dirty="0">
                <a:solidFill>
                  <a:srgbClr val="446785"/>
                </a:solidFill>
              </a:rPr>
              <a:t>()</a:t>
            </a:r>
          </a:p>
          <a:p>
            <a:endParaRPr lang="en-US" i="1" noProof="0" dirty="0">
              <a:solidFill>
                <a:srgbClr val="446785"/>
              </a:solidFill>
            </a:endParaRPr>
          </a:p>
          <a:p>
            <a:endParaRPr lang="en-US" i="1" noProof="0" dirty="0">
              <a:solidFill>
                <a:srgbClr val="446785"/>
              </a:solidFill>
            </a:endParaRPr>
          </a:p>
          <a:p>
            <a:pPr marL="0" indent="0">
              <a:buNone/>
            </a:pPr>
            <a:endParaRPr lang="en-US" i="1" noProof="0" dirty="0">
              <a:solidFill>
                <a:srgbClr val="446785"/>
              </a:solidFill>
            </a:endParaRPr>
          </a:p>
          <a:p>
            <a:r>
              <a:rPr lang="en-US" noProof="0" dirty="0"/>
              <a:t>Use the drop parameter to avoid the old index being added as a column:</a:t>
            </a:r>
          </a:p>
        </p:txBody>
      </p:sp>
      <p:sp>
        <p:nvSpPr>
          <p:cNvPr id="4" name="Slide Number Placeholder 3">
            <a:extLst>
              <a:ext uri="{FF2B5EF4-FFF2-40B4-BE49-F238E27FC236}">
                <a16:creationId xmlns:a16="http://schemas.microsoft.com/office/drawing/2014/main" id="{214E12E9-9371-123F-3914-2B11B9AFCEE1}"/>
              </a:ext>
            </a:extLst>
          </p:cNvPr>
          <p:cNvSpPr>
            <a:spLocks noGrp="1"/>
          </p:cNvSpPr>
          <p:nvPr>
            <p:ph type="sldNum" sz="quarter" idx="12"/>
          </p:nvPr>
        </p:nvSpPr>
        <p:spPr/>
        <p:txBody>
          <a:bodyPr/>
          <a:lstStyle/>
          <a:p>
            <a:fld id="{FE1B3154-47D9-4402-8EDB-E791933DC0B9}" type="slidenum">
              <a:rPr lang="nl-BE" smtClean="0"/>
              <a:pPr/>
              <a:t>20</a:t>
            </a:fld>
            <a:endParaRPr lang="nl-BE"/>
          </a:p>
        </p:txBody>
      </p:sp>
      <p:pic>
        <p:nvPicPr>
          <p:cNvPr id="6" name="Picture 5">
            <a:extLst>
              <a:ext uri="{FF2B5EF4-FFF2-40B4-BE49-F238E27FC236}">
                <a16:creationId xmlns:a16="http://schemas.microsoft.com/office/drawing/2014/main" id="{0C211DE3-8C66-E6BC-F250-13D0DA86F008}"/>
              </a:ext>
            </a:extLst>
          </p:cNvPr>
          <p:cNvPicPr>
            <a:picLocks noChangeAspect="1"/>
          </p:cNvPicPr>
          <p:nvPr/>
        </p:nvPicPr>
        <p:blipFill>
          <a:blip r:embed="rId2"/>
          <a:stretch>
            <a:fillRect/>
          </a:stretch>
        </p:blipFill>
        <p:spPr>
          <a:xfrm>
            <a:off x="6974886" y="2594470"/>
            <a:ext cx="1996613" cy="1409822"/>
          </a:xfrm>
          <a:prstGeom prst="rect">
            <a:avLst/>
          </a:prstGeom>
        </p:spPr>
      </p:pic>
      <p:sp>
        <p:nvSpPr>
          <p:cNvPr id="7" name="Rectangle 6">
            <a:extLst>
              <a:ext uri="{FF2B5EF4-FFF2-40B4-BE49-F238E27FC236}">
                <a16:creationId xmlns:a16="http://schemas.microsoft.com/office/drawing/2014/main" id="{29A3E8F1-AF67-6AA5-EF46-BDDC9C5EC189}"/>
              </a:ext>
            </a:extLst>
          </p:cNvPr>
          <p:cNvSpPr/>
          <p:nvPr/>
        </p:nvSpPr>
        <p:spPr>
          <a:xfrm>
            <a:off x="6979748" y="2863391"/>
            <a:ext cx="250611" cy="11312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TextBox 7">
            <a:extLst>
              <a:ext uri="{FF2B5EF4-FFF2-40B4-BE49-F238E27FC236}">
                <a16:creationId xmlns:a16="http://schemas.microsoft.com/office/drawing/2014/main" id="{665F9433-125F-6D42-7DA8-8D3F50B791D2}"/>
              </a:ext>
            </a:extLst>
          </p:cNvPr>
          <p:cNvSpPr txBox="1"/>
          <p:nvPr/>
        </p:nvSpPr>
        <p:spPr>
          <a:xfrm>
            <a:off x="1000953" y="3099326"/>
            <a:ext cx="4208425" cy="400110"/>
          </a:xfrm>
          <a:prstGeom prst="rect">
            <a:avLst/>
          </a:prstGeom>
          <a:noFill/>
          <a:ln>
            <a:solidFill>
              <a:srgbClr val="446785"/>
            </a:solidFill>
          </a:ln>
        </p:spPr>
        <p:txBody>
          <a:bodyPr wrap="square">
            <a:spAutoFit/>
          </a:bodyPr>
          <a:lstStyle/>
          <a:p>
            <a:r>
              <a:rPr lang="nl-BE" sz="2000" err="1">
                <a:solidFill>
                  <a:srgbClr val="4D4D4C"/>
                </a:solidFill>
                <a:latin typeface="Monaco"/>
              </a:rPr>
              <a:t>purchases</a:t>
            </a:r>
            <a:r>
              <a:rPr lang="nl-BE" sz="2000" b="0">
                <a:solidFill>
                  <a:srgbClr val="3B3B3B"/>
                </a:solidFill>
                <a:effectLst/>
                <a:latin typeface="Monaco"/>
              </a:rPr>
              <a:t> </a:t>
            </a:r>
            <a:r>
              <a:rPr lang="nl-BE" sz="2000">
                <a:solidFill>
                  <a:srgbClr val="000000"/>
                </a:solidFill>
                <a:latin typeface="Monaco"/>
              </a:rPr>
              <a:t>=</a:t>
            </a:r>
            <a:r>
              <a:rPr lang="nl-BE" sz="2000" err="1">
                <a:solidFill>
                  <a:srgbClr val="4D4D4C"/>
                </a:solidFill>
                <a:latin typeface="Monaco"/>
              </a:rPr>
              <a:t>purchases</a:t>
            </a:r>
            <a:r>
              <a:rPr lang="nl-BE" sz="2000" b="0" err="1">
                <a:solidFill>
                  <a:srgbClr val="3B3B3B"/>
                </a:solidFill>
                <a:effectLst/>
                <a:latin typeface="Monaco"/>
              </a:rPr>
              <a:t>.</a:t>
            </a:r>
            <a:r>
              <a:rPr lang="nl-BE" sz="2000" b="0" err="1">
                <a:solidFill>
                  <a:srgbClr val="446785"/>
                </a:solidFill>
                <a:effectLst/>
                <a:latin typeface="Monaco"/>
              </a:rPr>
              <a:t>reset_index</a:t>
            </a:r>
            <a:r>
              <a:rPr lang="nl-BE" sz="2000" b="0">
                <a:solidFill>
                  <a:srgbClr val="3B3B3B"/>
                </a:solidFill>
                <a:effectLst/>
                <a:latin typeface="Monaco"/>
              </a:rPr>
              <a:t>()</a:t>
            </a:r>
          </a:p>
        </p:txBody>
      </p:sp>
      <p:sp>
        <p:nvSpPr>
          <p:cNvPr id="9" name="TextBox 8">
            <a:extLst>
              <a:ext uri="{FF2B5EF4-FFF2-40B4-BE49-F238E27FC236}">
                <a16:creationId xmlns:a16="http://schemas.microsoft.com/office/drawing/2014/main" id="{7BFA6BCA-B2A1-2C9C-2F21-088F46D7876D}"/>
              </a:ext>
            </a:extLst>
          </p:cNvPr>
          <p:cNvSpPr txBox="1"/>
          <p:nvPr/>
        </p:nvSpPr>
        <p:spPr>
          <a:xfrm>
            <a:off x="908256" y="5212501"/>
            <a:ext cx="5187744" cy="400110"/>
          </a:xfrm>
          <a:prstGeom prst="rect">
            <a:avLst/>
          </a:prstGeom>
          <a:noFill/>
          <a:ln>
            <a:solidFill>
              <a:srgbClr val="446785"/>
            </a:solidFill>
          </a:ln>
        </p:spPr>
        <p:txBody>
          <a:bodyPr wrap="square">
            <a:spAutoFit/>
          </a:bodyPr>
          <a:lstStyle/>
          <a:p>
            <a:r>
              <a:rPr lang="nl-BE" sz="2000" err="1">
                <a:solidFill>
                  <a:srgbClr val="4D4D4C"/>
                </a:solidFill>
                <a:latin typeface="Monaco"/>
              </a:rPr>
              <a:t>purchases</a:t>
            </a:r>
            <a:r>
              <a:rPr lang="nl-BE" sz="2000" b="0">
                <a:solidFill>
                  <a:srgbClr val="3B3B3B"/>
                </a:solidFill>
                <a:effectLst/>
                <a:latin typeface="Monaco"/>
              </a:rPr>
              <a:t> </a:t>
            </a:r>
            <a:r>
              <a:rPr lang="nl-BE" sz="2000">
                <a:solidFill>
                  <a:srgbClr val="000000"/>
                </a:solidFill>
                <a:latin typeface="Monaco"/>
              </a:rPr>
              <a:t>=</a:t>
            </a:r>
            <a:r>
              <a:rPr lang="nl-BE" sz="2000" err="1">
                <a:solidFill>
                  <a:srgbClr val="4D4D4C"/>
                </a:solidFill>
                <a:latin typeface="Monaco"/>
              </a:rPr>
              <a:t>purchases</a:t>
            </a:r>
            <a:r>
              <a:rPr lang="nl-BE" sz="2000" b="0" err="1">
                <a:solidFill>
                  <a:srgbClr val="3B3B3B"/>
                </a:solidFill>
                <a:effectLst/>
                <a:latin typeface="Monaco"/>
              </a:rPr>
              <a:t>.</a:t>
            </a:r>
            <a:r>
              <a:rPr lang="nl-BE" sz="2000" b="0" err="1">
                <a:solidFill>
                  <a:srgbClr val="446785"/>
                </a:solidFill>
                <a:effectLst/>
                <a:latin typeface="Monaco"/>
              </a:rPr>
              <a:t>reset_index</a:t>
            </a:r>
            <a:r>
              <a:rPr lang="nl-BE" sz="2000" b="0">
                <a:solidFill>
                  <a:srgbClr val="3B3B3B"/>
                </a:solidFill>
                <a:effectLst/>
                <a:latin typeface="Monaco"/>
              </a:rPr>
              <a:t>(drop = True)</a:t>
            </a:r>
          </a:p>
        </p:txBody>
      </p:sp>
      <p:pic>
        <p:nvPicPr>
          <p:cNvPr id="11" name="Picture 10">
            <a:extLst>
              <a:ext uri="{FF2B5EF4-FFF2-40B4-BE49-F238E27FC236}">
                <a16:creationId xmlns:a16="http://schemas.microsoft.com/office/drawing/2014/main" id="{0566033B-FB80-A7E4-A4CE-1F3AC2E61479}"/>
              </a:ext>
            </a:extLst>
          </p:cNvPr>
          <p:cNvPicPr>
            <a:picLocks noChangeAspect="1"/>
          </p:cNvPicPr>
          <p:nvPr/>
        </p:nvPicPr>
        <p:blipFill>
          <a:blip r:embed="rId3"/>
          <a:stretch>
            <a:fillRect/>
          </a:stretch>
        </p:blipFill>
        <p:spPr>
          <a:xfrm>
            <a:off x="6900985" y="5109101"/>
            <a:ext cx="1463167" cy="1333616"/>
          </a:xfrm>
          <a:prstGeom prst="rect">
            <a:avLst/>
          </a:prstGeom>
        </p:spPr>
      </p:pic>
      <p:sp>
        <p:nvSpPr>
          <p:cNvPr id="12" name="Rectangle 11">
            <a:extLst>
              <a:ext uri="{FF2B5EF4-FFF2-40B4-BE49-F238E27FC236}">
                <a16:creationId xmlns:a16="http://schemas.microsoft.com/office/drawing/2014/main" id="{DE0A7740-7F2E-A4D4-C256-2C411ECF4E94}"/>
              </a:ext>
            </a:extLst>
          </p:cNvPr>
          <p:cNvSpPr/>
          <p:nvPr/>
        </p:nvSpPr>
        <p:spPr>
          <a:xfrm>
            <a:off x="6957604" y="5311500"/>
            <a:ext cx="250611" cy="1131217"/>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08011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p:txBody>
          <a:bodyPr/>
          <a:lstStyle/>
          <a:p>
            <a:r>
              <a:rPr lang="en-US" noProof="0" dirty="0"/>
              <a:t>Pandas – Extracting and assigning data </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21</a:t>
            </a:fld>
            <a:endParaRPr lang="nl-BE"/>
          </a:p>
        </p:txBody>
      </p:sp>
    </p:spTree>
    <p:extLst>
      <p:ext uri="{BB962C8B-B14F-4D97-AF65-F5344CB8AC3E}">
        <p14:creationId xmlns:p14="http://schemas.microsoft.com/office/powerpoint/2010/main" val="480960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E0E9-08A1-44DF-8918-BF07CDB972E9}"/>
              </a:ext>
            </a:extLst>
          </p:cNvPr>
          <p:cNvSpPr>
            <a:spLocks noGrp="1"/>
          </p:cNvSpPr>
          <p:nvPr>
            <p:ph type="title"/>
          </p:nvPr>
        </p:nvSpPr>
        <p:spPr/>
        <p:txBody>
          <a:bodyPr/>
          <a:lstStyle/>
          <a:p>
            <a:r>
              <a:rPr lang="en-US" noProof="0" dirty="0"/>
              <a:t>Extracting data</a:t>
            </a:r>
          </a:p>
        </p:txBody>
      </p:sp>
      <p:sp>
        <p:nvSpPr>
          <p:cNvPr id="3" name="Content Placeholder 2">
            <a:extLst>
              <a:ext uri="{FF2B5EF4-FFF2-40B4-BE49-F238E27FC236}">
                <a16:creationId xmlns:a16="http://schemas.microsoft.com/office/drawing/2014/main" id="{E6CD886C-2439-476A-90F0-FBDF64ED314A}"/>
              </a:ext>
            </a:extLst>
          </p:cNvPr>
          <p:cNvSpPr>
            <a:spLocks noGrp="1"/>
          </p:cNvSpPr>
          <p:nvPr>
            <p:ph idx="1"/>
          </p:nvPr>
        </p:nvSpPr>
        <p:spPr/>
        <p:txBody>
          <a:bodyPr/>
          <a:lstStyle/>
          <a:p>
            <a:r>
              <a:rPr lang="en-US" noProof="0" dirty="0"/>
              <a:t>A </a:t>
            </a:r>
            <a:r>
              <a:rPr lang="en-US" noProof="0" dirty="0" err="1"/>
              <a:t>datarow</a:t>
            </a:r>
            <a:r>
              <a:rPr lang="en-US" noProof="0" dirty="0"/>
              <a:t> can also be extracted based on index number with </a:t>
            </a:r>
            <a:r>
              <a:rPr lang="en-US" i="1" noProof="0" dirty="0" err="1">
                <a:solidFill>
                  <a:srgbClr val="446785"/>
                </a:solidFill>
              </a:rPr>
              <a:t>iloc</a:t>
            </a:r>
            <a:r>
              <a:rPr lang="en-US" i="1" noProof="0" dirty="0">
                <a:solidFill>
                  <a:srgbClr val="446785"/>
                </a:solidFill>
              </a:rPr>
              <a:t>[</a:t>
            </a:r>
            <a:r>
              <a:rPr lang="en-US" i="1" noProof="0" dirty="0">
                <a:solidFill>
                  <a:srgbClr val="C00000"/>
                </a:solidFill>
              </a:rPr>
              <a:t>index</a:t>
            </a:r>
            <a:r>
              <a:rPr lang="en-US" i="1" noProof="0" dirty="0">
                <a:solidFill>
                  <a:srgbClr val="446785"/>
                </a:solidFill>
              </a:rPr>
              <a:t>]</a:t>
            </a:r>
          </a:p>
          <a:p>
            <a:endParaRPr lang="en-US" i="1" noProof="0" dirty="0">
              <a:solidFill>
                <a:srgbClr val="446785"/>
              </a:solidFill>
            </a:endParaRPr>
          </a:p>
          <a:p>
            <a:endParaRPr lang="en-US" i="1" noProof="0" dirty="0">
              <a:solidFill>
                <a:srgbClr val="446785"/>
              </a:solidFill>
            </a:endParaRPr>
          </a:p>
          <a:p>
            <a:endParaRPr lang="en-US" i="1" noProof="0" dirty="0">
              <a:solidFill>
                <a:srgbClr val="446785"/>
              </a:solidFill>
            </a:endParaRPr>
          </a:p>
          <a:p>
            <a:endParaRPr lang="en-US" i="1" noProof="0" dirty="0">
              <a:solidFill>
                <a:srgbClr val="446785"/>
              </a:solidFill>
            </a:endParaRPr>
          </a:p>
          <a:p>
            <a:r>
              <a:rPr lang="en-US" noProof="0" dirty="0"/>
              <a:t>By specifying a list of indexes multiple rows are retrieved</a:t>
            </a:r>
          </a:p>
          <a:p>
            <a:endParaRPr lang="en-US" i="1" noProof="0" dirty="0">
              <a:solidFill>
                <a:srgbClr val="446785"/>
              </a:solidFill>
            </a:endParaRPr>
          </a:p>
        </p:txBody>
      </p:sp>
      <p:sp>
        <p:nvSpPr>
          <p:cNvPr id="4" name="Slide Number Placeholder 3">
            <a:extLst>
              <a:ext uri="{FF2B5EF4-FFF2-40B4-BE49-F238E27FC236}">
                <a16:creationId xmlns:a16="http://schemas.microsoft.com/office/drawing/2014/main" id="{1DD1423B-7ADF-4BD2-B6CE-566D8B1703B1}"/>
              </a:ext>
            </a:extLst>
          </p:cNvPr>
          <p:cNvSpPr>
            <a:spLocks noGrp="1"/>
          </p:cNvSpPr>
          <p:nvPr>
            <p:ph type="sldNum" sz="quarter" idx="12"/>
          </p:nvPr>
        </p:nvSpPr>
        <p:spPr/>
        <p:txBody>
          <a:bodyPr/>
          <a:lstStyle/>
          <a:p>
            <a:fld id="{FE1B3154-47D9-4402-8EDB-E791933DC0B9}" type="slidenum">
              <a:rPr lang="nl-BE" smtClean="0"/>
              <a:pPr/>
              <a:t>22</a:t>
            </a:fld>
            <a:endParaRPr lang="nl-BE"/>
          </a:p>
        </p:txBody>
      </p:sp>
      <p:sp>
        <p:nvSpPr>
          <p:cNvPr id="5" name="TextBox 4">
            <a:extLst>
              <a:ext uri="{FF2B5EF4-FFF2-40B4-BE49-F238E27FC236}">
                <a16:creationId xmlns:a16="http://schemas.microsoft.com/office/drawing/2014/main" id="{E0A07903-5E91-45A7-B382-74B6B7FFB9EA}"/>
              </a:ext>
            </a:extLst>
          </p:cNvPr>
          <p:cNvSpPr txBox="1"/>
          <p:nvPr/>
        </p:nvSpPr>
        <p:spPr>
          <a:xfrm>
            <a:off x="3956836" y="2540129"/>
            <a:ext cx="3736735" cy="400110"/>
          </a:xfrm>
          <a:prstGeom prst="rect">
            <a:avLst/>
          </a:prstGeom>
          <a:noFill/>
          <a:ln>
            <a:solidFill>
              <a:srgbClr val="446785"/>
            </a:solidFill>
          </a:ln>
        </p:spPr>
        <p:txBody>
          <a:bodyPr wrap="square">
            <a:spAutoFit/>
          </a:bodyPr>
          <a:lstStyle/>
          <a:p>
            <a:pPr algn="l"/>
            <a:r>
              <a:rPr lang="en-US" sz="2000" b="0" i="0">
                <a:solidFill>
                  <a:srgbClr val="4D4D4C"/>
                </a:solidFill>
                <a:effectLst/>
                <a:latin typeface="Monaco"/>
              </a:rPr>
              <a:t>purchases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purchases.</a:t>
            </a:r>
            <a:r>
              <a:rPr lang="en-US" sz="2000" b="0" i="0" err="1">
                <a:solidFill>
                  <a:srgbClr val="446785"/>
                </a:solidFill>
                <a:effectLst/>
                <a:latin typeface="Monaco"/>
              </a:rPr>
              <a:t>iloc</a:t>
            </a:r>
            <a:r>
              <a:rPr lang="en-US" sz="2000">
                <a:solidFill>
                  <a:srgbClr val="718C00"/>
                </a:solidFill>
                <a:latin typeface="Monaco"/>
              </a:rPr>
              <a:t>[</a:t>
            </a:r>
            <a:r>
              <a:rPr lang="en-US" sz="2000" b="0" i="0">
                <a:solidFill>
                  <a:srgbClr val="C00000"/>
                </a:solidFill>
                <a:effectLst/>
                <a:latin typeface="Monaco"/>
              </a:rPr>
              <a:t>2</a:t>
            </a:r>
            <a:r>
              <a:rPr lang="en-US" sz="2000" b="0" i="0">
                <a:solidFill>
                  <a:srgbClr val="718C00"/>
                </a:solidFill>
                <a:effectLst/>
                <a:latin typeface="Monaco"/>
              </a:rPr>
              <a:t>]</a:t>
            </a:r>
            <a:r>
              <a:rPr lang="en-US" sz="2000" b="0" i="0">
                <a:solidFill>
                  <a:srgbClr val="4D4D4C"/>
                </a:solidFill>
                <a:effectLst/>
                <a:latin typeface="Monaco"/>
              </a:rPr>
              <a:t> </a:t>
            </a:r>
          </a:p>
        </p:txBody>
      </p:sp>
      <p:pic>
        <p:nvPicPr>
          <p:cNvPr id="9" name="Picture 8">
            <a:extLst>
              <a:ext uri="{FF2B5EF4-FFF2-40B4-BE49-F238E27FC236}">
                <a16:creationId xmlns:a16="http://schemas.microsoft.com/office/drawing/2014/main" id="{7BE6D612-0D87-4174-85AE-4E6918016E01}"/>
              </a:ext>
            </a:extLst>
          </p:cNvPr>
          <p:cNvPicPr>
            <a:picLocks noChangeAspect="1"/>
          </p:cNvPicPr>
          <p:nvPr/>
        </p:nvPicPr>
        <p:blipFill>
          <a:blip r:embed="rId2"/>
          <a:stretch>
            <a:fillRect/>
          </a:stretch>
        </p:blipFill>
        <p:spPr>
          <a:xfrm>
            <a:off x="8647123" y="2509267"/>
            <a:ext cx="2514600" cy="742950"/>
          </a:xfrm>
          <a:prstGeom prst="rect">
            <a:avLst/>
          </a:prstGeom>
        </p:spPr>
      </p:pic>
      <p:pic>
        <p:nvPicPr>
          <p:cNvPr id="12" name="Picture 11">
            <a:extLst>
              <a:ext uri="{FF2B5EF4-FFF2-40B4-BE49-F238E27FC236}">
                <a16:creationId xmlns:a16="http://schemas.microsoft.com/office/drawing/2014/main" id="{DC49A823-44F6-4DD8-A06C-819FFBB02A13}"/>
              </a:ext>
            </a:extLst>
          </p:cNvPr>
          <p:cNvPicPr>
            <a:picLocks noChangeAspect="1"/>
          </p:cNvPicPr>
          <p:nvPr/>
        </p:nvPicPr>
        <p:blipFill rotWithShape="1">
          <a:blip r:embed="rId3"/>
          <a:srcRect r="3479"/>
          <a:stretch/>
        </p:blipFill>
        <p:spPr>
          <a:xfrm>
            <a:off x="838201" y="2135417"/>
            <a:ext cx="1957552" cy="1490651"/>
          </a:xfrm>
          <a:prstGeom prst="rect">
            <a:avLst/>
          </a:prstGeom>
        </p:spPr>
      </p:pic>
      <p:sp>
        <p:nvSpPr>
          <p:cNvPr id="13" name="TextBox 12">
            <a:extLst>
              <a:ext uri="{FF2B5EF4-FFF2-40B4-BE49-F238E27FC236}">
                <a16:creationId xmlns:a16="http://schemas.microsoft.com/office/drawing/2014/main" id="{BFC0334A-140D-46EB-B505-CB47BCA82F2D}"/>
              </a:ext>
            </a:extLst>
          </p:cNvPr>
          <p:cNvSpPr txBox="1"/>
          <p:nvPr/>
        </p:nvSpPr>
        <p:spPr>
          <a:xfrm>
            <a:off x="926592" y="4818797"/>
            <a:ext cx="3736735" cy="400110"/>
          </a:xfrm>
          <a:prstGeom prst="rect">
            <a:avLst/>
          </a:prstGeom>
          <a:noFill/>
          <a:ln>
            <a:solidFill>
              <a:srgbClr val="446785"/>
            </a:solidFill>
          </a:ln>
        </p:spPr>
        <p:txBody>
          <a:bodyPr wrap="square">
            <a:spAutoFit/>
          </a:bodyPr>
          <a:lstStyle/>
          <a:p>
            <a:pPr algn="l"/>
            <a:r>
              <a:rPr lang="en-US" sz="2000" b="0" i="0" dirty="0">
                <a:solidFill>
                  <a:srgbClr val="4D4D4C"/>
                </a:solidFill>
                <a:effectLst/>
                <a:latin typeface="Monaco"/>
              </a:rPr>
              <a:t>purchases </a:t>
            </a:r>
            <a:r>
              <a:rPr lang="en-US" sz="2000" b="0" i="0" dirty="0">
                <a:solidFill>
                  <a:srgbClr val="3E999F"/>
                </a:solidFill>
                <a:effectLst/>
                <a:latin typeface="Monaco"/>
              </a:rPr>
              <a:t>=</a:t>
            </a:r>
            <a:r>
              <a:rPr lang="en-US" sz="2000" b="0" i="0" dirty="0">
                <a:solidFill>
                  <a:srgbClr val="4D4D4C"/>
                </a:solidFill>
                <a:effectLst/>
                <a:latin typeface="Monaco"/>
              </a:rPr>
              <a:t> </a:t>
            </a:r>
            <a:r>
              <a:rPr lang="en-US" sz="2000" b="0" i="0" dirty="0" err="1">
                <a:solidFill>
                  <a:srgbClr val="4D4D4C"/>
                </a:solidFill>
                <a:effectLst/>
                <a:latin typeface="Monaco"/>
              </a:rPr>
              <a:t>purchases.</a:t>
            </a:r>
            <a:r>
              <a:rPr lang="en-US" sz="2000" b="0" i="0" dirty="0" err="1">
                <a:solidFill>
                  <a:srgbClr val="446785"/>
                </a:solidFill>
                <a:effectLst/>
                <a:latin typeface="Monaco"/>
              </a:rPr>
              <a:t>iloc</a:t>
            </a:r>
            <a:r>
              <a:rPr lang="en-US" sz="2000" dirty="0">
                <a:solidFill>
                  <a:srgbClr val="718C00"/>
                </a:solidFill>
                <a:latin typeface="Monaco"/>
              </a:rPr>
              <a:t>[</a:t>
            </a:r>
            <a:r>
              <a:rPr lang="en-US" sz="2000" dirty="0">
                <a:solidFill>
                  <a:srgbClr val="C00000"/>
                </a:solidFill>
                <a:latin typeface="Monaco"/>
              </a:rPr>
              <a:t>[</a:t>
            </a:r>
            <a:r>
              <a:rPr lang="en-US" sz="2000" b="0" i="0" dirty="0">
                <a:solidFill>
                  <a:srgbClr val="C00000"/>
                </a:solidFill>
                <a:effectLst/>
                <a:latin typeface="Monaco"/>
              </a:rPr>
              <a:t>2,3]</a:t>
            </a:r>
            <a:r>
              <a:rPr lang="en-US" sz="2000" b="0" i="0" dirty="0">
                <a:solidFill>
                  <a:srgbClr val="718C00"/>
                </a:solidFill>
                <a:effectLst/>
                <a:latin typeface="Monaco"/>
              </a:rPr>
              <a:t>]</a:t>
            </a:r>
            <a:r>
              <a:rPr lang="en-US" sz="2000" b="0" i="0" dirty="0">
                <a:solidFill>
                  <a:srgbClr val="4D4D4C"/>
                </a:solidFill>
                <a:effectLst/>
                <a:latin typeface="Monaco"/>
              </a:rPr>
              <a:t> </a:t>
            </a:r>
          </a:p>
        </p:txBody>
      </p:sp>
      <p:pic>
        <p:nvPicPr>
          <p:cNvPr id="15" name="Picture 14">
            <a:extLst>
              <a:ext uri="{FF2B5EF4-FFF2-40B4-BE49-F238E27FC236}">
                <a16:creationId xmlns:a16="http://schemas.microsoft.com/office/drawing/2014/main" id="{AF142E9D-6212-4202-B25E-0A54EC7C41CB}"/>
              </a:ext>
            </a:extLst>
          </p:cNvPr>
          <p:cNvPicPr>
            <a:picLocks noChangeAspect="1"/>
          </p:cNvPicPr>
          <p:nvPr/>
        </p:nvPicPr>
        <p:blipFill>
          <a:blip r:embed="rId4"/>
          <a:stretch>
            <a:fillRect/>
          </a:stretch>
        </p:blipFill>
        <p:spPr>
          <a:xfrm>
            <a:off x="838201" y="5260030"/>
            <a:ext cx="2019300" cy="1047750"/>
          </a:xfrm>
          <a:prstGeom prst="rect">
            <a:avLst/>
          </a:prstGeom>
        </p:spPr>
      </p:pic>
      <p:sp>
        <p:nvSpPr>
          <p:cNvPr id="16" name="TextBox 15">
            <a:extLst>
              <a:ext uri="{FF2B5EF4-FFF2-40B4-BE49-F238E27FC236}">
                <a16:creationId xmlns:a16="http://schemas.microsoft.com/office/drawing/2014/main" id="{3AB15240-F41F-487C-955B-FB1EB839AB6D}"/>
              </a:ext>
            </a:extLst>
          </p:cNvPr>
          <p:cNvSpPr txBox="1"/>
          <p:nvPr/>
        </p:nvSpPr>
        <p:spPr>
          <a:xfrm>
            <a:off x="5272620" y="4818797"/>
            <a:ext cx="4060566" cy="400110"/>
          </a:xfrm>
          <a:prstGeom prst="rect">
            <a:avLst/>
          </a:prstGeom>
          <a:noFill/>
          <a:ln>
            <a:solidFill>
              <a:srgbClr val="446785"/>
            </a:solidFill>
          </a:ln>
        </p:spPr>
        <p:txBody>
          <a:bodyPr wrap="square">
            <a:spAutoFit/>
          </a:bodyPr>
          <a:lstStyle/>
          <a:p>
            <a:pPr algn="l"/>
            <a:r>
              <a:rPr lang="en-US" sz="2000" b="0" i="0">
                <a:solidFill>
                  <a:srgbClr val="4D4D4C"/>
                </a:solidFill>
                <a:effectLst/>
                <a:latin typeface="Monaco"/>
              </a:rPr>
              <a:t>purchases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purchases.</a:t>
            </a:r>
            <a:r>
              <a:rPr lang="en-US" sz="2000" b="0" i="0" err="1">
                <a:solidFill>
                  <a:srgbClr val="446785"/>
                </a:solidFill>
                <a:effectLst/>
                <a:latin typeface="Monaco"/>
              </a:rPr>
              <a:t>iloc</a:t>
            </a:r>
            <a:r>
              <a:rPr lang="en-US" sz="2000">
                <a:solidFill>
                  <a:srgbClr val="718C00"/>
                </a:solidFill>
                <a:latin typeface="Monaco"/>
              </a:rPr>
              <a:t>[</a:t>
            </a:r>
            <a:r>
              <a:rPr lang="en-US" sz="2000">
                <a:solidFill>
                  <a:srgbClr val="C00000"/>
                </a:solidFill>
                <a:latin typeface="Monaco"/>
              </a:rPr>
              <a:t>[0</a:t>
            </a:r>
            <a:r>
              <a:rPr lang="en-US" sz="2000" b="0" i="0">
                <a:solidFill>
                  <a:srgbClr val="C00000"/>
                </a:solidFill>
                <a:effectLst/>
                <a:latin typeface="Monaco"/>
              </a:rPr>
              <a:t>,2,3]</a:t>
            </a:r>
            <a:r>
              <a:rPr lang="en-US" sz="2000" b="0" i="0">
                <a:solidFill>
                  <a:srgbClr val="718C00"/>
                </a:solidFill>
                <a:effectLst/>
                <a:latin typeface="Monaco"/>
              </a:rPr>
              <a:t>]</a:t>
            </a:r>
            <a:r>
              <a:rPr lang="en-US" sz="2000" b="0" i="0">
                <a:solidFill>
                  <a:srgbClr val="4D4D4C"/>
                </a:solidFill>
                <a:effectLst/>
                <a:latin typeface="Monaco"/>
              </a:rPr>
              <a:t> </a:t>
            </a:r>
          </a:p>
        </p:txBody>
      </p:sp>
      <p:pic>
        <p:nvPicPr>
          <p:cNvPr id="18" name="Picture 17">
            <a:extLst>
              <a:ext uri="{FF2B5EF4-FFF2-40B4-BE49-F238E27FC236}">
                <a16:creationId xmlns:a16="http://schemas.microsoft.com/office/drawing/2014/main" id="{F88CB154-A547-4A36-8B7C-8307DF0653BA}"/>
              </a:ext>
            </a:extLst>
          </p:cNvPr>
          <p:cNvPicPr>
            <a:picLocks noChangeAspect="1"/>
          </p:cNvPicPr>
          <p:nvPr/>
        </p:nvPicPr>
        <p:blipFill>
          <a:blip r:embed="rId5"/>
          <a:stretch>
            <a:fillRect/>
          </a:stretch>
        </p:blipFill>
        <p:spPr>
          <a:xfrm>
            <a:off x="5359803" y="5244579"/>
            <a:ext cx="1943100" cy="1247775"/>
          </a:xfrm>
          <a:prstGeom prst="rect">
            <a:avLst/>
          </a:prstGeom>
        </p:spPr>
      </p:pic>
    </p:spTree>
    <p:extLst>
      <p:ext uri="{BB962C8B-B14F-4D97-AF65-F5344CB8AC3E}">
        <p14:creationId xmlns:p14="http://schemas.microsoft.com/office/powerpoint/2010/main" val="1614203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E0E9-08A1-44DF-8918-BF07CDB972E9}"/>
              </a:ext>
            </a:extLst>
          </p:cNvPr>
          <p:cNvSpPr>
            <a:spLocks noGrp="1"/>
          </p:cNvSpPr>
          <p:nvPr>
            <p:ph type="title"/>
          </p:nvPr>
        </p:nvSpPr>
        <p:spPr/>
        <p:txBody>
          <a:bodyPr/>
          <a:lstStyle/>
          <a:p>
            <a:r>
              <a:rPr lang="en-US" noProof="0" dirty="0"/>
              <a:t>Extracting data</a:t>
            </a:r>
          </a:p>
        </p:txBody>
      </p:sp>
      <p:sp>
        <p:nvSpPr>
          <p:cNvPr id="4" name="Slide Number Placeholder 3">
            <a:extLst>
              <a:ext uri="{FF2B5EF4-FFF2-40B4-BE49-F238E27FC236}">
                <a16:creationId xmlns:a16="http://schemas.microsoft.com/office/drawing/2014/main" id="{1DD1423B-7ADF-4BD2-B6CE-566D8B1703B1}"/>
              </a:ext>
            </a:extLst>
          </p:cNvPr>
          <p:cNvSpPr>
            <a:spLocks noGrp="1"/>
          </p:cNvSpPr>
          <p:nvPr>
            <p:ph type="sldNum" sz="quarter" idx="12"/>
          </p:nvPr>
        </p:nvSpPr>
        <p:spPr/>
        <p:txBody>
          <a:bodyPr/>
          <a:lstStyle/>
          <a:p>
            <a:fld id="{FE1B3154-47D9-4402-8EDB-E791933DC0B9}" type="slidenum">
              <a:rPr lang="nl-BE" smtClean="0"/>
              <a:pPr/>
              <a:t>23</a:t>
            </a:fld>
            <a:endParaRPr lang="nl-BE"/>
          </a:p>
        </p:txBody>
      </p:sp>
      <p:pic>
        <p:nvPicPr>
          <p:cNvPr id="8" name="Afbeelding 9">
            <a:extLst>
              <a:ext uri="{FF2B5EF4-FFF2-40B4-BE49-F238E27FC236}">
                <a16:creationId xmlns:a16="http://schemas.microsoft.com/office/drawing/2014/main" id="{94E9B007-F0E8-0160-3873-020E4C5A982F}"/>
              </a:ext>
            </a:extLst>
          </p:cNvPr>
          <p:cNvPicPr>
            <a:picLocks noChangeAspect="1"/>
          </p:cNvPicPr>
          <p:nvPr/>
        </p:nvPicPr>
        <p:blipFill>
          <a:blip r:embed="rId2"/>
          <a:stretch>
            <a:fillRect/>
          </a:stretch>
        </p:blipFill>
        <p:spPr>
          <a:xfrm>
            <a:off x="3299791" y="1869685"/>
            <a:ext cx="5338417" cy="4156717"/>
          </a:xfrm>
          <a:prstGeom prst="rect">
            <a:avLst/>
          </a:prstGeom>
        </p:spPr>
      </p:pic>
      <p:sp>
        <p:nvSpPr>
          <p:cNvPr id="10" name="Tekstvak 9">
            <a:extLst>
              <a:ext uri="{FF2B5EF4-FFF2-40B4-BE49-F238E27FC236}">
                <a16:creationId xmlns:a16="http://schemas.microsoft.com/office/drawing/2014/main" id="{557DF2B4-EE18-921D-3F9C-903553473A29}"/>
              </a:ext>
            </a:extLst>
          </p:cNvPr>
          <p:cNvSpPr txBox="1"/>
          <p:nvPr/>
        </p:nvSpPr>
        <p:spPr>
          <a:xfrm>
            <a:off x="229705" y="6612835"/>
            <a:ext cx="769067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https://files.realpython.com/media/iloc_vs_loc_80_border20.d5280f475f4e.png</a:t>
            </a:r>
            <a:endParaRPr lang="en-US" sz="800">
              <a:cs typeface="Calibri"/>
            </a:endParaRPr>
          </a:p>
        </p:txBody>
      </p:sp>
    </p:spTree>
    <p:extLst>
      <p:ext uri="{BB962C8B-B14F-4D97-AF65-F5344CB8AC3E}">
        <p14:creationId xmlns:p14="http://schemas.microsoft.com/office/powerpoint/2010/main" val="944044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06E98-7C47-4A38-8928-7EFF37B75C0B}"/>
              </a:ext>
            </a:extLst>
          </p:cNvPr>
          <p:cNvSpPr>
            <a:spLocks noGrp="1"/>
          </p:cNvSpPr>
          <p:nvPr>
            <p:ph type="title"/>
          </p:nvPr>
        </p:nvSpPr>
        <p:spPr/>
        <p:txBody>
          <a:bodyPr/>
          <a:lstStyle/>
          <a:p>
            <a:r>
              <a:rPr lang="en-US" noProof="0" dirty="0"/>
              <a:t>Extracting data</a:t>
            </a:r>
          </a:p>
        </p:txBody>
      </p:sp>
      <p:sp>
        <p:nvSpPr>
          <p:cNvPr id="3" name="Content Placeholder 2">
            <a:extLst>
              <a:ext uri="{FF2B5EF4-FFF2-40B4-BE49-F238E27FC236}">
                <a16:creationId xmlns:a16="http://schemas.microsoft.com/office/drawing/2014/main" id="{F4BA4EF8-6A36-4390-9D58-8C6ED158017D}"/>
              </a:ext>
            </a:extLst>
          </p:cNvPr>
          <p:cNvSpPr>
            <a:spLocks noGrp="1"/>
          </p:cNvSpPr>
          <p:nvPr>
            <p:ph idx="1"/>
          </p:nvPr>
        </p:nvSpPr>
        <p:spPr/>
        <p:txBody>
          <a:bodyPr/>
          <a:lstStyle/>
          <a:p>
            <a:r>
              <a:rPr lang="en-US" noProof="0" dirty="0"/>
              <a:t>Extracting rows from a DataFrame can also be done by </a:t>
            </a:r>
            <a:r>
              <a:rPr lang="en-US" b="1" noProof="0" dirty="0"/>
              <a:t>slicing</a:t>
            </a:r>
          </a:p>
        </p:txBody>
      </p:sp>
      <p:sp>
        <p:nvSpPr>
          <p:cNvPr id="4" name="Slide Number Placeholder 3">
            <a:extLst>
              <a:ext uri="{FF2B5EF4-FFF2-40B4-BE49-F238E27FC236}">
                <a16:creationId xmlns:a16="http://schemas.microsoft.com/office/drawing/2014/main" id="{CC28B9BE-80EA-45CA-BA91-C3249CE9B1DF}"/>
              </a:ext>
            </a:extLst>
          </p:cNvPr>
          <p:cNvSpPr>
            <a:spLocks noGrp="1"/>
          </p:cNvSpPr>
          <p:nvPr>
            <p:ph type="sldNum" sz="quarter" idx="12"/>
          </p:nvPr>
        </p:nvSpPr>
        <p:spPr/>
        <p:txBody>
          <a:bodyPr/>
          <a:lstStyle/>
          <a:p>
            <a:fld id="{FE1B3154-47D9-4402-8EDB-E791933DC0B9}" type="slidenum">
              <a:rPr lang="nl-BE" smtClean="0"/>
              <a:pPr/>
              <a:t>24</a:t>
            </a:fld>
            <a:endParaRPr lang="nl-BE"/>
          </a:p>
        </p:txBody>
      </p:sp>
      <p:pic>
        <p:nvPicPr>
          <p:cNvPr id="6" name="Picture 5">
            <a:extLst>
              <a:ext uri="{FF2B5EF4-FFF2-40B4-BE49-F238E27FC236}">
                <a16:creationId xmlns:a16="http://schemas.microsoft.com/office/drawing/2014/main" id="{52BB6AAE-710A-4349-8322-ADA9D82A5E3F}"/>
              </a:ext>
            </a:extLst>
          </p:cNvPr>
          <p:cNvPicPr>
            <a:picLocks noChangeAspect="1"/>
          </p:cNvPicPr>
          <p:nvPr/>
        </p:nvPicPr>
        <p:blipFill>
          <a:blip r:embed="rId2"/>
          <a:stretch>
            <a:fillRect/>
          </a:stretch>
        </p:blipFill>
        <p:spPr>
          <a:xfrm>
            <a:off x="826540" y="2343150"/>
            <a:ext cx="3076575" cy="2171700"/>
          </a:xfrm>
          <a:prstGeom prst="rect">
            <a:avLst/>
          </a:prstGeom>
          <a:ln>
            <a:solidFill>
              <a:srgbClr val="446785"/>
            </a:solidFill>
          </a:ln>
        </p:spPr>
      </p:pic>
      <p:pic>
        <p:nvPicPr>
          <p:cNvPr id="8" name="Picture 7">
            <a:extLst>
              <a:ext uri="{FF2B5EF4-FFF2-40B4-BE49-F238E27FC236}">
                <a16:creationId xmlns:a16="http://schemas.microsoft.com/office/drawing/2014/main" id="{17D9C30F-3DF2-4374-B8EB-484CE5092447}"/>
              </a:ext>
            </a:extLst>
          </p:cNvPr>
          <p:cNvPicPr>
            <a:picLocks noChangeAspect="1"/>
          </p:cNvPicPr>
          <p:nvPr/>
        </p:nvPicPr>
        <p:blipFill>
          <a:blip r:embed="rId3"/>
          <a:stretch>
            <a:fillRect/>
          </a:stretch>
        </p:blipFill>
        <p:spPr>
          <a:xfrm>
            <a:off x="7437872" y="2362200"/>
            <a:ext cx="3009900" cy="1343025"/>
          </a:xfrm>
          <a:prstGeom prst="rect">
            <a:avLst/>
          </a:prstGeom>
          <a:ln>
            <a:solidFill>
              <a:srgbClr val="446785"/>
            </a:solidFill>
          </a:ln>
        </p:spPr>
      </p:pic>
      <p:pic>
        <p:nvPicPr>
          <p:cNvPr id="10" name="Picture 9">
            <a:extLst>
              <a:ext uri="{FF2B5EF4-FFF2-40B4-BE49-F238E27FC236}">
                <a16:creationId xmlns:a16="http://schemas.microsoft.com/office/drawing/2014/main" id="{F3579531-983D-4A14-9B5F-2BB70D12186E}"/>
              </a:ext>
            </a:extLst>
          </p:cNvPr>
          <p:cNvPicPr>
            <a:picLocks noChangeAspect="1"/>
          </p:cNvPicPr>
          <p:nvPr/>
        </p:nvPicPr>
        <p:blipFill>
          <a:blip r:embed="rId4"/>
          <a:stretch>
            <a:fillRect/>
          </a:stretch>
        </p:blipFill>
        <p:spPr>
          <a:xfrm>
            <a:off x="4156223" y="4709463"/>
            <a:ext cx="2943225" cy="1295400"/>
          </a:xfrm>
          <a:prstGeom prst="rect">
            <a:avLst/>
          </a:prstGeom>
          <a:ln>
            <a:solidFill>
              <a:srgbClr val="446785"/>
            </a:solidFill>
          </a:ln>
        </p:spPr>
      </p:pic>
      <p:pic>
        <p:nvPicPr>
          <p:cNvPr id="12" name="Picture 11">
            <a:extLst>
              <a:ext uri="{FF2B5EF4-FFF2-40B4-BE49-F238E27FC236}">
                <a16:creationId xmlns:a16="http://schemas.microsoft.com/office/drawing/2014/main" id="{F6ABFC73-EDC5-45F3-B67A-C29786D74349}"/>
              </a:ext>
            </a:extLst>
          </p:cNvPr>
          <p:cNvPicPr>
            <a:picLocks noChangeAspect="1"/>
          </p:cNvPicPr>
          <p:nvPr/>
        </p:nvPicPr>
        <p:blipFill>
          <a:blip r:embed="rId5"/>
          <a:stretch>
            <a:fillRect/>
          </a:stretch>
        </p:blipFill>
        <p:spPr>
          <a:xfrm>
            <a:off x="4156223" y="2362200"/>
            <a:ext cx="3048000" cy="2133600"/>
          </a:xfrm>
          <a:prstGeom prst="rect">
            <a:avLst/>
          </a:prstGeom>
          <a:ln>
            <a:solidFill>
              <a:srgbClr val="446785"/>
            </a:solidFill>
          </a:ln>
        </p:spPr>
      </p:pic>
      <p:pic>
        <p:nvPicPr>
          <p:cNvPr id="14" name="Picture 13">
            <a:extLst>
              <a:ext uri="{FF2B5EF4-FFF2-40B4-BE49-F238E27FC236}">
                <a16:creationId xmlns:a16="http://schemas.microsoft.com/office/drawing/2014/main" id="{736C4726-2F07-4335-8575-966BEB1F4361}"/>
              </a:ext>
            </a:extLst>
          </p:cNvPr>
          <p:cNvPicPr>
            <a:picLocks noChangeAspect="1"/>
          </p:cNvPicPr>
          <p:nvPr/>
        </p:nvPicPr>
        <p:blipFill>
          <a:blip r:embed="rId6"/>
          <a:stretch>
            <a:fillRect/>
          </a:stretch>
        </p:blipFill>
        <p:spPr>
          <a:xfrm>
            <a:off x="826539" y="4701580"/>
            <a:ext cx="3076575" cy="1791295"/>
          </a:xfrm>
          <a:prstGeom prst="rect">
            <a:avLst/>
          </a:prstGeom>
          <a:ln>
            <a:solidFill>
              <a:srgbClr val="446785"/>
            </a:solidFill>
          </a:ln>
        </p:spPr>
      </p:pic>
      <p:grpSp>
        <p:nvGrpSpPr>
          <p:cNvPr id="13" name="Group 12">
            <a:extLst>
              <a:ext uri="{FF2B5EF4-FFF2-40B4-BE49-F238E27FC236}">
                <a16:creationId xmlns:a16="http://schemas.microsoft.com/office/drawing/2014/main" id="{3612CB42-AE3F-4D30-94D7-4EB272AFFE10}"/>
              </a:ext>
            </a:extLst>
          </p:cNvPr>
          <p:cNvGrpSpPr/>
          <p:nvPr/>
        </p:nvGrpSpPr>
        <p:grpSpPr>
          <a:xfrm>
            <a:off x="7437872" y="3884612"/>
            <a:ext cx="3009900" cy="1504950"/>
            <a:chOff x="7448382" y="5200966"/>
            <a:chExt cx="3009900" cy="1504950"/>
          </a:xfrm>
        </p:grpSpPr>
        <p:pic>
          <p:nvPicPr>
            <p:cNvPr id="9" name="Picture 8">
              <a:extLst>
                <a:ext uri="{FF2B5EF4-FFF2-40B4-BE49-F238E27FC236}">
                  <a16:creationId xmlns:a16="http://schemas.microsoft.com/office/drawing/2014/main" id="{FE3416A2-EDD9-4F77-8DDB-63656505135B}"/>
                </a:ext>
              </a:extLst>
            </p:cNvPr>
            <p:cNvPicPr>
              <a:picLocks noChangeAspect="1"/>
            </p:cNvPicPr>
            <p:nvPr/>
          </p:nvPicPr>
          <p:blipFill>
            <a:blip r:embed="rId7"/>
            <a:stretch>
              <a:fillRect/>
            </a:stretch>
          </p:blipFill>
          <p:spPr>
            <a:xfrm>
              <a:off x="7448382" y="5200966"/>
              <a:ext cx="3009900" cy="1504950"/>
            </a:xfrm>
            <a:prstGeom prst="rect">
              <a:avLst/>
            </a:prstGeom>
            <a:ln>
              <a:solidFill>
                <a:schemeClr val="accent1"/>
              </a:solidFill>
            </a:ln>
          </p:spPr>
        </p:pic>
        <p:sp>
          <p:nvSpPr>
            <p:cNvPr id="11" name="Oval 10">
              <a:extLst>
                <a:ext uri="{FF2B5EF4-FFF2-40B4-BE49-F238E27FC236}">
                  <a16:creationId xmlns:a16="http://schemas.microsoft.com/office/drawing/2014/main" id="{E2595A73-A43A-4400-A235-5BE270C8CB7A}"/>
                </a:ext>
              </a:extLst>
            </p:cNvPr>
            <p:cNvSpPr/>
            <p:nvPr/>
          </p:nvSpPr>
          <p:spPr>
            <a:xfrm>
              <a:off x="8292662" y="5283593"/>
              <a:ext cx="2165620" cy="647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04881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F0EAD-D584-430D-BEDD-52221449EB1A}"/>
              </a:ext>
            </a:extLst>
          </p:cNvPr>
          <p:cNvSpPr>
            <a:spLocks noGrp="1"/>
          </p:cNvSpPr>
          <p:nvPr>
            <p:ph type="title"/>
          </p:nvPr>
        </p:nvSpPr>
        <p:spPr/>
        <p:txBody>
          <a:bodyPr/>
          <a:lstStyle/>
          <a:p>
            <a:r>
              <a:rPr lang="en-US" noProof="0" dirty="0"/>
              <a:t>Extracting data</a:t>
            </a:r>
          </a:p>
        </p:txBody>
      </p:sp>
      <p:sp>
        <p:nvSpPr>
          <p:cNvPr id="3" name="Content Placeholder 2">
            <a:extLst>
              <a:ext uri="{FF2B5EF4-FFF2-40B4-BE49-F238E27FC236}">
                <a16:creationId xmlns:a16="http://schemas.microsoft.com/office/drawing/2014/main" id="{CA8DF09F-20DE-43D0-BF0B-3AFB971BAE76}"/>
              </a:ext>
            </a:extLst>
          </p:cNvPr>
          <p:cNvSpPr>
            <a:spLocks noGrp="1"/>
          </p:cNvSpPr>
          <p:nvPr>
            <p:ph idx="1"/>
          </p:nvPr>
        </p:nvSpPr>
        <p:spPr/>
        <p:txBody>
          <a:bodyPr/>
          <a:lstStyle/>
          <a:p>
            <a:r>
              <a:rPr lang="en-US" noProof="0" dirty="0"/>
              <a:t>Slicing works with index labels</a:t>
            </a:r>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noProof="0" dirty="0"/>
              <a:t>Note that if using labels (</a:t>
            </a:r>
            <a:r>
              <a:rPr lang="en-US" noProof="0" dirty="0">
                <a:solidFill>
                  <a:srgbClr val="446785"/>
                </a:solidFill>
              </a:rPr>
              <a:t>loc</a:t>
            </a:r>
            <a:r>
              <a:rPr lang="en-US" noProof="0" dirty="0"/>
              <a:t>) the end-element is included in the result, which is not true in case of normal index-based slicing (</a:t>
            </a:r>
            <a:r>
              <a:rPr lang="en-US" noProof="0" dirty="0" err="1">
                <a:solidFill>
                  <a:srgbClr val="446785"/>
                </a:solidFill>
              </a:rPr>
              <a:t>iloc</a:t>
            </a:r>
            <a:r>
              <a:rPr lang="en-US" noProof="0" dirty="0"/>
              <a:t>)</a:t>
            </a:r>
          </a:p>
        </p:txBody>
      </p:sp>
      <p:sp>
        <p:nvSpPr>
          <p:cNvPr id="4" name="Slide Number Placeholder 3">
            <a:extLst>
              <a:ext uri="{FF2B5EF4-FFF2-40B4-BE49-F238E27FC236}">
                <a16:creationId xmlns:a16="http://schemas.microsoft.com/office/drawing/2014/main" id="{D05B5E44-6D3E-48CF-9BF2-883BDA6D847F}"/>
              </a:ext>
            </a:extLst>
          </p:cNvPr>
          <p:cNvSpPr>
            <a:spLocks noGrp="1"/>
          </p:cNvSpPr>
          <p:nvPr>
            <p:ph type="sldNum" sz="quarter" idx="12"/>
          </p:nvPr>
        </p:nvSpPr>
        <p:spPr/>
        <p:txBody>
          <a:bodyPr/>
          <a:lstStyle/>
          <a:p>
            <a:fld id="{FE1B3154-47D9-4402-8EDB-E791933DC0B9}" type="slidenum">
              <a:rPr lang="nl-BE" smtClean="0"/>
              <a:pPr/>
              <a:t>25</a:t>
            </a:fld>
            <a:endParaRPr lang="nl-BE"/>
          </a:p>
        </p:txBody>
      </p:sp>
      <p:pic>
        <p:nvPicPr>
          <p:cNvPr id="6" name="Picture 5">
            <a:extLst>
              <a:ext uri="{FF2B5EF4-FFF2-40B4-BE49-F238E27FC236}">
                <a16:creationId xmlns:a16="http://schemas.microsoft.com/office/drawing/2014/main" id="{F67A8DEF-0BC0-4334-B989-8C752D0B3A2C}"/>
              </a:ext>
            </a:extLst>
          </p:cNvPr>
          <p:cNvPicPr>
            <a:picLocks noChangeAspect="1"/>
          </p:cNvPicPr>
          <p:nvPr/>
        </p:nvPicPr>
        <p:blipFill>
          <a:blip r:embed="rId2"/>
          <a:stretch>
            <a:fillRect/>
          </a:stretch>
        </p:blipFill>
        <p:spPr>
          <a:xfrm>
            <a:off x="924911" y="2343150"/>
            <a:ext cx="3657600" cy="2171700"/>
          </a:xfrm>
          <a:prstGeom prst="rect">
            <a:avLst/>
          </a:prstGeom>
        </p:spPr>
      </p:pic>
      <p:pic>
        <p:nvPicPr>
          <p:cNvPr id="8" name="Picture 7">
            <a:extLst>
              <a:ext uri="{FF2B5EF4-FFF2-40B4-BE49-F238E27FC236}">
                <a16:creationId xmlns:a16="http://schemas.microsoft.com/office/drawing/2014/main" id="{E617B34E-229D-4666-86B7-686A30CA8A48}"/>
              </a:ext>
            </a:extLst>
          </p:cNvPr>
          <p:cNvPicPr>
            <a:picLocks noChangeAspect="1"/>
          </p:cNvPicPr>
          <p:nvPr/>
        </p:nvPicPr>
        <p:blipFill>
          <a:blip r:embed="rId3"/>
          <a:stretch>
            <a:fillRect/>
          </a:stretch>
        </p:blipFill>
        <p:spPr>
          <a:xfrm>
            <a:off x="5291978" y="2428218"/>
            <a:ext cx="3838575" cy="1581150"/>
          </a:xfrm>
          <a:prstGeom prst="rect">
            <a:avLst/>
          </a:prstGeom>
        </p:spPr>
      </p:pic>
    </p:spTree>
    <p:extLst>
      <p:ext uri="{BB962C8B-B14F-4D97-AF65-F5344CB8AC3E}">
        <p14:creationId xmlns:p14="http://schemas.microsoft.com/office/powerpoint/2010/main" val="3610482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227B4-F26E-451E-BB39-81E0F5DB6A23}"/>
              </a:ext>
            </a:extLst>
          </p:cNvPr>
          <p:cNvSpPr>
            <a:spLocks noGrp="1"/>
          </p:cNvSpPr>
          <p:nvPr>
            <p:ph type="title"/>
          </p:nvPr>
        </p:nvSpPr>
        <p:spPr/>
        <p:txBody>
          <a:bodyPr/>
          <a:lstStyle/>
          <a:p>
            <a:r>
              <a:rPr lang="en-US" noProof="0" dirty="0"/>
              <a:t>Extracting data</a:t>
            </a:r>
          </a:p>
        </p:txBody>
      </p:sp>
      <p:sp>
        <p:nvSpPr>
          <p:cNvPr id="3" name="Content Placeholder 2">
            <a:extLst>
              <a:ext uri="{FF2B5EF4-FFF2-40B4-BE49-F238E27FC236}">
                <a16:creationId xmlns:a16="http://schemas.microsoft.com/office/drawing/2014/main" id="{74AD1643-5369-4C40-8206-D637DD4E01BE}"/>
              </a:ext>
            </a:extLst>
          </p:cNvPr>
          <p:cNvSpPr>
            <a:spLocks noGrp="1"/>
          </p:cNvSpPr>
          <p:nvPr>
            <p:ph idx="1"/>
          </p:nvPr>
        </p:nvSpPr>
        <p:spPr>
          <a:xfrm>
            <a:off x="582704" y="1550894"/>
            <a:ext cx="11724910" cy="4626069"/>
          </a:xfrm>
        </p:spPr>
        <p:txBody>
          <a:bodyPr>
            <a:normAutofit/>
          </a:bodyPr>
          <a:lstStyle/>
          <a:p>
            <a:r>
              <a:rPr lang="en-US" sz="2600" noProof="0" dirty="0"/>
              <a:t>Extracting 1 column from a </a:t>
            </a:r>
            <a:r>
              <a:rPr lang="en-US" sz="2600" noProof="0" dirty="0" err="1"/>
              <a:t>dataframe</a:t>
            </a:r>
            <a:r>
              <a:rPr lang="en-US" sz="2600" noProof="0" dirty="0"/>
              <a:t> results in a Series</a:t>
            </a:r>
          </a:p>
          <a:p>
            <a:endParaRPr lang="en-US" sz="2600" noProof="0" dirty="0"/>
          </a:p>
          <a:p>
            <a:endParaRPr lang="en-US" sz="2600" noProof="0" dirty="0"/>
          </a:p>
          <a:p>
            <a:endParaRPr lang="en-US" sz="2600" noProof="0" dirty="0"/>
          </a:p>
          <a:p>
            <a:endParaRPr lang="en-US" sz="2600" noProof="0" dirty="0"/>
          </a:p>
          <a:p>
            <a:r>
              <a:rPr lang="en-US" sz="2600" b="0" i="0" noProof="0" dirty="0">
                <a:solidFill>
                  <a:srgbClr val="333333"/>
                </a:solidFill>
                <a:effectLst/>
                <a:latin typeface="proxima-nova"/>
              </a:rPr>
              <a:t>To extract columns as a </a:t>
            </a:r>
            <a:r>
              <a:rPr lang="en-US" sz="2600" b="0" i="1" noProof="0" dirty="0">
                <a:solidFill>
                  <a:srgbClr val="333333"/>
                </a:solidFill>
                <a:effectLst/>
                <a:latin typeface="proxima-nova"/>
              </a:rPr>
              <a:t>DataFrame</a:t>
            </a:r>
            <a:r>
              <a:rPr lang="en-US" sz="2600" b="0" i="0" noProof="0" dirty="0">
                <a:solidFill>
                  <a:srgbClr val="333333"/>
                </a:solidFill>
                <a:effectLst/>
                <a:latin typeface="proxima-nova"/>
              </a:rPr>
              <a:t>, you need to pass a list[] of column names</a:t>
            </a:r>
            <a:endParaRPr lang="en-US" sz="2600" noProof="0" dirty="0"/>
          </a:p>
        </p:txBody>
      </p:sp>
      <p:sp>
        <p:nvSpPr>
          <p:cNvPr id="4" name="Slide Number Placeholder 3">
            <a:extLst>
              <a:ext uri="{FF2B5EF4-FFF2-40B4-BE49-F238E27FC236}">
                <a16:creationId xmlns:a16="http://schemas.microsoft.com/office/drawing/2014/main" id="{D2C12800-7ED9-472E-B0AB-E3C105AB5061}"/>
              </a:ext>
            </a:extLst>
          </p:cNvPr>
          <p:cNvSpPr>
            <a:spLocks noGrp="1"/>
          </p:cNvSpPr>
          <p:nvPr>
            <p:ph type="sldNum" sz="quarter" idx="12"/>
          </p:nvPr>
        </p:nvSpPr>
        <p:spPr/>
        <p:txBody>
          <a:bodyPr/>
          <a:lstStyle/>
          <a:p>
            <a:fld id="{FE1B3154-47D9-4402-8EDB-E791933DC0B9}" type="slidenum">
              <a:rPr lang="nl-BE" smtClean="0"/>
              <a:pPr/>
              <a:t>26</a:t>
            </a:fld>
            <a:endParaRPr lang="nl-BE"/>
          </a:p>
        </p:txBody>
      </p:sp>
      <p:pic>
        <p:nvPicPr>
          <p:cNvPr id="6" name="Picture 5">
            <a:extLst>
              <a:ext uri="{FF2B5EF4-FFF2-40B4-BE49-F238E27FC236}">
                <a16:creationId xmlns:a16="http://schemas.microsoft.com/office/drawing/2014/main" id="{6CE16502-209D-4A3B-9A9C-7A48ECA59731}"/>
              </a:ext>
            </a:extLst>
          </p:cNvPr>
          <p:cNvPicPr>
            <a:picLocks noChangeAspect="1"/>
          </p:cNvPicPr>
          <p:nvPr/>
        </p:nvPicPr>
        <p:blipFill>
          <a:blip r:embed="rId2"/>
          <a:stretch>
            <a:fillRect/>
          </a:stretch>
        </p:blipFill>
        <p:spPr>
          <a:xfrm>
            <a:off x="928686" y="2188798"/>
            <a:ext cx="3629025" cy="1695450"/>
          </a:xfrm>
          <a:prstGeom prst="rect">
            <a:avLst/>
          </a:prstGeom>
        </p:spPr>
      </p:pic>
      <p:pic>
        <p:nvPicPr>
          <p:cNvPr id="8" name="Picture 7">
            <a:extLst>
              <a:ext uri="{FF2B5EF4-FFF2-40B4-BE49-F238E27FC236}">
                <a16:creationId xmlns:a16="http://schemas.microsoft.com/office/drawing/2014/main" id="{DDC5C53F-5BB7-4668-AF83-2AD9DC7768D5}"/>
              </a:ext>
            </a:extLst>
          </p:cNvPr>
          <p:cNvPicPr>
            <a:picLocks noChangeAspect="1"/>
          </p:cNvPicPr>
          <p:nvPr/>
        </p:nvPicPr>
        <p:blipFill>
          <a:blip r:embed="rId3"/>
          <a:stretch>
            <a:fillRect/>
          </a:stretch>
        </p:blipFill>
        <p:spPr>
          <a:xfrm>
            <a:off x="6096000" y="1978218"/>
            <a:ext cx="3571875" cy="800100"/>
          </a:xfrm>
          <a:prstGeom prst="rect">
            <a:avLst/>
          </a:prstGeom>
        </p:spPr>
      </p:pic>
      <p:pic>
        <p:nvPicPr>
          <p:cNvPr id="10" name="Picture 9">
            <a:extLst>
              <a:ext uri="{FF2B5EF4-FFF2-40B4-BE49-F238E27FC236}">
                <a16:creationId xmlns:a16="http://schemas.microsoft.com/office/drawing/2014/main" id="{3B77BF7E-96CE-41EE-87E2-37221DD68951}"/>
              </a:ext>
            </a:extLst>
          </p:cNvPr>
          <p:cNvPicPr>
            <a:picLocks noChangeAspect="1"/>
          </p:cNvPicPr>
          <p:nvPr/>
        </p:nvPicPr>
        <p:blipFill>
          <a:blip r:embed="rId4"/>
          <a:stretch>
            <a:fillRect/>
          </a:stretch>
        </p:blipFill>
        <p:spPr>
          <a:xfrm>
            <a:off x="955328" y="4639371"/>
            <a:ext cx="3445088" cy="2082104"/>
          </a:xfrm>
          <a:prstGeom prst="rect">
            <a:avLst/>
          </a:prstGeom>
        </p:spPr>
      </p:pic>
      <p:pic>
        <p:nvPicPr>
          <p:cNvPr id="12" name="Picture 11">
            <a:extLst>
              <a:ext uri="{FF2B5EF4-FFF2-40B4-BE49-F238E27FC236}">
                <a16:creationId xmlns:a16="http://schemas.microsoft.com/office/drawing/2014/main" id="{30F59AB1-6F3F-4DA9-98D4-1DBECE68756E}"/>
              </a:ext>
            </a:extLst>
          </p:cNvPr>
          <p:cNvPicPr>
            <a:picLocks noChangeAspect="1"/>
          </p:cNvPicPr>
          <p:nvPr/>
        </p:nvPicPr>
        <p:blipFill>
          <a:blip r:embed="rId5"/>
          <a:stretch>
            <a:fillRect/>
          </a:stretch>
        </p:blipFill>
        <p:spPr>
          <a:xfrm>
            <a:off x="3027030" y="5952544"/>
            <a:ext cx="3068970" cy="612140"/>
          </a:xfrm>
          <a:prstGeom prst="rect">
            <a:avLst/>
          </a:prstGeom>
        </p:spPr>
      </p:pic>
      <p:pic>
        <p:nvPicPr>
          <p:cNvPr id="14" name="Picture 13">
            <a:extLst>
              <a:ext uri="{FF2B5EF4-FFF2-40B4-BE49-F238E27FC236}">
                <a16:creationId xmlns:a16="http://schemas.microsoft.com/office/drawing/2014/main" id="{435E1315-9789-48EA-9210-BE1A2ED0BEF1}"/>
              </a:ext>
            </a:extLst>
          </p:cNvPr>
          <p:cNvPicPr>
            <a:picLocks noChangeAspect="1"/>
          </p:cNvPicPr>
          <p:nvPr/>
        </p:nvPicPr>
        <p:blipFill>
          <a:blip r:embed="rId6"/>
          <a:stretch>
            <a:fillRect/>
          </a:stretch>
        </p:blipFill>
        <p:spPr>
          <a:xfrm>
            <a:off x="6445158" y="4587983"/>
            <a:ext cx="3709527" cy="1904892"/>
          </a:xfrm>
          <a:prstGeom prst="rect">
            <a:avLst/>
          </a:prstGeom>
        </p:spPr>
      </p:pic>
      <p:pic>
        <p:nvPicPr>
          <p:cNvPr id="16" name="Picture 15">
            <a:extLst>
              <a:ext uri="{FF2B5EF4-FFF2-40B4-BE49-F238E27FC236}">
                <a16:creationId xmlns:a16="http://schemas.microsoft.com/office/drawing/2014/main" id="{93717984-D7FA-4FC8-AB90-825CE485E719}"/>
              </a:ext>
            </a:extLst>
          </p:cNvPr>
          <p:cNvPicPr>
            <a:picLocks noChangeAspect="1"/>
          </p:cNvPicPr>
          <p:nvPr/>
        </p:nvPicPr>
        <p:blipFill>
          <a:blip r:embed="rId7"/>
          <a:stretch>
            <a:fillRect/>
          </a:stretch>
        </p:blipFill>
        <p:spPr>
          <a:xfrm>
            <a:off x="8978808" y="5815407"/>
            <a:ext cx="2979646" cy="661258"/>
          </a:xfrm>
          <a:prstGeom prst="rect">
            <a:avLst/>
          </a:prstGeom>
        </p:spPr>
      </p:pic>
      <p:sp>
        <p:nvSpPr>
          <p:cNvPr id="17" name="TextBox 16">
            <a:extLst>
              <a:ext uri="{FF2B5EF4-FFF2-40B4-BE49-F238E27FC236}">
                <a16:creationId xmlns:a16="http://schemas.microsoft.com/office/drawing/2014/main" id="{F4C80C73-4AFD-45E3-AFF9-774751FCB65D}"/>
              </a:ext>
            </a:extLst>
          </p:cNvPr>
          <p:cNvSpPr txBox="1"/>
          <p:nvPr/>
        </p:nvSpPr>
        <p:spPr>
          <a:xfrm>
            <a:off x="6096000" y="3205642"/>
            <a:ext cx="4077848" cy="369332"/>
          </a:xfrm>
          <a:prstGeom prst="rect">
            <a:avLst/>
          </a:prstGeom>
          <a:noFill/>
        </p:spPr>
        <p:txBody>
          <a:bodyPr wrap="none" rtlCol="0">
            <a:spAutoFit/>
          </a:bodyPr>
          <a:lstStyle/>
          <a:p>
            <a:r>
              <a:rPr lang="nl-BE" err="1"/>
              <a:t>Note</a:t>
            </a:r>
            <a:r>
              <a:rPr lang="nl-BE"/>
              <a:t> </a:t>
            </a:r>
            <a:r>
              <a:rPr lang="nl-BE" err="1"/>
              <a:t>that</a:t>
            </a:r>
            <a:r>
              <a:rPr lang="nl-BE"/>
              <a:t> </a:t>
            </a:r>
            <a:r>
              <a:rPr lang="nl-BE" err="1"/>
              <a:t>purchases.apples</a:t>
            </a:r>
            <a:r>
              <a:rPr lang="nl-BE"/>
              <a:t> </a:t>
            </a:r>
            <a:r>
              <a:rPr lang="nl-BE" err="1"/>
              <a:t>will</a:t>
            </a:r>
            <a:r>
              <a:rPr lang="nl-BE"/>
              <a:t> </a:t>
            </a:r>
            <a:r>
              <a:rPr lang="nl-BE" err="1"/>
              <a:t>also</a:t>
            </a:r>
            <a:r>
              <a:rPr lang="nl-BE"/>
              <a:t> </a:t>
            </a:r>
            <a:r>
              <a:rPr lang="nl-BE" err="1"/>
              <a:t>work</a:t>
            </a:r>
            <a:endParaRPr lang="en-US"/>
          </a:p>
        </p:txBody>
      </p:sp>
    </p:spTree>
    <p:extLst>
      <p:ext uri="{BB962C8B-B14F-4D97-AF65-F5344CB8AC3E}">
        <p14:creationId xmlns:p14="http://schemas.microsoft.com/office/powerpoint/2010/main" val="3060149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BE43F-25E6-4897-84C2-C5F6564E37DC}"/>
              </a:ext>
            </a:extLst>
          </p:cNvPr>
          <p:cNvSpPr>
            <a:spLocks noGrp="1"/>
          </p:cNvSpPr>
          <p:nvPr>
            <p:ph type="title"/>
          </p:nvPr>
        </p:nvSpPr>
        <p:spPr/>
        <p:txBody>
          <a:bodyPr/>
          <a:lstStyle/>
          <a:p>
            <a:r>
              <a:rPr lang="en-US" noProof="0" dirty="0"/>
              <a:t>Assigning data</a:t>
            </a:r>
          </a:p>
        </p:txBody>
      </p:sp>
      <p:sp>
        <p:nvSpPr>
          <p:cNvPr id="3" name="Content Placeholder 2">
            <a:extLst>
              <a:ext uri="{FF2B5EF4-FFF2-40B4-BE49-F238E27FC236}">
                <a16:creationId xmlns:a16="http://schemas.microsoft.com/office/drawing/2014/main" id="{943408EA-56BF-46FE-B744-52AC73C35186}"/>
              </a:ext>
            </a:extLst>
          </p:cNvPr>
          <p:cNvSpPr>
            <a:spLocks noGrp="1"/>
          </p:cNvSpPr>
          <p:nvPr>
            <p:ph sz="half" idx="1"/>
          </p:nvPr>
        </p:nvSpPr>
        <p:spPr>
          <a:xfrm>
            <a:off x="791309" y="2621976"/>
            <a:ext cx="5181600" cy="3836621"/>
          </a:xfrm>
        </p:spPr>
        <p:txBody>
          <a:bodyPr>
            <a:normAutofit/>
          </a:bodyPr>
          <a:lstStyle/>
          <a:p>
            <a:r>
              <a:rPr lang="en-US" sz="2600" b="0" i="0" noProof="0" dirty="0">
                <a:effectLst/>
                <a:latin typeface="Inter"/>
              </a:rPr>
              <a:t>a constant value:</a:t>
            </a:r>
          </a:p>
          <a:p>
            <a:endParaRPr lang="en-US" sz="2600" noProof="0" dirty="0">
              <a:latin typeface="Inter"/>
            </a:endParaRPr>
          </a:p>
          <a:p>
            <a:endParaRPr lang="en-US" sz="2600" b="0" i="0" noProof="0" dirty="0">
              <a:effectLst/>
              <a:latin typeface="Inter"/>
            </a:endParaRPr>
          </a:p>
          <a:p>
            <a:pPr marL="0" indent="0">
              <a:buNone/>
            </a:pPr>
            <a:endParaRPr lang="en-US" sz="2600" b="0" i="0" noProof="0" dirty="0">
              <a:effectLst/>
              <a:latin typeface="Inter"/>
            </a:endParaRPr>
          </a:p>
          <a:p>
            <a:endParaRPr lang="en-US" sz="2600" noProof="0" dirty="0">
              <a:latin typeface="Inter"/>
            </a:endParaRPr>
          </a:p>
        </p:txBody>
      </p:sp>
      <p:sp>
        <p:nvSpPr>
          <p:cNvPr id="21" name="Content Placeholder 20">
            <a:extLst>
              <a:ext uri="{FF2B5EF4-FFF2-40B4-BE49-F238E27FC236}">
                <a16:creationId xmlns:a16="http://schemas.microsoft.com/office/drawing/2014/main" id="{216726DD-A04A-45C6-9252-0C9AE0246F1A}"/>
              </a:ext>
            </a:extLst>
          </p:cNvPr>
          <p:cNvSpPr>
            <a:spLocks noGrp="1"/>
          </p:cNvSpPr>
          <p:nvPr>
            <p:ph sz="half" idx="2"/>
          </p:nvPr>
        </p:nvSpPr>
        <p:spPr>
          <a:xfrm>
            <a:off x="5120963" y="2702290"/>
            <a:ext cx="5181600" cy="3836622"/>
          </a:xfrm>
        </p:spPr>
        <p:txBody>
          <a:bodyPr>
            <a:normAutofit/>
          </a:bodyPr>
          <a:lstStyle/>
          <a:p>
            <a:r>
              <a:rPr lang="en-US" sz="2600" noProof="0" dirty="0">
                <a:latin typeface="Inter"/>
              </a:rPr>
              <a:t>or an </a:t>
            </a:r>
            <a:r>
              <a:rPr lang="en-US" sz="2600" noProof="0" dirty="0" err="1">
                <a:latin typeface="Inter"/>
              </a:rPr>
              <a:t>iterable</a:t>
            </a:r>
            <a:r>
              <a:rPr lang="en-US" sz="2600" noProof="0" dirty="0">
                <a:latin typeface="Inter"/>
              </a:rPr>
              <a:t> of values:</a:t>
            </a:r>
            <a:endParaRPr lang="en-US" sz="2600" b="0" i="0" noProof="0" dirty="0">
              <a:effectLst/>
              <a:latin typeface="Inter"/>
            </a:endParaRPr>
          </a:p>
          <a:p>
            <a:endParaRPr lang="en-US" sz="2600" noProof="0" dirty="0"/>
          </a:p>
        </p:txBody>
      </p:sp>
      <p:sp>
        <p:nvSpPr>
          <p:cNvPr id="4" name="Slide Number Placeholder 3">
            <a:extLst>
              <a:ext uri="{FF2B5EF4-FFF2-40B4-BE49-F238E27FC236}">
                <a16:creationId xmlns:a16="http://schemas.microsoft.com/office/drawing/2014/main" id="{661F9C73-B939-4D78-8CCC-DE11041A9D36}"/>
              </a:ext>
            </a:extLst>
          </p:cNvPr>
          <p:cNvSpPr>
            <a:spLocks noGrp="1"/>
          </p:cNvSpPr>
          <p:nvPr>
            <p:ph type="sldNum" sz="quarter" idx="12"/>
          </p:nvPr>
        </p:nvSpPr>
        <p:spPr/>
        <p:txBody>
          <a:bodyPr/>
          <a:lstStyle/>
          <a:p>
            <a:fld id="{FE1B3154-47D9-4402-8EDB-E791933DC0B9}" type="slidenum">
              <a:rPr lang="nl-BE" smtClean="0"/>
              <a:pPr/>
              <a:t>27</a:t>
            </a:fld>
            <a:endParaRPr lang="nl-BE"/>
          </a:p>
        </p:txBody>
      </p:sp>
      <p:sp>
        <p:nvSpPr>
          <p:cNvPr id="12" name="TextBox 11">
            <a:extLst>
              <a:ext uri="{FF2B5EF4-FFF2-40B4-BE49-F238E27FC236}">
                <a16:creationId xmlns:a16="http://schemas.microsoft.com/office/drawing/2014/main" id="{729ED021-0D8E-4D98-A501-A5635B4F5B31}"/>
              </a:ext>
            </a:extLst>
          </p:cNvPr>
          <p:cNvSpPr txBox="1"/>
          <p:nvPr/>
        </p:nvSpPr>
        <p:spPr>
          <a:xfrm>
            <a:off x="1020242" y="3131843"/>
            <a:ext cx="3024351" cy="400110"/>
          </a:xfrm>
          <a:prstGeom prst="rect">
            <a:avLst/>
          </a:prstGeom>
          <a:noFill/>
          <a:ln>
            <a:solidFill>
              <a:srgbClr val="446785"/>
            </a:solidFill>
          </a:ln>
        </p:spPr>
        <p:txBody>
          <a:bodyPr wrap="square">
            <a:spAutoFit/>
          </a:bodyPr>
          <a:lstStyle>
            <a:defPPr>
              <a:defRPr lang="nl-BE"/>
            </a:defPPr>
            <a:lvl1pPr>
              <a:defRPr b="0" i="0">
                <a:solidFill>
                  <a:srgbClr val="4D4D4C"/>
                </a:solidFill>
                <a:effectLst/>
                <a:latin typeface="Monaco"/>
              </a:defRPr>
            </a:lvl1pPr>
          </a:lstStyle>
          <a:p>
            <a:r>
              <a:rPr lang="en-US" sz="2000"/>
              <a:t>purchases['bananas']=3</a:t>
            </a:r>
          </a:p>
        </p:txBody>
      </p:sp>
      <p:sp>
        <p:nvSpPr>
          <p:cNvPr id="13" name="TextBox 12">
            <a:extLst>
              <a:ext uri="{FF2B5EF4-FFF2-40B4-BE49-F238E27FC236}">
                <a16:creationId xmlns:a16="http://schemas.microsoft.com/office/drawing/2014/main" id="{65A8B90F-B67A-430F-AD9C-FC85BB84E232}"/>
              </a:ext>
            </a:extLst>
          </p:cNvPr>
          <p:cNvSpPr txBox="1"/>
          <p:nvPr/>
        </p:nvSpPr>
        <p:spPr>
          <a:xfrm>
            <a:off x="5298217" y="3128980"/>
            <a:ext cx="3458442" cy="400110"/>
          </a:xfrm>
          <a:prstGeom prst="rect">
            <a:avLst/>
          </a:prstGeom>
          <a:noFill/>
          <a:ln>
            <a:solidFill>
              <a:srgbClr val="446785"/>
            </a:solidFill>
          </a:ln>
        </p:spPr>
        <p:txBody>
          <a:bodyPr wrap="square">
            <a:spAutoFit/>
          </a:bodyPr>
          <a:lstStyle>
            <a:defPPr>
              <a:defRPr lang="nl-BE"/>
            </a:defPPr>
            <a:lvl1pPr>
              <a:defRPr b="0" i="0">
                <a:solidFill>
                  <a:srgbClr val="4D4D4C"/>
                </a:solidFill>
                <a:effectLst/>
                <a:latin typeface="Monaco"/>
              </a:defRPr>
            </a:lvl1pPr>
          </a:lstStyle>
          <a:p>
            <a:r>
              <a:rPr lang="en-US" sz="2000"/>
              <a:t>purchases['bananas’]=[2,0,5,7]</a:t>
            </a:r>
          </a:p>
        </p:txBody>
      </p:sp>
      <p:sp>
        <p:nvSpPr>
          <p:cNvPr id="20" name="TextBox 19">
            <a:extLst>
              <a:ext uri="{FF2B5EF4-FFF2-40B4-BE49-F238E27FC236}">
                <a16:creationId xmlns:a16="http://schemas.microsoft.com/office/drawing/2014/main" id="{80B65C31-7B4F-43B4-AD62-BED687D42660}"/>
              </a:ext>
            </a:extLst>
          </p:cNvPr>
          <p:cNvSpPr txBox="1"/>
          <p:nvPr/>
        </p:nvSpPr>
        <p:spPr>
          <a:xfrm>
            <a:off x="5298217" y="4341881"/>
            <a:ext cx="5602980" cy="400110"/>
          </a:xfrm>
          <a:prstGeom prst="rect">
            <a:avLst/>
          </a:prstGeom>
          <a:noFill/>
          <a:ln>
            <a:solidFill>
              <a:srgbClr val="446785"/>
            </a:solidFill>
          </a:ln>
        </p:spPr>
        <p:txBody>
          <a:bodyPr wrap="square">
            <a:spAutoFit/>
          </a:bodyPr>
          <a:lstStyle>
            <a:defPPr>
              <a:defRPr lang="nl-BE"/>
            </a:defPPr>
            <a:lvl1pPr>
              <a:defRPr b="0" i="0">
                <a:solidFill>
                  <a:srgbClr val="4D4D4C"/>
                </a:solidFill>
                <a:effectLst/>
                <a:latin typeface="Monaco"/>
              </a:defRPr>
            </a:lvl1pPr>
          </a:lstStyle>
          <a:p>
            <a:r>
              <a:rPr lang="en-US" sz="2000"/>
              <a:t>purchases['lemons'] = range(1,len(purchases)+1,+1)</a:t>
            </a:r>
          </a:p>
        </p:txBody>
      </p:sp>
      <p:sp>
        <p:nvSpPr>
          <p:cNvPr id="22" name="TextBox 21">
            <a:extLst>
              <a:ext uri="{FF2B5EF4-FFF2-40B4-BE49-F238E27FC236}">
                <a16:creationId xmlns:a16="http://schemas.microsoft.com/office/drawing/2014/main" id="{9843A0D2-94FD-4A55-BACF-0425CDA4A5E3}"/>
              </a:ext>
            </a:extLst>
          </p:cNvPr>
          <p:cNvSpPr txBox="1"/>
          <p:nvPr/>
        </p:nvSpPr>
        <p:spPr>
          <a:xfrm>
            <a:off x="650470" y="1505178"/>
            <a:ext cx="8245078" cy="892552"/>
          </a:xfrm>
          <a:prstGeom prst="rect">
            <a:avLst/>
          </a:prstGeom>
          <a:noFill/>
        </p:spPr>
        <p:txBody>
          <a:bodyPr wrap="none" rtlCol="0">
            <a:spAutoFit/>
          </a:bodyPr>
          <a:lstStyle/>
          <a:p>
            <a:r>
              <a:rPr lang="en-US" sz="2600" b="0" i="0" dirty="0">
                <a:effectLst/>
              </a:rPr>
              <a:t>Going the other way, assigning data to a DataFrame is easy. </a:t>
            </a:r>
          </a:p>
          <a:p>
            <a:r>
              <a:rPr lang="en-US" sz="2600" b="0" i="0" dirty="0">
                <a:effectLst/>
              </a:rPr>
              <a:t>You can insert/update a column with either:</a:t>
            </a:r>
            <a:endParaRPr lang="en-US" sz="2600" dirty="0"/>
          </a:p>
        </p:txBody>
      </p:sp>
      <p:grpSp>
        <p:nvGrpSpPr>
          <p:cNvPr id="26" name="Group 25">
            <a:extLst>
              <a:ext uri="{FF2B5EF4-FFF2-40B4-BE49-F238E27FC236}">
                <a16:creationId xmlns:a16="http://schemas.microsoft.com/office/drawing/2014/main" id="{901B3C04-9657-4D5A-B08D-1D9BF8DB549A}"/>
              </a:ext>
            </a:extLst>
          </p:cNvPr>
          <p:cNvGrpSpPr/>
          <p:nvPr/>
        </p:nvGrpSpPr>
        <p:grpSpPr>
          <a:xfrm>
            <a:off x="1034270" y="3638109"/>
            <a:ext cx="2833069" cy="1848291"/>
            <a:chOff x="1034270" y="3638109"/>
            <a:chExt cx="2833069" cy="1848291"/>
          </a:xfrm>
        </p:grpSpPr>
        <p:pic>
          <p:nvPicPr>
            <p:cNvPr id="8" name="Picture 7">
              <a:extLst>
                <a:ext uri="{FF2B5EF4-FFF2-40B4-BE49-F238E27FC236}">
                  <a16:creationId xmlns:a16="http://schemas.microsoft.com/office/drawing/2014/main" id="{69FAACC3-9B22-4F96-AFEF-B631E21C4834}"/>
                </a:ext>
              </a:extLst>
            </p:cNvPr>
            <p:cNvPicPr>
              <a:picLocks noChangeAspect="1"/>
            </p:cNvPicPr>
            <p:nvPr/>
          </p:nvPicPr>
          <p:blipFill>
            <a:blip r:embed="rId2"/>
            <a:stretch>
              <a:fillRect/>
            </a:stretch>
          </p:blipFill>
          <p:spPr>
            <a:xfrm>
              <a:off x="1034270" y="3638109"/>
              <a:ext cx="2833069" cy="1740314"/>
            </a:xfrm>
            <a:prstGeom prst="rect">
              <a:avLst/>
            </a:prstGeom>
          </p:spPr>
        </p:pic>
        <p:sp>
          <p:nvSpPr>
            <p:cNvPr id="23" name="Oval 22">
              <a:extLst>
                <a:ext uri="{FF2B5EF4-FFF2-40B4-BE49-F238E27FC236}">
                  <a16:creationId xmlns:a16="http://schemas.microsoft.com/office/drawing/2014/main" id="{52F89E12-0052-4DDA-B4AA-0112AAA2405D}"/>
                </a:ext>
              </a:extLst>
            </p:cNvPr>
            <p:cNvSpPr/>
            <p:nvPr/>
          </p:nvSpPr>
          <p:spPr>
            <a:xfrm>
              <a:off x="3384330" y="4038219"/>
              <a:ext cx="483009" cy="14481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AEA0122-793A-41D2-824D-1DE2ABC9D7AC}"/>
              </a:ext>
            </a:extLst>
          </p:cNvPr>
          <p:cNvGrpSpPr/>
          <p:nvPr/>
        </p:nvGrpSpPr>
        <p:grpSpPr>
          <a:xfrm>
            <a:off x="8895549" y="2890961"/>
            <a:ext cx="2357744" cy="1424869"/>
            <a:chOff x="8895549" y="2890961"/>
            <a:chExt cx="2357744" cy="1424869"/>
          </a:xfrm>
        </p:grpSpPr>
        <p:pic>
          <p:nvPicPr>
            <p:cNvPr id="15" name="Picture 14">
              <a:extLst>
                <a:ext uri="{FF2B5EF4-FFF2-40B4-BE49-F238E27FC236}">
                  <a16:creationId xmlns:a16="http://schemas.microsoft.com/office/drawing/2014/main" id="{D8564A3F-04EC-4C19-B5C7-FA1794352209}"/>
                </a:ext>
              </a:extLst>
            </p:cNvPr>
            <p:cNvPicPr>
              <a:picLocks noChangeAspect="1"/>
            </p:cNvPicPr>
            <p:nvPr/>
          </p:nvPicPr>
          <p:blipFill>
            <a:blip r:embed="rId3"/>
            <a:stretch>
              <a:fillRect/>
            </a:stretch>
          </p:blipFill>
          <p:spPr>
            <a:xfrm>
              <a:off x="8895549" y="2890961"/>
              <a:ext cx="2276209" cy="1287235"/>
            </a:xfrm>
            <a:prstGeom prst="rect">
              <a:avLst/>
            </a:prstGeom>
          </p:spPr>
        </p:pic>
        <p:sp>
          <p:nvSpPr>
            <p:cNvPr id="24" name="Oval 23">
              <a:extLst>
                <a:ext uri="{FF2B5EF4-FFF2-40B4-BE49-F238E27FC236}">
                  <a16:creationId xmlns:a16="http://schemas.microsoft.com/office/drawing/2014/main" id="{091024FD-ED8F-4F6B-A056-9177EFD82DB1}"/>
                </a:ext>
              </a:extLst>
            </p:cNvPr>
            <p:cNvSpPr/>
            <p:nvPr/>
          </p:nvSpPr>
          <p:spPr>
            <a:xfrm>
              <a:off x="10804634" y="3128980"/>
              <a:ext cx="448659" cy="1186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34F904F6-F68D-4148-90E0-91A273B9333C}"/>
              </a:ext>
            </a:extLst>
          </p:cNvPr>
          <p:cNvGrpSpPr/>
          <p:nvPr/>
        </p:nvGrpSpPr>
        <p:grpSpPr>
          <a:xfrm>
            <a:off x="8731381" y="4945108"/>
            <a:ext cx="2622419" cy="1466104"/>
            <a:chOff x="8731381" y="4945108"/>
            <a:chExt cx="2622419" cy="1466104"/>
          </a:xfrm>
        </p:grpSpPr>
        <p:pic>
          <p:nvPicPr>
            <p:cNvPr id="17" name="Picture 16">
              <a:extLst>
                <a:ext uri="{FF2B5EF4-FFF2-40B4-BE49-F238E27FC236}">
                  <a16:creationId xmlns:a16="http://schemas.microsoft.com/office/drawing/2014/main" id="{BD623B3F-F255-4D48-9851-38776225F37A}"/>
                </a:ext>
              </a:extLst>
            </p:cNvPr>
            <p:cNvPicPr>
              <a:picLocks noChangeAspect="1"/>
            </p:cNvPicPr>
            <p:nvPr/>
          </p:nvPicPr>
          <p:blipFill>
            <a:blip r:embed="rId4"/>
            <a:stretch>
              <a:fillRect/>
            </a:stretch>
          </p:blipFill>
          <p:spPr>
            <a:xfrm>
              <a:off x="8731381" y="4945108"/>
              <a:ext cx="2622419" cy="1446851"/>
            </a:xfrm>
            <a:prstGeom prst="rect">
              <a:avLst/>
            </a:prstGeom>
          </p:spPr>
        </p:pic>
        <p:sp>
          <p:nvSpPr>
            <p:cNvPr id="25" name="Oval 24">
              <a:extLst>
                <a:ext uri="{FF2B5EF4-FFF2-40B4-BE49-F238E27FC236}">
                  <a16:creationId xmlns:a16="http://schemas.microsoft.com/office/drawing/2014/main" id="{A9C95F85-CB70-4E77-BE6C-6C2AB554A674}"/>
                </a:ext>
              </a:extLst>
            </p:cNvPr>
            <p:cNvSpPr/>
            <p:nvPr/>
          </p:nvSpPr>
          <p:spPr>
            <a:xfrm>
              <a:off x="10863828" y="5224362"/>
              <a:ext cx="448659" cy="1186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4405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p:txBody>
          <a:bodyPr/>
          <a:lstStyle/>
          <a:p>
            <a:r>
              <a:rPr lang="en-US" noProof="0" dirty="0"/>
              <a:t>Pandas – Read and write data</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28</a:t>
            </a:fld>
            <a:endParaRPr lang="nl-BE"/>
          </a:p>
        </p:txBody>
      </p:sp>
    </p:spTree>
    <p:extLst>
      <p:ext uri="{BB962C8B-B14F-4D97-AF65-F5344CB8AC3E}">
        <p14:creationId xmlns:p14="http://schemas.microsoft.com/office/powerpoint/2010/main" val="1406439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6ED9-20F4-4B08-8653-5DD612AEEDC8}"/>
              </a:ext>
            </a:extLst>
          </p:cNvPr>
          <p:cNvSpPr>
            <a:spLocks noGrp="1"/>
          </p:cNvSpPr>
          <p:nvPr>
            <p:ph type="title"/>
          </p:nvPr>
        </p:nvSpPr>
        <p:spPr/>
        <p:txBody>
          <a:bodyPr/>
          <a:lstStyle/>
          <a:p>
            <a:r>
              <a:rPr lang="en-US" noProof="0" dirty="0">
                <a:latin typeface="Calibri"/>
                <a:cs typeface="Calibri"/>
              </a:rPr>
              <a:t>Read and Write</a:t>
            </a:r>
            <a:endParaRPr lang="en-US" noProof="0" dirty="0"/>
          </a:p>
        </p:txBody>
      </p:sp>
      <p:sp>
        <p:nvSpPr>
          <p:cNvPr id="3" name="Content Placeholder 2">
            <a:extLst>
              <a:ext uri="{FF2B5EF4-FFF2-40B4-BE49-F238E27FC236}">
                <a16:creationId xmlns:a16="http://schemas.microsoft.com/office/drawing/2014/main" id="{1137DA3A-1DE9-4FFF-9474-D54BA2A3A561}"/>
              </a:ext>
            </a:extLst>
          </p:cNvPr>
          <p:cNvSpPr>
            <a:spLocks noGrp="1"/>
          </p:cNvSpPr>
          <p:nvPr>
            <p:ph idx="1"/>
          </p:nvPr>
        </p:nvSpPr>
        <p:spPr/>
        <p:txBody>
          <a:bodyPr vert="horz" lIns="91440" tIns="45720" rIns="91440" bIns="45720" rtlCol="0" anchor="t">
            <a:normAutofit/>
          </a:bodyPr>
          <a:lstStyle/>
          <a:p>
            <a:pPr marL="0" indent="0">
              <a:buNone/>
            </a:pPr>
            <a:br>
              <a:rPr lang="en-US" noProof="0" dirty="0"/>
            </a:br>
            <a:br>
              <a:rPr lang="en-US" noProof="0" dirty="0"/>
            </a:br>
            <a:br>
              <a:rPr lang="en-US" noProof="0" dirty="0"/>
            </a:br>
            <a:endParaRPr lang="en-US" noProof="0" dirty="0"/>
          </a:p>
        </p:txBody>
      </p:sp>
      <p:sp>
        <p:nvSpPr>
          <p:cNvPr id="4" name="Slide Number Placeholder 3">
            <a:extLst>
              <a:ext uri="{FF2B5EF4-FFF2-40B4-BE49-F238E27FC236}">
                <a16:creationId xmlns:a16="http://schemas.microsoft.com/office/drawing/2014/main" id="{30B3B578-97BE-49C2-9077-63227E95C9F8}"/>
              </a:ext>
            </a:extLst>
          </p:cNvPr>
          <p:cNvSpPr>
            <a:spLocks noGrp="1"/>
          </p:cNvSpPr>
          <p:nvPr>
            <p:ph type="sldNum" sz="quarter" idx="12"/>
          </p:nvPr>
        </p:nvSpPr>
        <p:spPr/>
        <p:txBody>
          <a:bodyPr/>
          <a:lstStyle/>
          <a:p>
            <a:fld id="{FE1B3154-47D9-4402-8EDB-E791933DC0B9}" type="slidenum">
              <a:rPr lang="nl-BE" smtClean="0"/>
              <a:pPr/>
              <a:t>29</a:t>
            </a:fld>
            <a:endParaRPr lang="nl-BE"/>
          </a:p>
        </p:txBody>
      </p:sp>
      <p:pic>
        <p:nvPicPr>
          <p:cNvPr id="5" name="Afbeelding 5">
            <a:extLst>
              <a:ext uri="{FF2B5EF4-FFF2-40B4-BE49-F238E27FC236}">
                <a16:creationId xmlns:a16="http://schemas.microsoft.com/office/drawing/2014/main" id="{B1C8DCBC-C533-6DF4-485C-8EA52C4272DD}"/>
              </a:ext>
            </a:extLst>
          </p:cNvPr>
          <p:cNvPicPr>
            <a:picLocks noChangeAspect="1"/>
          </p:cNvPicPr>
          <p:nvPr/>
        </p:nvPicPr>
        <p:blipFill>
          <a:blip r:embed="rId2">
            <a:clrChange>
              <a:clrFrom>
                <a:srgbClr val="F0F0F0"/>
              </a:clrFrom>
              <a:clrTo>
                <a:srgbClr val="F0F0F0">
                  <a:alpha val="0"/>
                </a:srgbClr>
              </a:clrTo>
            </a:clrChange>
          </a:blip>
          <a:stretch>
            <a:fillRect/>
          </a:stretch>
        </p:blipFill>
        <p:spPr>
          <a:xfrm>
            <a:off x="1080052" y="2113808"/>
            <a:ext cx="10296938" cy="3016906"/>
          </a:xfrm>
          <a:prstGeom prst="rect">
            <a:avLst/>
          </a:prstGeom>
        </p:spPr>
      </p:pic>
      <p:sp>
        <p:nvSpPr>
          <p:cNvPr id="6" name="Tekstvak 5">
            <a:extLst>
              <a:ext uri="{FF2B5EF4-FFF2-40B4-BE49-F238E27FC236}">
                <a16:creationId xmlns:a16="http://schemas.microsoft.com/office/drawing/2014/main" id="{75652AC8-E642-EA7F-864E-58A29D6D5D5A}"/>
              </a:ext>
            </a:extLst>
          </p:cNvPr>
          <p:cNvSpPr txBox="1"/>
          <p:nvPr/>
        </p:nvSpPr>
        <p:spPr>
          <a:xfrm>
            <a:off x="229705" y="6612835"/>
            <a:ext cx="6895547"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hlinkClick r:id="rId3"/>
              </a:rPr>
              <a:t>https://pandas.pydata.org/docs/getting_started/index.html</a:t>
            </a:r>
            <a:endParaRPr lang="en-US" sz="800"/>
          </a:p>
        </p:txBody>
      </p:sp>
    </p:spTree>
    <p:extLst>
      <p:ext uri="{BB962C8B-B14F-4D97-AF65-F5344CB8AC3E}">
        <p14:creationId xmlns:p14="http://schemas.microsoft.com/office/powerpoint/2010/main" val="4173704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6ED9-20F4-4B08-8653-5DD612AEEDC8}"/>
              </a:ext>
            </a:extLst>
          </p:cNvPr>
          <p:cNvSpPr>
            <a:spLocks noGrp="1"/>
          </p:cNvSpPr>
          <p:nvPr>
            <p:ph type="title"/>
          </p:nvPr>
        </p:nvSpPr>
        <p:spPr/>
        <p:txBody>
          <a:bodyPr/>
          <a:lstStyle/>
          <a:p>
            <a:r>
              <a:rPr lang="en-US" noProof="0" dirty="0"/>
              <a:t>Reading data from CSVs</a:t>
            </a:r>
          </a:p>
        </p:txBody>
      </p:sp>
      <p:sp>
        <p:nvSpPr>
          <p:cNvPr id="3" name="Content Placeholder 2">
            <a:extLst>
              <a:ext uri="{FF2B5EF4-FFF2-40B4-BE49-F238E27FC236}">
                <a16:creationId xmlns:a16="http://schemas.microsoft.com/office/drawing/2014/main" id="{1137DA3A-1DE9-4FFF-9474-D54BA2A3A561}"/>
              </a:ext>
            </a:extLst>
          </p:cNvPr>
          <p:cNvSpPr>
            <a:spLocks noGrp="1"/>
          </p:cNvSpPr>
          <p:nvPr>
            <p:ph idx="1"/>
          </p:nvPr>
        </p:nvSpPr>
        <p:spPr/>
        <p:txBody>
          <a:bodyPr/>
          <a:lstStyle/>
          <a:p>
            <a:r>
              <a:rPr lang="en-US" noProof="0" dirty="0"/>
              <a:t>With CSV files all you need is a single line to load in the data:</a:t>
            </a:r>
          </a:p>
          <a:p>
            <a:pPr marL="0" indent="0">
              <a:buNone/>
            </a:pPr>
            <a:br>
              <a:rPr lang="en-US" noProof="0" dirty="0"/>
            </a:br>
            <a:br>
              <a:rPr lang="en-US" noProof="0" dirty="0"/>
            </a:br>
            <a:br>
              <a:rPr lang="en-US" noProof="0" dirty="0"/>
            </a:br>
            <a:endParaRPr lang="en-US" noProof="0" dirty="0"/>
          </a:p>
          <a:p>
            <a:r>
              <a:rPr lang="en-US" noProof="0" dirty="0"/>
              <a:t>CSVs don't have indexes like our </a:t>
            </a:r>
            <a:r>
              <a:rPr lang="en-US" noProof="0" dirty="0" err="1"/>
              <a:t>DataFrames</a:t>
            </a:r>
            <a:r>
              <a:rPr lang="en-US" noProof="0" dirty="0"/>
              <a:t>, so you need to designate the </a:t>
            </a:r>
            <a:r>
              <a:rPr lang="en-US" noProof="0" dirty="0" err="1"/>
              <a:t>index_col</a:t>
            </a:r>
            <a:r>
              <a:rPr lang="en-US" noProof="0" dirty="0"/>
              <a:t> when reading:</a:t>
            </a:r>
            <a:br>
              <a:rPr lang="en-US" noProof="0" dirty="0"/>
            </a:br>
            <a:endParaRPr lang="en-US" noProof="0" dirty="0"/>
          </a:p>
        </p:txBody>
      </p:sp>
      <p:sp>
        <p:nvSpPr>
          <p:cNvPr id="4" name="Slide Number Placeholder 3">
            <a:extLst>
              <a:ext uri="{FF2B5EF4-FFF2-40B4-BE49-F238E27FC236}">
                <a16:creationId xmlns:a16="http://schemas.microsoft.com/office/drawing/2014/main" id="{30B3B578-97BE-49C2-9077-63227E95C9F8}"/>
              </a:ext>
            </a:extLst>
          </p:cNvPr>
          <p:cNvSpPr>
            <a:spLocks noGrp="1"/>
          </p:cNvSpPr>
          <p:nvPr>
            <p:ph type="sldNum" sz="quarter" idx="12"/>
          </p:nvPr>
        </p:nvSpPr>
        <p:spPr/>
        <p:txBody>
          <a:bodyPr/>
          <a:lstStyle/>
          <a:p>
            <a:fld id="{FE1B3154-47D9-4402-8EDB-E791933DC0B9}" type="slidenum">
              <a:rPr lang="nl-BE" smtClean="0"/>
              <a:pPr/>
              <a:t>30</a:t>
            </a:fld>
            <a:endParaRPr lang="nl-BE"/>
          </a:p>
        </p:txBody>
      </p:sp>
      <p:pic>
        <p:nvPicPr>
          <p:cNvPr id="17" name="Picture 16">
            <a:extLst>
              <a:ext uri="{FF2B5EF4-FFF2-40B4-BE49-F238E27FC236}">
                <a16:creationId xmlns:a16="http://schemas.microsoft.com/office/drawing/2014/main" id="{0D5035C0-E5BC-4360-AB97-671E819CAAE3}"/>
              </a:ext>
            </a:extLst>
          </p:cNvPr>
          <p:cNvPicPr>
            <a:picLocks noChangeAspect="1"/>
          </p:cNvPicPr>
          <p:nvPr/>
        </p:nvPicPr>
        <p:blipFill rotWithShape="1">
          <a:blip r:embed="rId2"/>
          <a:srcRect l="4529"/>
          <a:stretch/>
        </p:blipFill>
        <p:spPr>
          <a:xfrm>
            <a:off x="6514278" y="2069224"/>
            <a:ext cx="2409825" cy="1485900"/>
          </a:xfrm>
          <a:prstGeom prst="rect">
            <a:avLst/>
          </a:prstGeom>
        </p:spPr>
      </p:pic>
      <p:sp>
        <p:nvSpPr>
          <p:cNvPr id="19" name="TextBox 18">
            <a:extLst>
              <a:ext uri="{FF2B5EF4-FFF2-40B4-BE49-F238E27FC236}">
                <a16:creationId xmlns:a16="http://schemas.microsoft.com/office/drawing/2014/main" id="{C6A19AF4-9D07-4253-88F8-7E14B72B5AB0}"/>
              </a:ext>
            </a:extLst>
          </p:cNvPr>
          <p:cNvSpPr txBox="1"/>
          <p:nvPr/>
        </p:nvSpPr>
        <p:spPr>
          <a:xfrm>
            <a:off x="975428" y="2612119"/>
            <a:ext cx="5031828" cy="400110"/>
          </a:xfrm>
          <a:prstGeom prst="rect">
            <a:avLst/>
          </a:prstGeom>
          <a:noFill/>
          <a:ln>
            <a:solidFill>
              <a:srgbClr val="446785"/>
            </a:solidFill>
          </a:ln>
        </p:spPr>
        <p:txBody>
          <a:bodyPr wrap="square">
            <a:spAutoFit/>
          </a:bodyPr>
          <a:lstStyle/>
          <a:p>
            <a:r>
              <a:rPr lang="en-US" sz="2000" b="0" i="0">
                <a:solidFill>
                  <a:srgbClr val="4D4D4C"/>
                </a:solidFill>
                <a:effectLst/>
                <a:latin typeface="Monaco"/>
              </a:rPr>
              <a:t>df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pd.</a:t>
            </a:r>
            <a:r>
              <a:rPr lang="en-US" sz="2000" b="0" i="0" err="1">
                <a:solidFill>
                  <a:srgbClr val="4271AE"/>
                </a:solidFill>
                <a:effectLst/>
                <a:latin typeface="Monaco"/>
              </a:rPr>
              <a:t>read_csv</a:t>
            </a:r>
            <a:r>
              <a:rPr lang="en-US" sz="2000" b="0" i="0">
                <a:solidFill>
                  <a:srgbClr val="4D4D4C"/>
                </a:solidFill>
                <a:effectLst/>
                <a:latin typeface="Monaco"/>
              </a:rPr>
              <a:t>(</a:t>
            </a:r>
            <a:r>
              <a:rPr lang="en-US" sz="2000" b="0" i="0">
                <a:solidFill>
                  <a:srgbClr val="718C00"/>
                </a:solidFill>
                <a:effectLst/>
                <a:latin typeface="Monaco"/>
              </a:rPr>
              <a:t>'purchases.csv'</a:t>
            </a:r>
            <a:r>
              <a:rPr lang="en-US" sz="2000" b="0" i="0">
                <a:solidFill>
                  <a:srgbClr val="4D4D4C"/>
                </a:solidFill>
                <a:effectLst/>
                <a:latin typeface="Monaco"/>
              </a:rPr>
              <a:t>)</a:t>
            </a:r>
            <a:endParaRPr lang="en-US" sz="2000"/>
          </a:p>
        </p:txBody>
      </p:sp>
      <p:sp>
        <p:nvSpPr>
          <p:cNvPr id="21" name="TextBox 20">
            <a:extLst>
              <a:ext uri="{FF2B5EF4-FFF2-40B4-BE49-F238E27FC236}">
                <a16:creationId xmlns:a16="http://schemas.microsoft.com/office/drawing/2014/main" id="{3C464E93-DAA0-438A-9E32-12E48845B504}"/>
              </a:ext>
            </a:extLst>
          </p:cNvPr>
          <p:cNvSpPr txBox="1"/>
          <p:nvPr/>
        </p:nvSpPr>
        <p:spPr>
          <a:xfrm>
            <a:off x="885497" y="4962091"/>
            <a:ext cx="5121759" cy="400110"/>
          </a:xfrm>
          <a:prstGeom prst="rect">
            <a:avLst/>
          </a:prstGeom>
          <a:noFill/>
          <a:ln>
            <a:solidFill>
              <a:srgbClr val="446785"/>
            </a:solidFill>
          </a:ln>
        </p:spPr>
        <p:txBody>
          <a:bodyPr wrap="square">
            <a:spAutoFit/>
          </a:bodyPr>
          <a:lstStyle/>
          <a:p>
            <a:r>
              <a:rPr lang="en-US" sz="2000" b="0" i="0">
                <a:solidFill>
                  <a:srgbClr val="4D4D4C"/>
                </a:solidFill>
                <a:effectLst/>
                <a:latin typeface="Monaco"/>
              </a:rPr>
              <a:t>df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pd.</a:t>
            </a:r>
            <a:r>
              <a:rPr lang="en-US" sz="2000" b="0" i="0" err="1">
                <a:solidFill>
                  <a:srgbClr val="4271AE"/>
                </a:solidFill>
                <a:effectLst/>
                <a:latin typeface="Monaco"/>
              </a:rPr>
              <a:t>read_csv</a:t>
            </a:r>
            <a:r>
              <a:rPr lang="en-US" sz="2000" b="0" i="0">
                <a:solidFill>
                  <a:srgbClr val="4D4D4C"/>
                </a:solidFill>
                <a:effectLst/>
                <a:latin typeface="Monaco"/>
              </a:rPr>
              <a:t>(</a:t>
            </a:r>
            <a:r>
              <a:rPr lang="en-US" sz="2000" b="0" i="0">
                <a:solidFill>
                  <a:srgbClr val="718C00"/>
                </a:solidFill>
                <a:effectLst/>
                <a:latin typeface="Monaco"/>
              </a:rPr>
              <a:t>'purchases.csv'</a:t>
            </a:r>
            <a:r>
              <a:rPr lang="en-US" sz="2000" b="0" i="0">
                <a:solidFill>
                  <a:srgbClr val="4D4D4C"/>
                </a:solidFill>
                <a:effectLst/>
                <a:latin typeface="Monaco"/>
              </a:rPr>
              <a:t>, </a:t>
            </a:r>
            <a:r>
              <a:rPr lang="en-US" sz="2000" b="0" i="0" err="1">
                <a:solidFill>
                  <a:srgbClr val="4D4D4C"/>
                </a:solidFill>
                <a:effectLst/>
                <a:latin typeface="Monaco"/>
              </a:rPr>
              <a:t>index_col</a:t>
            </a:r>
            <a:r>
              <a:rPr lang="en-US" sz="2000" b="0" i="0">
                <a:solidFill>
                  <a:srgbClr val="3E999F"/>
                </a:solidFill>
                <a:effectLst/>
                <a:latin typeface="Monaco"/>
              </a:rPr>
              <a:t>=</a:t>
            </a:r>
            <a:r>
              <a:rPr lang="en-US" sz="2000" b="0" i="0">
                <a:solidFill>
                  <a:srgbClr val="F5871F"/>
                </a:solidFill>
                <a:effectLst/>
                <a:latin typeface="Monaco"/>
              </a:rPr>
              <a:t>0</a:t>
            </a:r>
            <a:r>
              <a:rPr lang="en-US" sz="2000" b="0" i="0">
                <a:solidFill>
                  <a:srgbClr val="4D4D4C"/>
                </a:solidFill>
                <a:effectLst/>
                <a:latin typeface="Monaco"/>
              </a:rPr>
              <a:t>)</a:t>
            </a:r>
            <a:endParaRPr lang="en-US" sz="2000"/>
          </a:p>
        </p:txBody>
      </p:sp>
      <p:pic>
        <p:nvPicPr>
          <p:cNvPr id="23" name="Picture 22">
            <a:extLst>
              <a:ext uri="{FF2B5EF4-FFF2-40B4-BE49-F238E27FC236}">
                <a16:creationId xmlns:a16="http://schemas.microsoft.com/office/drawing/2014/main" id="{D524F4DB-B219-44A1-9BC0-1BCC3CF72DFC}"/>
              </a:ext>
            </a:extLst>
          </p:cNvPr>
          <p:cNvPicPr>
            <a:picLocks noChangeAspect="1"/>
          </p:cNvPicPr>
          <p:nvPr/>
        </p:nvPicPr>
        <p:blipFill>
          <a:blip r:embed="rId3"/>
          <a:stretch>
            <a:fillRect/>
          </a:stretch>
        </p:blipFill>
        <p:spPr>
          <a:xfrm>
            <a:off x="6419684" y="4604690"/>
            <a:ext cx="2409825" cy="1743075"/>
          </a:xfrm>
          <a:prstGeom prst="rect">
            <a:avLst/>
          </a:prstGeom>
        </p:spPr>
      </p:pic>
      <p:pic>
        <p:nvPicPr>
          <p:cNvPr id="25" name="Picture 24">
            <a:extLst>
              <a:ext uri="{FF2B5EF4-FFF2-40B4-BE49-F238E27FC236}">
                <a16:creationId xmlns:a16="http://schemas.microsoft.com/office/drawing/2014/main" id="{8B551B30-7190-474C-8662-6F29ACBD7473}"/>
              </a:ext>
            </a:extLst>
          </p:cNvPr>
          <p:cNvPicPr>
            <a:picLocks noChangeAspect="1"/>
          </p:cNvPicPr>
          <p:nvPr/>
        </p:nvPicPr>
        <p:blipFill>
          <a:blip r:embed="rId4"/>
          <a:stretch>
            <a:fillRect/>
          </a:stretch>
        </p:blipFill>
        <p:spPr>
          <a:xfrm>
            <a:off x="6514277" y="256871"/>
            <a:ext cx="1890200" cy="1028269"/>
          </a:xfrm>
          <a:prstGeom prst="rect">
            <a:avLst/>
          </a:prstGeom>
        </p:spPr>
      </p:pic>
    </p:spTree>
    <p:extLst>
      <p:ext uri="{BB962C8B-B14F-4D97-AF65-F5344CB8AC3E}">
        <p14:creationId xmlns:p14="http://schemas.microsoft.com/office/powerpoint/2010/main" val="102833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6ED9-20F4-4B08-8653-5DD612AEEDC8}"/>
              </a:ext>
            </a:extLst>
          </p:cNvPr>
          <p:cNvSpPr>
            <a:spLocks noGrp="1"/>
          </p:cNvSpPr>
          <p:nvPr>
            <p:ph type="title"/>
          </p:nvPr>
        </p:nvSpPr>
        <p:spPr/>
        <p:txBody>
          <a:bodyPr/>
          <a:lstStyle/>
          <a:p>
            <a:r>
              <a:rPr lang="en-US" noProof="0" dirty="0"/>
              <a:t>Reading data from JSON</a:t>
            </a:r>
          </a:p>
        </p:txBody>
      </p:sp>
      <p:sp>
        <p:nvSpPr>
          <p:cNvPr id="3" name="Content Placeholder 2">
            <a:extLst>
              <a:ext uri="{FF2B5EF4-FFF2-40B4-BE49-F238E27FC236}">
                <a16:creationId xmlns:a16="http://schemas.microsoft.com/office/drawing/2014/main" id="{1137DA3A-1DE9-4FFF-9474-D54BA2A3A561}"/>
              </a:ext>
            </a:extLst>
          </p:cNvPr>
          <p:cNvSpPr>
            <a:spLocks noGrp="1"/>
          </p:cNvSpPr>
          <p:nvPr>
            <p:ph idx="1"/>
          </p:nvPr>
        </p:nvSpPr>
        <p:spPr/>
        <p:txBody>
          <a:bodyPr>
            <a:normAutofit fontScale="92500"/>
          </a:bodyPr>
          <a:lstStyle/>
          <a:p>
            <a:r>
              <a:rPr lang="en-US" noProof="0" dirty="0"/>
              <a:t>If you have a JSON file pandas can read this just as easily.  </a:t>
            </a:r>
          </a:p>
          <a:p>
            <a:endParaRPr lang="en-US" noProof="0" dirty="0"/>
          </a:p>
          <a:p>
            <a:pPr marL="0" indent="0">
              <a:buNone/>
            </a:pPr>
            <a:endParaRPr lang="en-US" noProof="0" dirty="0"/>
          </a:p>
          <a:p>
            <a:pPr marL="0" indent="0">
              <a:buNone/>
            </a:pPr>
            <a:endParaRPr lang="en-US" noProof="0" dirty="0"/>
          </a:p>
          <a:p>
            <a:pPr marL="0" indent="0">
              <a:buNone/>
            </a:pPr>
            <a:endParaRPr lang="en-US" noProof="0" dirty="0"/>
          </a:p>
          <a:p>
            <a:r>
              <a:rPr lang="en-US" b="0" i="0" noProof="0" dirty="0">
                <a:solidFill>
                  <a:srgbClr val="333333"/>
                </a:solidFill>
                <a:effectLst/>
              </a:rPr>
              <a:t>Notice this time the index came correctly since JSON allows indexes to work through nesting.</a:t>
            </a:r>
          </a:p>
          <a:p>
            <a:endParaRPr lang="en-US" noProof="0" dirty="0"/>
          </a:p>
          <a:p>
            <a:r>
              <a:rPr lang="en-US" b="0" i="0" noProof="0" dirty="0">
                <a:solidFill>
                  <a:srgbClr val="05192D"/>
                </a:solidFill>
                <a:effectLst/>
                <a:latin typeface="Studio-Feixen-Sans"/>
              </a:rPr>
              <a:t>JSON isn't a tabular format. </a:t>
            </a:r>
            <a:r>
              <a:rPr lang="en-US" noProof="0" dirty="0"/>
              <a:t>When pandas cannot deduce the JSON structure, set the </a:t>
            </a:r>
            <a:r>
              <a:rPr lang="en-US" i="1" noProof="0" dirty="0"/>
              <a:t>orient</a:t>
            </a:r>
            <a:r>
              <a:rPr lang="en-US" noProof="0" dirty="0"/>
              <a:t> parameter. (</a:t>
            </a:r>
            <a:r>
              <a:rPr lang="en-US" noProof="0" dirty="0">
                <a:hlinkClick r:id="rId3"/>
              </a:rPr>
              <a:t>https://www.roelpeters.be/pandas-read-json-orient</a:t>
            </a:r>
            <a:r>
              <a:rPr lang="en-US" noProof="0" dirty="0"/>
              <a:t>)</a:t>
            </a:r>
          </a:p>
          <a:p>
            <a:endParaRPr lang="en-US" noProof="0" dirty="0"/>
          </a:p>
        </p:txBody>
      </p:sp>
      <p:sp>
        <p:nvSpPr>
          <p:cNvPr id="4" name="Slide Number Placeholder 3">
            <a:extLst>
              <a:ext uri="{FF2B5EF4-FFF2-40B4-BE49-F238E27FC236}">
                <a16:creationId xmlns:a16="http://schemas.microsoft.com/office/drawing/2014/main" id="{30B3B578-97BE-49C2-9077-63227E95C9F8}"/>
              </a:ext>
            </a:extLst>
          </p:cNvPr>
          <p:cNvSpPr>
            <a:spLocks noGrp="1"/>
          </p:cNvSpPr>
          <p:nvPr>
            <p:ph type="sldNum" sz="quarter" idx="12"/>
          </p:nvPr>
        </p:nvSpPr>
        <p:spPr/>
        <p:txBody>
          <a:bodyPr/>
          <a:lstStyle/>
          <a:p>
            <a:fld id="{FE1B3154-47D9-4402-8EDB-E791933DC0B9}" type="slidenum">
              <a:rPr lang="nl-BE" smtClean="0"/>
              <a:pPr/>
              <a:t>31</a:t>
            </a:fld>
            <a:endParaRPr lang="nl-BE"/>
          </a:p>
        </p:txBody>
      </p:sp>
      <p:pic>
        <p:nvPicPr>
          <p:cNvPr id="6" name="Picture 5">
            <a:extLst>
              <a:ext uri="{FF2B5EF4-FFF2-40B4-BE49-F238E27FC236}">
                <a16:creationId xmlns:a16="http://schemas.microsoft.com/office/drawing/2014/main" id="{71DDDAD7-8F3F-49AA-BCBC-30108D47F701}"/>
              </a:ext>
            </a:extLst>
          </p:cNvPr>
          <p:cNvPicPr>
            <a:picLocks noChangeAspect="1"/>
          </p:cNvPicPr>
          <p:nvPr/>
        </p:nvPicPr>
        <p:blipFill>
          <a:blip r:embed="rId4"/>
          <a:stretch>
            <a:fillRect/>
          </a:stretch>
        </p:blipFill>
        <p:spPr>
          <a:xfrm>
            <a:off x="6609857" y="99371"/>
            <a:ext cx="3059661" cy="1139460"/>
          </a:xfrm>
          <a:prstGeom prst="rect">
            <a:avLst/>
          </a:prstGeom>
        </p:spPr>
      </p:pic>
      <p:sp>
        <p:nvSpPr>
          <p:cNvPr id="12" name="TextBox 11">
            <a:extLst>
              <a:ext uri="{FF2B5EF4-FFF2-40B4-BE49-F238E27FC236}">
                <a16:creationId xmlns:a16="http://schemas.microsoft.com/office/drawing/2014/main" id="{043DA127-9057-4386-8DC2-303894ED50C1}"/>
              </a:ext>
            </a:extLst>
          </p:cNvPr>
          <p:cNvSpPr txBox="1"/>
          <p:nvPr/>
        </p:nvSpPr>
        <p:spPr>
          <a:xfrm>
            <a:off x="864476" y="2474451"/>
            <a:ext cx="4674476" cy="400110"/>
          </a:xfrm>
          <a:prstGeom prst="rect">
            <a:avLst/>
          </a:prstGeom>
          <a:noFill/>
          <a:ln>
            <a:solidFill>
              <a:srgbClr val="446785"/>
            </a:solidFill>
          </a:ln>
        </p:spPr>
        <p:txBody>
          <a:bodyPr wrap="square">
            <a:spAutoFit/>
          </a:bodyPr>
          <a:lstStyle/>
          <a:p>
            <a:r>
              <a:rPr lang="en-US" sz="2000" b="0" i="0">
                <a:solidFill>
                  <a:srgbClr val="4D4D4C"/>
                </a:solidFill>
                <a:effectLst/>
                <a:latin typeface="Monaco"/>
              </a:rPr>
              <a:t>df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pd.</a:t>
            </a:r>
            <a:r>
              <a:rPr lang="en-US" sz="2000" b="0" i="0" err="1">
                <a:solidFill>
                  <a:srgbClr val="4271AE"/>
                </a:solidFill>
                <a:effectLst/>
                <a:latin typeface="Monaco"/>
              </a:rPr>
              <a:t>read_json</a:t>
            </a:r>
            <a:r>
              <a:rPr lang="en-US" sz="2000" b="0" i="0">
                <a:solidFill>
                  <a:srgbClr val="4D4D4C"/>
                </a:solidFill>
                <a:effectLst/>
                <a:latin typeface="Monaco"/>
              </a:rPr>
              <a:t>(</a:t>
            </a:r>
            <a:r>
              <a:rPr lang="en-US" sz="2000" b="0" i="0">
                <a:solidFill>
                  <a:srgbClr val="718C00"/>
                </a:solidFill>
                <a:effectLst/>
                <a:latin typeface="Monaco"/>
              </a:rPr>
              <a:t>'</a:t>
            </a:r>
            <a:r>
              <a:rPr lang="en-US" sz="2000" b="0" i="0" err="1">
                <a:solidFill>
                  <a:srgbClr val="718C00"/>
                </a:solidFill>
                <a:effectLst/>
                <a:latin typeface="Monaco"/>
              </a:rPr>
              <a:t>purchases.json</a:t>
            </a:r>
            <a:r>
              <a:rPr lang="en-US" sz="2000" b="0" i="0">
                <a:solidFill>
                  <a:srgbClr val="718C00"/>
                </a:solidFill>
                <a:effectLst/>
                <a:latin typeface="Monaco"/>
              </a:rPr>
              <a:t>'</a:t>
            </a:r>
            <a:r>
              <a:rPr lang="en-US" sz="2000" b="0" i="0">
                <a:solidFill>
                  <a:srgbClr val="4D4D4C"/>
                </a:solidFill>
                <a:effectLst/>
                <a:latin typeface="Monaco"/>
              </a:rPr>
              <a:t>)</a:t>
            </a:r>
            <a:endParaRPr lang="en-US" sz="2000"/>
          </a:p>
        </p:txBody>
      </p:sp>
      <p:pic>
        <p:nvPicPr>
          <p:cNvPr id="10" name="Picture 9">
            <a:extLst>
              <a:ext uri="{FF2B5EF4-FFF2-40B4-BE49-F238E27FC236}">
                <a16:creationId xmlns:a16="http://schemas.microsoft.com/office/drawing/2014/main" id="{F98CA115-E0F9-4106-B9E3-047EBBE1C7C5}"/>
              </a:ext>
            </a:extLst>
          </p:cNvPr>
          <p:cNvPicPr>
            <a:picLocks noChangeAspect="1"/>
          </p:cNvPicPr>
          <p:nvPr/>
        </p:nvPicPr>
        <p:blipFill>
          <a:blip r:embed="rId5"/>
          <a:stretch>
            <a:fillRect/>
          </a:stretch>
        </p:blipFill>
        <p:spPr>
          <a:xfrm>
            <a:off x="6427926" y="2035394"/>
            <a:ext cx="2143125" cy="1504950"/>
          </a:xfrm>
          <a:prstGeom prst="rect">
            <a:avLst/>
          </a:prstGeom>
        </p:spPr>
      </p:pic>
    </p:spTree>
    <p:extLst>
      <p:ext uri="{BB962C8B-B14F-4D97-AF65-F5344CB8AC3E}">
        <p14:creationId xmlns:p14="http://schemas.microsoft.com/office/powerpoint/2010/main" val="1824633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45A1-1560-6878-C277-529F71EFA40F}"/>
              </a:ext>
            </a:extLst>
          </p:cNvPr>
          <p:cNvSpPr>
            <a:spLocks noGrp="1"/>
          </p:cNvSpPr>
          <p:nvPr>
            <p:ph type="title"/>
          </p:nvPr>
        </p:nvSpPr>
        <p:spPr/>
        <p:txBody>
          <a:bodyPr/>
          <a:lstStyle/>
          <a:p>
            <a:r>
              <a:rPr lang="en-US" noProof="0" dirty="0"/>
              <a:t>Reading data from databases</a:t>
            </a:r>
          </a:p>
        </p:txBody>
      </p:sp>
      <p:sp>
        <p:nvSpPr>
          <p:cNvPr id="3" name="Content Placeholder 2">
            <a:extLst>
              <a:ext uri="{FF2B5EF4-FFF2-40B4-BE49-F238E27FC236}">
                <a16:creationId xmlns:a16="http://schemas.microsoft.com/office/drawing/2014/main" id="{A70D9F5C-085D-D54B-F036-481C3A614890}"/>
              </a:ext>
            </a:extLst>
          </p:cNvPr>
          <p:cNvSpPr>
            <a:spLocks noGrp="1"/>
          </p:cNvSpPr>
          <p:nvPr>
            <p:ph idx="1"/>
          </p:nvPr>
        </p:nvSpPr>
        <p:spPr/>
        <p:txBody>
          <a:bodyPr/>
          <a:lstStyle/>
          <a:p>
            <a:r>
              <a:rPr lang="en-US" noProof="0" dirty="0"/>
              <a:t>You can use any database, but we’ll be using SQLite</a:t>
            </a:r>
          </a:p>
          <a:p>
            <a:pPr lvl="1"/>
            <a:r>
              <a:rPr lang="en-US" noProof="0" dirty="0"/>
              <a:t>No installation required, the entire database is contained in a file that you can open using portable software</a:t>
            </a:r>
          </a:p>
          <a:p>
            <a:pPr lvl="1"/>
            <a:r>
              <a:rPr lang="en-US" noProof="0" dirty="0">
                <a:hlinkClick r:id="rId2"/>
              </a:rPr>
              <a:t>https://sqlitebrowser.org/</a:t>
            </a:r>
            <a:endParaRPr lang="en-US" noProof="0" dirty="0"/>
          </a:p>
          <a:p>
            <a:r>
              <a:rPr lang="en-US" noProof="0" dirty="0"/>
              <a:t>We’re using 2 tables and yes, they are badly normalized</a:t>
            </a:r>
          </a:p>
          <a:p>
            <a:endParaRPr lang="en-US" noProof="0" dirty="0"/>
          </a:p>
        </p:txBody>
      </p:sp>
      <p:sp>
        <p:nvSpPr>
          <p:cNvPr id="4" name="Slide Number Placeholder 3">
            <a:extLst>
              <a:ext uri="{FF2B5EF4-FFF2-40B4-BE49-F238E27FC236}">
                <a16:creationId xmlns:a16="http://schemas.microsoft.com/office/drawing/2014/main" id="{446A5D58-1144-F051-08BB-D383D71F9231}"/>
              </a:ext>
            </a:extLst>
          </p:cNvPr>
          <p:cNvSpPr>
            <a:spLocks noGrp="1"/>
          </p:cNvSpPr>
          <p:nvPr>
            <p:ph type="sldNum" sz="quarter" idx="12"/>
          </p:nvPr>
        </p:nvSpPr>
        <p:spPr/>
        <p:txBody>
          <a:bodyPr/>
          <a:lstStyle/>
          <a:p>
            <a:fld id="{FE1B3154-47D9-4402-8EDB-E791933DC0B9}" type="slidenum">
              <a:rPr lang="nl-BE" smtClean="0"/>
              <a:pPr/>
              <a:t>32</a:t>
            </a:fld>
            <a:endParaRPr lang="nl-BE"/>
          </a:p>
        </p:txBody>
      </p:sp>
      <p:pic>
        <p:nvPicPr>
          <p:cNvPr id="6" name="Picture 5">
            <a:extLst>
              <a:ext uri="{FF2B5EF4-FFF2-40B4-BE49-F238E27FC236}">
                <a16:creationId xmlns:a16="http://schemas.microsoft.com/office/drawing/2014/main" id="{633A5C70-B525-4D27-5E51-D1A0E495BAF9}"/>
              </a:ext>
            </a:extLst>
          </p:cNvPr>
          <p:cNvPicPr>
            <a:picLocks noChangeAspect="1"/>
          </p:cNvPicPr>
          <p:nvPr/>
        </p:nvPicPr>
        <p:blipFill>
          <a:blip r:embed="rId3"/>
          <a:stretch>
            <a:fillRect/>
          </a:stretch>
        </p:blipFill>
        <p:spPr>
          <a:xfrm>
            <a:off x="2404645" y="4437424"/>
            <a:ext cx="1428949" cy="1524213"/>
          </a:xfrm>
          <a:prstGeom prst="rect">
            <a:avLst/>
          </a:prstGeom>
        </p:spPr>
      </p:pic>
      <p:pic>
        <p:nvPicPr>
          <p:cNvPr id="8" name="Picture 7">
            <a:extLst>
              <a:ext uri="{FF2B5EF4-FFF2-40B4-BE49-F238E27FC236}">
                <a16:creationId xmlns:a16="http://schemas.microsoft.com/office/drawing/2014/main" id="{FB2197DC-1995-D933-AADE-7AF70D7FA50D}"/>
              </a:ext>
            </a:extLst>
          </p:cNvPr>
          <p:cNvPicPr>
            <a:picLocks noChangeAspect="1"/>
          </p:cNvPicPr>
          <p:nvPr/>
        </p:nvPicPr>
        <p:blipFill>
          <a:blip r:embed="rId4"/>
          <a:stretch>
            <a:fillRect/>
          </a:stretch>
        </p:blipFill>
        <p:spPr>
          <a:xfrm>
            <a:off x="5273788" y="3956345"/>
            <a:ext cx="2924583" cy="2486372"/>
          </a:xfrm>
          <a:prstGeom prst="rect">
            <a:avLst/>
          </a:prstGeom>
        </p:spPr>
      </p:pic>
    </p:spTree>
    <p:extLst>
      <p:ext uri="{BB962C8B-B14F-4D97-AF65-F5344CB8AC3E}">
        <p14:creationId xmlns:p14="http://schemas.microsoft.com/office/powerpoint/2010/main" val="977957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A571-9F86-D33E-DA3A-0DA7816372A5}"/>
              </a:ext>
            </a:extLst>
          </p:cNvPr>
          <p:cNvSpPr>
            <a:spLocks noGrp="1"/>
          </p:cNvSpPr>
          <p:nvPr>
            <p:ph type="title"/>
          </p:nvPr>
        </p:nvSpPr>
        <p:spPr/>
        <p:txBody>
          <a:bodyPr/>
          <a:lstStyle/>
          <a:p>
            <a:r>
              <a:rPr lang="en-US" noProof="0" dirty="0"/>
              <a:t>Reading data from databases</a:t>
            </a:r>
          </a:p>
        </p:txBody>
      </p:sp>
      <p:sp>
        <p:nvSpPr>
          <p:cNvPr id="3" name="Content Placeholder 2">
            <a:extLst>
              <a:ext uri="{FF2B5EF4-FFF2-40B4-BE49-F238E27FC236}">
                <a16:creationId xmlns:a16="http://schemas.microsoft.com/office/drawing/2014/main" id="{EB366C60-56D5-CCF9-4F4C-E534551A9004}"/>
              </a:ext>
            </a:extLst>
          </p:cNvPr>
          <p:cNvSpPr>
            <a:spLocks noGrp="1"/>
          </p:cNvSpPr>
          <p:nvPr>
            <p:ph idx="1"/>
          </p:nvPr>
        </p:nvSpPr>
        <p:spPr>
          <a:xfrm>
            <a:off x="582705" y="4297680"/>
            <a:ext cx="11291048" cy="1879283"/>
          </a:xfrm>
        </p:spPr>
        <p:txBody>
          <a:bodyPr>
            <a:normAutofit fontScale="92500"/>
          </a:bodyPr>
          <a:lstStyle/>
          <a:p>
            <a:r>
              <a:rPr lang="en-US" noProof="0" dirty="0"/>
              <a:t>The resulting </a:t>
            </a:r>
            <a:r>
              <a:rPr lang="en-US" noProof="0" dirty="0" err="1"/>
              <a:t>dataframe</a:t>
            </a:r>
            <a:r>
              <a:rPr lang="en-US" noProof="0" dirty="0"/>
              <a:t> is different from what we got from a CSV-file</a:t>
            </a:r>
          </a:p>
          <a:p>
            <a:pPr lvl="1"/>
            <a:r>
              <a:rPr lang="en-US" noProof="0" dirty="0"/>
              <a:t>That’s because of how normalized data works</a:t>
            </a:r>
          </a:p>
          <a:p>
            <a:r>
              <a:rPr lang="en-US" noProof="0" dirty="0"/>
              <a:t>We could fix this using the techniques that follow in this and the next chapter</a:t>
            </a:r>
          </a:p>
          <a:p>
            <a:pPr lvl="1"/>
            <a:r>
              <a:rPr lang="en-US" noProof="0" dirty="0"/>
              <a:t>But for now it’s a good enough proof of concept</a:t>
            </a:r>
          </a:p>
          <a:p>
            <a:endParaRPr lang="en-US" noProof="0" dirty="0"/>
          </a:p>
        </p:txBody>
      </p:sp>
      <p:sp>
        <p:nvSpPr>
          <p:cNvPr id="4" name="Slide Number Placeholder 3">
            <a:extLst>
              <a:ext uri="{FF2B5EF4-FFF2-40B4-BE49-F238E27FC236}">
                <a16:creationId xmlns:a16="http://schemas.microsoft.com/office/drawing/2014/main" id="{0602618D-3320-151F-69B0-2EAE3CC7BAEA}"/>
              </a:ext>
            </a:extLst>
          </p:cNvPr>
          <p:cNvSpPr>
            <a:spLocks noGrp="1"/>
          </p:cNvSpPr>
          <p:nvPr>
            <p:ph type="sldNum" sz="quarter" idx="12"/>
          </p:nvPr>
        </p:nvSpPr>
        <p:spPr/>
        <p:txBody>
          <a:bodyPr/>
          <a:lstStyle/>
          <a:p>
            <a:fld id="{FE1B3154-47D9-4402-8EDB-E791933DC0B9}" type="slidenum">
              <a:rPr lang="nl-BE" smtClean="0"/>
              <a:pPr/>
              <a:t>33</a:t>
            </a:fld>
            <a:endParaRPr lang="nl-BE"/>
          </a:p>
        </p:txBody>
      </p:sp>
      <p:sp>
        <p:nvSpPr>
          <p:cNvPr id="6" name="TextBox 5">
            <a:extLst>
              <a:ext uri="{FF2B5EF4-FFF2-40B4-BE49-F238E27FC236}">
                <a16:creationId xmlns:a16="http://schemas.microsoft.com/office/drawing/2014/main" id="{CFD13592-C935-269A-51B7-A857E7068E58}"/>
              </a:ext>
            </a:extLst>
          </p:cNvPr>
          <p:cNvSpPr txBox="1"/>
          <p:nvPr/>
        </p:nvSpPr>
        <p:spPr>
          <a:xfrm>
            <a:off x="582705" y="1550894"/>
            <a:ext cx="7790180" cy="2031325"/>
          </a:xfrm>
          <a:prstGeom prst="rect">
            <a:avLst/>
          </a:prstGeom>
          <a:noFill/>
        </p:spPr>
        <p:txBody>
          <a:bodyPr wrap="square">
            <a:spAutoFit/>
          </a:bodyPr>
          <a:lstStyle/>
          <a:p>
            <a:r>
              <a:rPr lang="nl-BE" b="0" dirty="0">
                <a:solidFill>
                  <a:srgbClr val="AF00DB"/>
                </a:solidFill>
                <a:effectLst/>
                <a:latin typeface="Consolas" panose="020B0609020204030204" pitchFamily="49" charset="0"/>
              </a:rPr>
              <a:t>import</a:t>
            </a:r>
            <a:r>
              <a:rPr lang="nl-BE" b="0" dirty="0">
                <a:solidFill>
                  <a:srgbClr val="000000"/>
                </a:solidFill>
                <a:effectLst/>
                <a:latin typeface="Consolas" panose="020B0609020204030204" pitchFamily="49" charset="0"/>
              </a:rPr>
              <a:t> </a:t>
            </a:r>
            <a:r>
              <a:rPr lang="nl-BE" b="0" dirty="0">
                <a:solidFill>
                  <a:srgbClr val="267F99"/>
                </a:solidFill>
                <a:effectLst/>
                <a:latin typeface="Consolas" panose="020B0609020204030204" pitchFamily="49" charset="0"/>
              </a:rPr>
              <a:t>sqlite3</a:t>
            </a:r>
            <a:endParaRPr lang="nl-BE" b="0" dirty="0">
              <a:solidFill>
                <a:srgbClr val="000000"/>
              </a:solidFill>
              <a:effectLst/>
              <a:latin typeface="Consolas" panose="020B0609020204030204" pitchFamily="49" charset="0"/>
            </a:endParaRPr>
          </a:p>
          <a:p>
            <a:br>
              <a:rPr lang="nl-BE" b="0" dirty="0">
                <a:solidFill>
                  <a:srgbClr val="000000"/>
                </a:solidFill>
                <a:effectLst/>
                <a:latin typeface="Consolas" panose="020B0609020204030204" pitchFamily="49" charset="0"/>
              </a:rPr>
            </a:br>
            <a:r>
              <a:rPr lang="nl-BE" b="0" dirty="0">
                <a:solidFill>
                  <a:srgbClr val="001080"/>
                </a:solidFill>
                <a:effectLst/>
                <a:latin typeface="Consolas" panose="020B0609020204030204" pitchFamily="49" charset="0"/>
              </a:rPr>
              <a:t>con</a:t>
            </a:r>
            <a:r>
              <a:rPr lang="nl-BE" b="0" dirty="0">
                <a:solidFill>
                  <a:srgbClr val="000000"/>
                </a:solidFill>
                <a:effectLst/>
                <a:latin typeface="Consolas" panose="020B0609020204030204" pitchFamily="49" charset="0"/>
              </a:rPr>
              <a:t> = </a:t>
            </a:r>
            <a:r>
              <a:rPr lang="nl-BE" b="0" dirty="0">
                <a:solidFill>
                  <a:srgbClr val="267F99"/>
                </a:solidFill>
                <a:effectLst/>
                <a:latin typeface="Consolas" panose="020B0609020204030204" pitchFamily="49" charset="0"/>
              </a:rPr>
              <a:t>sqlite3</a:t>
            </a:r>
            <a:r>
              <a:rPr lang="nl-BE" b="0" dirty="0">
                <a:solidFill>
                  <a:srgbClr val="000000"/>
                </a:solidFill>
                <a:effectLst/>
                <a:latin typeface="Consolas" panose="020B0609020204030204" pitchFamily="49" charset="0"/>
              </a:rPr>
              <a:t>.</a:t>
            </a:r>
            <a:r>
              <a:rPr lang="nl-BE" b="0" dirty="0">
                <a:solidFill>
                  <a:srgbClr val="795E26"/>
                </a:solidFill>
                <a:effectLst/>
                <a:latin typeface="Consolas" panose="020B0609020204030204" pitchFamily="49" charset="0"/>
              </a:rPr>
              <a:t>connect</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purchases.db</a:t>
            </a:r>
            <a:r>
              <a:rPr lang="nl-BE" b="0" dirty="0">
                <a:solidFill>
                  <a:srgbClr val="A31515"/>
                </a:solidFill>
                <a:effectLst/>
                <a:latin typeface="Consolas" panose="020B0609020204030204" pitchFamily="49" charset="0"/>
              </a:rPr>
              <a:t>"</a:t>
            </a:r>
            <a:r>
              <a:rPr lang="nl-BE" b="0" dirty="0">
                <a:solidFill>
                  <a:srgbClr val="000000"/>
                </a:solidFill>
                <a:effectLst/>
                <a:latin typeface="Consolas" panose="020B0609020204030204" pitchFamily="49" charset="0"/>
              </a:rPr>
              <a:t>)</a:t>
            </a:r>
          </a:p>
          <a:p>
            <a:r>
              <a:rPr lang="nl-BE" b="0" dirty="0" err="1">
                <a:solidFill>
                  <a:srgbClr val="001080"/>
                </a:solidFill>
                <a:effectLst/>
                <a:latin typeface="Consolas" panose="020B0609020204030204" pitchFamily="49" charset="0"/>
              </a:rPr>
              <a:t>df</a:t>
            </a:r>
            <a:r>
              <a:rPr lang="nl-BE" b="0" dirty="0">
                <a:solidFill>
                  <a:srgbClr val="000000"/>
                </a:solidFill>
                <a:effectLst/>
                <a:latin typeface="Consolas" panose="020B0609020204030204" pitchFamily="49" charset="0"/>
              </a:rPr>
              <a:t> = </a:t>
            </a:r>
            <a:r>
              <a:rPr lang="nl-BE" b="0" dirty="0" err="1">
                <a:solidFill>
                  <a:srgbClr val="267F99"/>
                </a:solidFill>
                <a:effectLst/>
                <a:latin typeface="Consolas" panose="020B0609020204030204" pitchFamily="49" charset="0"/>
              </a:rPr>
              <a:t>pd</a:t>
            </a:r>
            <a:r>
              <a:rPr lang="nl-BE" b="0" dirty="0" err="1">
                <a:solidFill>
                  <a:srgbClr val="000000"/>
                </a:solidFill>
                <a:effectLst/>
                <a:latin typeface="Consolas" panose="020B0609020204030204" pitchFamily="49" charset="0"/>
              </a:rPr>
              <a:t>.</a:t>
            </a:r>
            <a:r>
              <a:rPr lang="nl-BE" b="0" dirty="0" err="1">
                <a:solidFill>
                  <a:srgbClr val="795E26"/>
                </a:solidFill>
                <a:effectLst/>
                <a:latin typeface="Consolas" panose="020B0609020204030204" pitchFamily="49" charset="0"/>
              </a:rPr>
              <a:t>read_sql_query</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"SELECT c.name, </a:t>
            </a:r>
            <a:r>
              <a:rPr lang="nl-BE" b="0" dirty="0" err="1">
                <a:solidFill>
                  <a:srgbClr val="A31515"/>
                </a:solidFill>
                <a:effectLst/>
                <a:latin typeface="Consolas" panose="020B0609020204030204" pitchFamily="49" charset="0"/>
              </a:rPr>
              <a:t>p.quantity</a:t>
            </a:r>
            <a:r>
              <a:rPr lang="nl-BE" b="0" dirty="0">
                <a:solidFill>
                  <a:srgbClr val="A31515"/>
                </a:solidFill>
                <a:effectLst/>
                <a:latin typeface="Consolas" panose="020B0609020204030204" pitchFamily="49" charset="0"/>
              </a:rPr>
              <a:t>, </a:t>
            </a:r>
            <a:r>
              <a:rPr lang="nl-BE" b="0" dirty="0" err="1">
                <a:solidFill>
                  <a:srgbClr val="A31515"/>
                </a:solidFill>
                <a:effectLst/>
                <a:latin typeface="Consolas" panose="020B0609020204030204" pitchFamily="49" charset="0"/>
              </a:rPr>
              <a:t>p.fruit</a:t>
            </a:r>
            <a:r>
              <a:rPr lang="nl-BE" b="0" dirty="0">
                <a:solidFill>
                  <a:srgbClr val="A31515"/>
                </a:solidFill>
                <a:effectLst/>
                <a:latin typeface="Consolas" panose="020B0609020204030204" pitchFamily="49" charset="0"/>
              </a:rPr>
              <a:t> FROM </a:t>
            </a:r>
            <a:r>
              <a:rPr lang="nl-BE" b="0" dirty="0" err="1">
                <a:solidFill>
                  <a:srgbClr val="A31515"/>
                </a:solidFill>
                <a:effectLst/>
                <a:latin typeface="Consolas" panose="020B0609020204030204" pitchFamily="49" charset="0"/>
              </a:rPr>
              <a:t>customers</a:t>
            </a:r>
            <a:r>
              <a:rPr lang="nl-BE" b="0" dirty="0">
                <a:solidFill>
                  <a:srgbClr val="A31515"/>
                </a:solidFill>
                <a:effectLst/>
                <a:latin typeface="Consolas" panose="020B0609020204030204" pitchFamily="49" charset="0"/>
              </a:rPr>
              <a:t> c </a:t>
            </a:r>
            <a:r>
              <a:rPr lang="nl-BE" b="0" dirty="0" err="1">
                <a:solidFill>
                  <a:srgbClr val="A31515"/>
                </a:solidFill>
                <a:effectLst/>
                <a:latin typeface="Consolas" panose="020B0609020204030204" pitchFamily="49" charset="0"/>
              </a:rPr>
              <a:t>join</a:t>
            </a:r>
            <a:r>
              <a:rPr lang="nl-BE" b="0" dirty="0">
                <a:solidFill>
                  <a:srgbClr val="A31515"/>
                </a:solidFill>
                <a:effectLst/>
                <a:latin typeface="Consolas" panose="020B0609020204030204" pitchFamily="49" charset="0"/>
              </a:rPr>
              <a:t> </a:t>
            </a:r>
            <a:r>
              <a:rPr lang="nl-BE" b="0" dirty="0" err="1">
                <a:solidFill>
                  <a:srgbClr val="A31515"/>
                </a:solidFill>
                <a:effectLst/>
                <a:latin typeface="Consolas" panose="020B0609020204030204" pitchFamily="49" charset="0"/>
              </a:rPr>
              <a:t>purchases</a:t>
            </a:r>
            <a:r>
              <a:rPr lang="nl-BE" b="0" dirty="0">
                <a:solidFill>
                  <a:srgbClr val="A31515"/>
                </a:solidFill>
                <a:effectLst/>
                <a:latin typeface="Consolas" panose="020B0609020204030204" pitchFamily="49" charset="0"/>
              </a:rPr>
              <a:t> p on </a:t>
            </a:r>
            <a:r>
              <a:rPr lang="nl-BE" b="0" dirty="0" err="1">
                <a:solidFill>
                  <a:srgbClr val="A31515"/>
                </a:solidFill>
                <a:effectLst/>
                <a:latin typeface="Consolas" panose="020B0609020204030204" pitchFamily="49" charset="0"/>
              </a:rPr>
              <a:t>c.customerID</a:t>
            </a:r>
            <a:r>
              <a:rPr lang="nl-BE" b="0" dirty="0">
                <a:solidFill>
                  <a:srgbClr val="A31515"/>
                </a:solidFill>
                <a:effectLst/>
                <a:latin typeface="Consolas" panose="020B0609020204030204" pitchFamily="49" charset="0"/>
              </a:rPr>
              <a:t> = </a:t>
            </a:r>
            <a:r>
              <a:rPr lang="nl-BE" b="0" dirty="0" err="1">
                <a:solidFill>
                  <a:srgbClr val="A31515"/>
                </a:solidFill>
                <a:effectLst/>
                <a:latin typeface="Consolas" panose="020B0609020204030204" pitchFamily="49" charset="0"/>
              </a:rPr>
              <a:t>p.customerID</a:t>
            </a:r>
            <a:r>
              <a:rPr lang="nl-BE" b="0" dirty="0">
                <a:solidFill>
                  <a:srgbClr val="A31515"/>
                </a:solidFill>
                <a:effectLst/>
                <a:latin typeface="Consolas" panose="020B0609020204030204" pitchFamily="49" charset="0"/>
              </a:rPr>
              <a:t>"</a:t>
            </a:r>
            <a:r>
              <a:rPr lang="nl-BE" b="0" dirty="0">
                <a:solidFill>
                  <a:srgbClr val="000000"/>
                </a:solidFill>
                <a:effectLst/>
                <a:latin typeface="Consolas" panose="020B0609020204030204" pitchFamily="49" charset="0"/>
              </a:rPr>
              <a:t>, </a:t>
            </a:r>
            <a:r>
              <a:rPr lang="nl-BE" b="0" dirty="0">
                <a:solidFill>
                  <a:srgbClr val="001080"/>
                </a:solidFill>
                <a:effectLst/>
                <a:latin typeface="Consolas" panose="020B0609020204030204" pitchFamily="49" charset="0"/>
              </a:rPr>
              <a:t>con</a:t>
            </a:r>
            <a:r>
              <a:rPr lang="nl-BE" b="0" dirty="0">
                <a:solidFill>
                  <a:srgbClr val="000000"/>
                </a:solidFill>
                <a:effectLst/>
                <a:latin typeface="Consolas" panose="020B0609020204030204" pitchFamily="49" charset="0"/>
              </a:rPr>
              <a:t>)</a:t>
            </a:r>
          </a:p>
          <a:p>
            <a:r>
              <a:rPr lang="nl-BE" b="0" dirty="0" err="1">
                <a:solidFill>
                  <a:srgbClr val="001080"/>
                </a:solidFill>
                <a:effectLst/>
                <a:latin typeface="Consolas" panose="020B0609020204030204" pitchFamily="49" charset="0"/>
              </a:rPr>
              <a:t>df</a:t>
            </a:r>
            <a:endParaRPr lang="nl-BE" b="0" dirty="0">
              <a:solidFill>
                <a:srgbClr val="000000"/>
              </a:solidFill>
              <a:effectLst/>
              <a:latin typeface="Consolas" panose="020B0609020204030204" pitchFamily="49" charset="0"/>
            </a:endParaRPr>
          </a:p>
        </p:txBody>
      </p:sp>
      <p:pic>
        <p:nvPicPr>
          <p:cNvPr id="10" name="Picture 9">
            <a:extLst>
              <a:ext uri="{FF2B5EF4-FFF2-40B4-BE49-F238E27FC236}">
                <a16:creationId xmlns:a16="http://schemas.microsoft.com/office/drawing/2014/main" id="{8C640BA7-DD9A-D31F-EBB3-AB9B74E11FCF}"/>
              </a:ext>
            </a:extLst>
          </p:cNvPr>
          <p:cNvPicPr>
            <a:picLocks noChangeAspect="1"/>
          </p:cNvPicPr>
          <p:nvPr/>
        </p:nvPicPr>
        <p:blipFill>
          <a:blip r:embed="rId2"/>
          <a:stretch>
            <a:fillRect/>
          </a:stretch>
        </p:blipFill>
        <p:spPr>
          <a:xfrm>
            <a:off x="8839200" y="1542188"/>
            <a:ext cx="2286000" cy="2570480"/>
          </a:xfrm>
          <a:prstGeom prst="rect">
            <a:avLst/>
          </a:prstGeom>
        </p:spPr>
      </p:pic>
    </p:spTree>
    <p:extLst>
      <p:ext uri="{BB962C8B-B14F-4D97-AF65-F5344CB8AC3E}">
        <p14:creationId xmlns:p14="http://schemas.microsoft.com/office/powerpoint/2010/main" val="2856300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BB4E-98C7-476E-9060-FC52D94F8F55}"/>
              </a:ext>
            </a:extLst>
          </p:cNvPr>
          <p:cNvSpPr>
            <a:spLocks noGrp="1"/>
          </p:cNvSpPr>
          <p:nvPr>
            <p:ph type="title"/>
          </p:nvPr>
        </p:nvSpPr>
        <p:spPr/>
        <p:txBody>
          <a:bodyPr/>
          <a:lstStyle/>
          <a:p>
            <a:r>
              <a:rPr lang="en-US" noProof="0" dirty="0"/>
              <a:t>Storing DataFrame in CSV, JSON or Excel</a:t>
            </a:r>
          </a:p>
        </p:txBody>
      </p:sp>
      <p:sp>
        <p:nvSpPr>
          <p:cNvPr id="3" name="Content Placeholder 2">
            <a:extLst>
              <a:ext uri="{FF2B5EF4-FFF2-40B4-BE49-F238E27FC236}">
                <a16:creationId xmlns:a16="http://schemas.microsoft.com/office/drawing/2014/main" id="{8BAA747E-240E-43D9-B6BF-A86F9EDC9708}"/>
              </a:ext>
            </a:extLst>
          </p:cNvPr>
          <p:cNvSpPr>
            <a:spLocks noGrp="1"/>
          </p:cNvSpPr>
          <p:nvPr>
            <p:ph idx="1"/>
          </p:nvPr>
        </p:nvSpPr>
        <p:spPr/>
        <p:txBody>
          <a:bodyPr/>
          <a:lstStyle/>
          <a:p>
            <a:r>
              <a:rPr lang="en-US" b="0" i="0" noProof="0" dirty="0">
                <a:solidFill>
                  <a:srgbClr val="333333"/>
                </a:solidFill>
                <a:effectLst/>
                <a:latin typeface="proxima-nova"/>
              </a:rPr>
              <a:t>After extensive work on cleaning data in a DataFrame, the result can be </a:t>
            </a:r>
            <a:r>
              <a:rPr lang="en-US" noProof="0" dirty="0">
                <a:solidFill>
                  <a:srgbClr val="333333"/>
                </a:solidFill>
                <a:latin typeface="proxima-nova"/>
              </a:rPr>
              <a:t>saved </a:t>
            </a:r>
            <a:r>
              <a:rPr lang="en-US" b="0" i="0" noProof="0" dirty="0">
                <a:solidFill>
                  <a:srgbClr val="333333"/>
                </a:solidFill>
                <a:effectLst/>
                <a:latin typeface="proxima-nova"/>
              </a:rPr>
              <a:t>as a file of your choice. </a:t>
            </a:r>
          </a:p>
          <a:p>
            <a:r>
              <a:rPr lang="en-US" b="0" i="0" noProof="0" dirty="0">
                <a:solidFill>
                  <a:srgbClr val="333333"/>
                </a:solidFill>
                <a:effectLst/>
                <a:latin typeface="proxima-nova"/>
              </a:rPr>
              <a:t>Similar to the ways we read in data, pandas provides intuitive commands to save it:</a:t>
            </a:r>
            <a:endParaRPr lang="en-US" noProof="0" dirty="0"/>
          </a:p>
        </p:txBody>
      </p:sp>
      <p:sp>
        <p:nvSpPr>
          <p:cNvPr id="4" name="Slide Number Placeholder 3">
            <a:extLst>
              <a:ext uri="{FF2B5EF4-FFF2-40B4-BE49-F238E27FC236}">
                <a16:creationId xmlns:a16="http://schemas.microsoft.com/office/drawing/2014/main" id="{ABBB96C1-88AA-4F12-A73E-72DC1D4BA38D}"/>
              </a:ext>
            </a:extLst>
          </p:cNvPr>
          <p:cNvSpPr>
            <a:spLocks noGrp="1"/>
          </p:cNvSpPr>
          <p:nvPr>
            <p:ph type="sldNum" sz="quarter" idx="12"/>
          </p:nvPr>
        </p:nvSpPr>
        <p:spPr/>
        <p:txBody>
          <a:bodyPr/>
          <a:lstStyle/>
          <a:p>
            <a:fld id="{FE1B3154-47D9-4402-8EDB-E791933DC0B9}" type="slidenum">
              <a:rPr lang="nl-BE" smtClean="0"/>
              <a:pPr/>
              <a:t>34</a:t>
            </a:fld>
            <a:endParaRPr lang="nl-BE"/>
          </a:p>
        </p:txBody>
      </p:sp>
      <p:sp>
        <p:nvSpPr>
          <p:cNvPr id="6" name="TextBox 5">
            <a:extLst>
              <a:ext uri="{FF2B5EF4-FFF2-40B4-BE49-F238E27FC236}">
                <a16:creationId xmlns:a16="http://schemas.microsoft.com/office/drawing/2014/main" id="{53C3A125-525B-41C9-9169-8FC71CBA713B}"/>
              </a:ext>
            </a:extLst>
          </p:cNvPr>
          <p:cNvSpPr txBox="1"/>
          <p:nvPr/>
        </p:nvSpPr>
        <p:spPr>
          <a:xfrm>
            <a:off x="917027" y="3863928"/>
            <a:ext cx="10581289" cy="1200329"/>
          </a:xfrm>
          <a:prstGeom prst="rect">
            <a:avLst/>
          </a:prstGeom>
          <a:noFill/>
          <a:ln>
            <a:solidFill>
              <a:srgbClr val="446785"/>
            </a:solidFill>
          </a:ln>
        </p:spPr>
        <p:txBody>
          <a:bodyPr wrap="square">
            <a:spAutoFit/>
          </a:bodyPr>
          <a:lstStyle/>
          <a:p>
            <a:pPr algn="l"/>
            <a:r>
              <a:rPr lang="en-US" sz="2400" b="0" i="0" err="1">
                <a:solidFill>
                  <a:srgbClr val="4D4D4C"/>
                </a:solidFill>
                <a:effectLst/>
                <a:latin typeface="Monaco"/>
              </a:rPr>
              <a:t>df.</a:t>
            </a:r>
            <a:r>
              <a:rPr lang="en-US" sz="2400" b="0" i="0" err="1">
                <a:solidFill>
                  <a:srgbClr val="4271AE"/>
                </a:solidFill>
                <a:effectLst/>
                <a:latin typeface="Monaco"/>
              </a:rPr>
              <a:t>to_csv</a:t>
            </a:r>
            <a:r>
              <a:rPr lang="en-US" sz="2400" b="0" i="0">
                <a:solidFill>
                  <a:srgbClr val="4D4D4C"/>
                </a:solidFill>
                <a:effectLst/>
                <a:latin typeface="Monaco"/>
              </a:rPr>
              <a:t>(</a:t>
            </a:r>
            <a:r>
              <a:rPr lang="en-US" sz="2400" b="0" i="0">
                <a:solidFill>
                  <a:srgbClr val="718C00"/>
                </a:solidFill>
                <a:effectLst/>
                <a:latin typeface="Monaco"/>
              </a:rPr>
              <a:t>'new_purchases.csv'</a:t>
            </a:r>
            <a:r>
              <a:rPr lang="en-US" sz="2400" b="0" i="0">
                <a:solidFill>
                  <a:srgbClr val="4D4D4C"/>
                </a:solidFill>
                <a:effectLst/>
                <a:latin typeface="Monaco"/>
              </a:rPr>
              <a:t>) </a:t>
            </a:r>
          </a:p>
          <a:p>
            <a:pPr algn="l"/>
            <a:r>
              <a:rPr lang="en-US" sz="2400" b="0" i="0" err="1">
                <a:solidFill>
                  <a:srgbClr val="4D4D4C"/>
                </a:solidFill>
                <a:effectLst/>
                <a:latin typeface="Monaco"/>
              </a:rPr>
              <a:t>df.</a:t>
            </a:r>
            <a:r>
              <a:rPr lang="en-US" sz="2400" b="0" i="0" err="1">
                <a:solidFill>
                  <a:srgbClr val="4271AE"/>
                </a:solidFill>
                <a:effectLst/>
                <a:latin typeface="Monaco"/>
              </a:rPr>
              <a:t>to_json</a:t>
            </a:r>
            <a:r>
              <a:rPr lang="en-US" sz="2400" b="0" i="0">
                <a:solidFill>
                  <a:srgbClr val="4D4D4C"/>
                </a:solidFill>
                <a:effectLst/>
                <a:latin typeface="Monaco"/>
              </a:rPr>
              <a:t>(</a:t>
            </a:r>
            <a:r>
              <a:rPr lang="en-US" sz="2400" b="0" i="0">
                <a:solidFill>
                  <a:srgbClr val="718C00"/>
                </a:solidFill>
                <a:effectLst/>
                <a:latin typeface="Monaco"/>
              </a:rPr>
              <a:t>'</a:t>
            </a:r>
            <a:r>
              <a:rPr lang="en-US" sz="2400" b="0" i="0" err="1">
                <a:solidFill>
                  <a:srgbClr val="718C00"/>
                </a:solidFill>
                <a:effectLst/>
                <a:latin typeface="Monaco"/>
              </a:rPr>
              <a:t>new_purchases.json</a:t>
            </a:r>
            <a:r>
              <a:rPr lang="en-US" sz="2400" b="0" i="0">
                <a:solidFill>
                  <a:srgbClr val="718C00"/>
                </a:solidFill>
                <a:effectLst/>
                <a:latin typeface="Monaco"/>
              </a:rPr>
              <a:t>’</a:t>
            </a:r>
            <a:r>
              <a:rPr lang="en-US" sz="2400" b="0" i="0">
                <a:solidFill>
                  <a:srgbClr val="4D4D4C"/>
                </a:solidFill>
                <a:effectLst/>
                <a:latin typeface="Monaco"/>
              </a:rPr>
              <a:t>)</a:t>
            </a:r>
          </a:p>
          <a:p>
            <a:pPr algn="l"/>
            <a:r>
              <a:rPr lang="en-US" sz="2400" b="0" i="0" err="1">
                <a:solidFill>
                  <a:srgbClr val="4D4D4C"/>
                </a:solidFill>
                <a:effectLst/>
                <a:latin typeface="Monaco"/>
              </a:rPr>
              <a:t>df.</a:t>
            </a:r>
            <a:r>
              <a:rPr lang="en-US" sz="2400" b="0" i="0" err="1">
                <a:solidFill>
                  <a:schemeClr val="accent1">
                    <a:lumMod val="75000"/>
                  </a:schemeClr>
                </a:solidFill>
                <a:effectLst/>
                <a:latin typeface="Monaco"/>
              </a:rPr>
              <a:t>to_excel</a:t>
            </a:r>
            <a:r>
              <a:rPr lang="en-US" sz="2400" b="0" i="0">
                <a:solidFill>
                  <a:srgbClr val="4D4D4C"/>
                </a:solidFill>
                <a:effectLst/>
                <a:latin typeface="Monaco"/>
              </a:rPr>
              <a:t>(</a:t>
            </a:r>
            <a:r>
              <a:rPr lang="en-US" sz="2400" b="0" i="0">
                <a:solidFill>
                  <a:srgbClr val="718C00"/>
                </a:solidFill>
                <a:effectLst/>
                <a:latin typeface="Monaco"/>
              </a:rPr>
              <a:t>'new_purchases.xlsx’</a:t>
            </a:r>
            <a:r>
              <a:rPr lang="en-US" sz="2400" b="0" i="0">
                <a:solidFill>
                  <a:srgbClr val="4D4D4C"/>
                </a:solidFill>
                <a:effectLst/>
                <a:latin typeface="Monaco"/>
              </a:rPr>
              <a:t>)</a:t>
            </a:r>
          </a:p>
        </p:txBody>
      </p:sp>
    </p:spTree>
    <p:extLst>
      <p:ext uri="{BB962C8B-B14F-4D97-AF65-F5344CB8AC3E}">
        <p14:creationId xmlns:p14="http://schemas.microsoft.com/office/powerpoint/2010/main" val="3061065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p:txBody>
          <a:bodyPr/>
          <a:lstStyle/>
          <a:p>
            <a:r>
              <a:rPr lang="en-US" noProof="0" dirty="0"/>
              <a:t>Pandas – DataFrame basic operations</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35</a:t>
            </a:fld>
            <a:endParaRPr lang="nl-BE"/>
          </a:p>
        </p:txBody>
      </p:sp>
    </p:spTree>
    <p:extLst>
      <p:ext uri="{BB962C8B-B14F-4D97-AF65-F5344CB8AC3E}">
        <p14:creationId xmlns:p14="http://schemas.microsoft.com/office/powerpoint/2010/main" val="3886683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F03FF-18B2-44AF-909B-68F61CEE8D3B}"/>
              </a:ext>
            </a:extLst>
          </p:cNvPr>
          <p:cNvSpPr>
            <a:spLocks noGrp="1"/>
          </p:cNvSpPr>
          <p:nvPr>
            <p:ph type="title"/>
          </p:nvPr>
        </p:nvSpPr>
        <p:spPr/>
        <p:txBody>
          <a:bodyPr/>
          <a:lstStyle/>
          <a:p>
            <a:r>
              <a:rPr lang="en-US" noProof="0" dirty="0"/>
              <a:t>Basic DataFrame operations</a:t>
            </a:r>
          </a:p>
        </p:txBody>
      </p:sp>
      <p:sp>
        <p:nvSpPr>
          <p:cNvPr id="3" name="Content Placeholder 2">
            <a:extLst>
              <a:ext uri="{FF2B5EF4-FFF2-40B4-BE49-F238E27FC236}">
                <a16:creationId xmlns:a16="http://schemas.microsoft.com/office/drawing/2014/main" id="{AFDA5DA8-CCC7-42EA-AA41-40907C8A2905}"/>
              </a:ext>
            </a:extLst>
          </p:cNvPr>
          <p:cNvSpPr>
            <a:spLocks noGrp="1"/>
          </p:cNvSpPr>
          <p:nvPr>
            <p:ph idx="1"/>
          </p:nvPr>
        </p:nvSpPr>
        <p:spPr/>
        <p:txBody>
          <a:bodyPr/>
          <a:lstStyle/>
          <a:p>
            <a:r>
              <a:rPr lang="en-US" noProof="0" dirty="0">
                <a:solidFill>
                  <a:srgbClr val="333333"/>
                </a:solidFill>
              </a:rPr>
              <a:t>L</a:t>
            </a:r>
            <a:r>
              <a:rPr lang="en-US" b="0" i="0" noProof="0" dirty="0">
                <a:solidFill>
                  <a:srgbClr val="333333"/>
                </a:solidFill>
                <a:effectLst/>
              </a:rPr>
              <a:t>oad the IMDB movies dataset from csv using the movie titles as index.</a:t>
            </a:r>
          </a:p>
          <a:p>
            <a:endParaRPr lang="en-US" noProof="0" dirty="0">
              <a:solidFill>
                <a:srgbClr val="333333"/>
              </a:solidFill>
            </a:endParaRPr>
          </a:p>
          <a:p>
            <a:endParaRPr lang="en-US" noProof="0" dirty="0">
              <a:solidFill>
                <a:srgbClr val="333333"/>
              </a:solidFill>
            </a:endParaRPr>
          </a:p>
          <a:p>
            <a:r>
              <a:rPr lang="en-US" noProof="0" dirty="0">
                <a:solidFill>
                  <a:srgbClr val="333333"/>
                </a:solidFill>
              </a:rPr>
              <a:t>To get an overview of the first or last records in the DataFrame, use the head() or tail() methods.  Both accept a number as argument to indicate how many records should be retrieved.</a:t>
            </a:r>
            <a:endParaRPr lang="en-US" noProof="0" dirty="0"/>
          </a:p>
        </p:txBody>
      </p:sp>
      <p:sp>
        <p:nvSpPr>
          <p:cNvPr id="4" name="Slide Number Placeholder 3">
            <a:extLst>
              <a:ext uri="{FF2B5EF4-FFF2-40B4-BE49-F238E27FC236}">
                <a16:creationId xmlns:a16="http://schemas.microsoft.com/office/drawing/2014/main" id="{0502985A-E0F8-4EAA-8D96-C0E404DF8916}"/>
              </a:ext>
            </a:extLst>
          </p:cNvPr>
          <p:cNvSpPr>
            <a:spLocks noGrp="1"/>
          </p:cNvSpPr>
          <p:nvPr>
            <p:ph type="sldNum" sz="quarter" idx="12"/>
          </p:nvPr>
        </p:nvSpPr>
        <p:spPr/>
        <p:txBody>
          <a:bodyPr/>
          <a:lstStyle/>
          <a:p>
            <a:fld id="{FE1B3154-47D9-4402-8EDB-E791933DC0B9}" type="slidenum">
              <a:rPr lang="nl-BE" smtClean="0"/>
              <a:pPr/>
              <a:t>36</a:t>
            </a:fld>
            <a:endParaRPr lang="nl-BE"/>
          </a:p>
        </p:txBody>
      </p:sp>
      <p:sp>
        <p:nvSpPr>
          <p:cNvPr id="6" name="TextBox 5">
            <a:extLst>
              <a:ext uri="{FF2B5EF4-FFF2-40B4-BE49-F238E27FC236}">
                <a16:creationId xmlns:a16="http://schemas.microsoft.com/office/drawing/2014/main" id="{E7952999-5173-4358-82FE-BC523B29BA6D}"/>
              </a:ext>
            </a:extLst>
          </p:cNvPr>
          <p:cNvSpPr txBox="1"/>
          <p:nvPr/>
        </p:nvSpPr>
        <p:spPr>
          <a:xfrm>
            <a:off x="906515" y="2289350"/>
            <a:ext cx="8910145"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a:solidFill>
                  <a:srgbClr val="4D4D4C"/>
                </a:solidFill>
                <a:effectLst/>
                <a:latin typeface="Monaco"/>
              </a:rPr>
              <a:t>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pd.</a:t>
            </a:r>
            <a:r>
              <a:rPr lang="en-US" sz="2000" b="0" i="0" err="1">
                <a:solidFill>
                  <a:srgbClr val="4271AE"/>
                </a:solidFill>
                <a:effectLst/>
                <a:latin typeface="Monaco"/>
              </a:rPr>
              <a:t>read_csv</a:t>
            </a:r>
            <a:r>
              <a:rPr lang="en-US" sz="2000" b="0" i="0">
                <a:solidFill>
                  <a:srgbClr val="4D4D4C"/>
                </a:solidFill>
                <a:effectLst/>
                <a:latin typeface="Monaco"/>
              </a:rPr>
              <a:t>(</a:t>
            </a:r>
            <a:r>
              <a:rPr lang="en-US" sz="2000" b="0" i="0">
                <a:solidFill>
                  <a:srgbClr val="718C00"/>
                </a:solidFill>
                <a:effectLst/>
                <a:latin typeface="Monaco"/>
              </a:rPr>
              <a:t>"IMDB-Movie-Data.csv"</a:t>
            </a:r>
            <a:r>
              <a:rPr lang="en-US" sz="2000" b="0" i="0">
                <a:solidFill>
                  <a:srgbClr val="4D4D4C"/>
                </a:solidFill>
                <a:effectLst/>
                <a:latin typeface="Monaco"/>
              </a:rPr>
              <a:t>, </a:t>
            </a:r>
            <a:r>
              <a:rPr lang="en-US" sz="2000" b="0" i="0" err="1">
                <a:solidFill>
                  <a:srgbClr val="4D4D4C"/>
                </a:solidFill>
                <a:effectLst/>
                <a:latin typeface="Monaco"/>
              </a:rPr>
              <a:t>index_col</a:t>
            </a:r>
            <a:r>
              <a:rPr lang="en-US" sz="2000" b="0" i="0">
                <a:solidFill>
                  <a:srgbClr val="3E999F"/>
                </a:solidFill>
                <a:effectLst/>
                <a:latin typeface="Monaco"/>
              </a:rPr>
              <a:t>=</a:t>
            </a:r>
            <a:r>
              <a:rPr lang="en-US" sz="2000" b="0" i="0">
                <a:solidFill>
                  <a:srgbClr val="718C00"/>
                </a:solidFill>
                <a:effectLst/>
                <a:latin typeface="Monaco"/>
              </a:rPr>
              <a:t>"Title"</a:t>
            </a:r>
            <a:r>
              <a:rPr lang="en-US" sz="2000" b="0" i="0">
                <a:solidFill>
                  <a:srgbClr val="4D4D4C"/>
                </a:solidFill>
                <a:effectLst/>
                <a:latin typeface="Monaco"/>
              </a:rPr>
              <a:t>)</a:t>
            </a:r>
            <a:endParaRPr lang="en-US" sz="2000"/>
          </a:p>
        </p:txBody>
      </p:sp>
      <p:sp>
        <p:nvSpPr>
          <p:cNvPr id="9" name="TextBox 8">
            <a:extLst>
              <a:ext uri="{FF2B5EF4-FFF2-40B4-BE49-F238E27FC236}">
                <a16:creationId xmlns:a16="http://schemas.microsoft.com/office/drawing/2014/main" id="{13E4797A-EA7F-44F4-A554-C3FBF67F491C}"/>
              </a:ext>
            </a:extLst>
          </p:cNvPr>
          <p:cNvSpPr txBox="1"/>
          <p:nvPr/>
        </p:nvSpPr>
        <p:spPr>
          <a:xfrm>
            <a:off x="906515" y="4753108"/>
            <a:ext cx="4201516"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head</a:t>
            </a:r>
            <a:r>
              <a:rPr lang="en-US" sz="2000" b="0" i="0">
                <a:solidFill>
                  <a:srgbClr val="4D4D4C"/>
                </a:solidFill>
                <a:effectLst/>
                <a:latin typeface="Monaco"/>
              </a:rPr>
              <a:t>(3)</a:t>
            </a:r>
            <a:endParaRPr lang="en-US" sz="2000"/>
          </a:p>
        </p:txBody>
      </p:sp>
      <p:sp>
        <p:nvSpPr>
          <p:cNvPr id="10" name="TextBox 9">
            <a:extLst>
              <a:ext uri="{FF2B5EF4-FFF2-40B4-BE49-F238E27FC236}">
                <a16:creationId xmlns:a16="http://schemas.microsoft.com/office/drawing/2014/main" id="{BADCE575-BE53-4716-B7D0-C1FAA4FA49A8}"/>
              </a:ext>
            </a:extLst>
          </p:cNvPr>
          <p:cNvSpPr txBox="1"/>
          <p:nvPr/>
        </p:nvSpPr>
        <p:spPr>
          <a:xfrm>
            <a:off x="5508041" y="4751162"/>
            <a:ext cx="4212025"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tail</a:t>
            </a:r>
            <a:r>
              <a:rPr lang="en-US" sz="2000" b="0" i="0">
                <a:solidFill>
                  <a:srgbClr val="4D4D4C"/>
                </a:solidFill>
                <a:effectLst/>
                <a:latin typeface="Monaco"/>
              </a:rPr>
              <a:t>(</a:t>
            </a:r>
            <a:r>
              <a:rPr lang="en-US" sz="2000">
                <a:solidFill>
                  <a:srgbClr val="4D4D4C"/>
                </a:solidFill>
                <a:latin typeface="Monaco"/>
              </a:rPr>
              <a:t>2</a:t>
            </a:r>
            <a:r>
              <a:rPr lang="en-US" sz="2000" b="0" i="0">
                <a:solidFill>
                  <a:srgbClr val="4D4D4C"/>
                </a:solidFill>
                <a:effectLst/>
                <a:latin typeface="Monaco"/>
              </a:rPr>
              <a:t>)</a:t>
            </a:r>
            <a:endParaRPr lang="en-US" sz="2000"/>
          </a:p>
        </p:txBody>
      </p:sp>
      <p:pic>
        <p:nvPicPr>
          <p:cNvPr id="12" name="Picture 11">
            <a:extLst>
              <a:ext uri="{FF2B5EF4-FFF2-40B4-BE49-F238E27FC236}">
                <a16:creationId xmlns:a16="http://schemas.microsoft.com/office/drawing/2014/main" id="{5C1263D2-569C-4A40-AAF1-7E6A499C6457}"/>
              </a:ext>
            </a:extLst>
          </p:cNvPr>
          <p:cNvPicPr>
            <a:picLocks noChangeAspect="1"/>
          </p:cNvPicPr>
          <p:nvPr/>
        </p:nvPicPr>
        <p:blipFill>
          <a:blip r:embed="rId3"/>
          <a:stretch>
            <a:fillRect/>
          </a:stretch>
        </p:blipFill>
        <p:spPr>
          <a:xfrm>
            <a:off x="916675" y="5162884"/>
            <a:ext cx="4201516" cy="1537921"/>
          </a:xfrm>
          <a:prstGeom prst="rect">
            <a:avLst/>
          </a:prstGeom>
          <a:ln>
            <a:solidFill>
              <a:srgbClr val="446785"/>
            </a:solidFill>
          </a:ln>
        </p:spPr>
      </p:pic>
      <p:pic>
        <p:nvPicPr>
          <p:cNvPr id="14" name="Picture 13">
            <a:extLst>
              <a:ext uri="{FF2B5EF4-FFF2-40B4-BE49-F238E27FC236}">
                <a16:creationId xmlns:a16="http://schemas.microsoft.com/office/drawing/2014/main" id="{C0579EE8-9F7E-44F1-B296-C3EEF99EC4E8}"/>
              </a:ext>
            </a:extLst>
          </p:cNvPr>
          <p:cNvPicPr>
            <a:picLocks noChangeAspect="1"/>
          </p:cNvPicPr>
          <p:nvPr/>
        </p:nvPicPr>
        <p:blipFill>
          <a:blip r:embed="rId4"/>
          <a:stretch>
            <a:fillRect/>
          </a:stretch>
        </p:blipFill>
        <p:spPr>
          <a:xfrm>
            <a:off x="5518551" y="5161782"/>
            <a:ext cx="4201516" cy="1477150"/>
          </a:xfrm>
          <a:prstGeom prst="rect">
            <a:avLst/>
          </a:prstGeom>
          <a:ln>
            <a:solidFill>
              <a:srgbClr val="446785"/>
            </a:solidFill>
          </a:ln>
        </p:spPr>
      </p:pic>
    </p:spTree>
    <p:extLst>
      <p:ext uri="{BB962C8B-B14F-4D97-AF65-F5344CB8AC3E}">
        <p14:creationId xmlns:p14="http://schemas.microsoft.com/office/powerpoint/2010/main" val="4195469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A0231B0-8F59-028A-6A8E-AF55A8BC6C24}"/>
              </a:ext>
            </a:extLst>
          </p:cNvPr>
          <p:cNvSpPr txBox="1">
            <a:spLocks/>
          </p:cNvSpPr>
          <p:nvPr/>
        </p:nvSpPr>
        <p:spPr>
          <a:xfrm>
            <a:off x="735105" y="1703294"/>
            <a:ext cx="11291048" cy="46260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ea typeface="+mn-lt"/>
                <a:cs typeface="+mn-lt"/>
              </a:rPr>
              <a:t>To customize the number of rows or columns to be displayed:</a:t>
            </a:r>
            <a:endParaRPr lang="nl-NL"/>
          </a:p>
        </p:txBody>
      </p:sp>
      <p:sp>
        <p:nvSpPr>
          <p:cNvPr id="2" name="Title 1">
            <a:extLst>
              <a:ext uri="{FF2B5EF4-FFF2-40B4-BE49-F238E27FC236}">
                <a16:creationId xmlns:a16="http://schemas.microsoft.com/office/drawing/2014/main" id="{A032F9CD-EB90-DDFC-6DD0-8B2375335D44}"/>
              </a:ext>
            </a:extLst>
          </p:cNvPr>
          <p:cNvSpPr>
            <a:spLocks noGrp="1"/>
          </p:cNvSpPr>
          <p:nvPr>
            <p:ph type="title"/>
          </p:nvPr>
        </p:nvSpPr>
        <p:spPr/>
        <p:txBody>
          <a:bodyPr>
            <a:normAutofit/>
          </a:bodyPr>
          <a:lstStyle/>
          <a:p>
            <a:r>
              <a:rPr lang="en-US" noProof="0" dirty="0" err="1">
                <a:latin typeface="Calibri"/>
                <a:cs typeface="Calibri"/>
              </a:rPr>
              <a:t>set_option</a:t>
            </a:r>
            <a:r>
              <a:rPr lang="en-US" noProof="0" dirty="0">
                <a:latin typeface="Calibri"/>
                <a:cs typeface="Calibri"/>
              </a:rPr>
              <a:t>("</a:t>
            </a:r>
            <a:r>
              <a:rPr lang="en-US" noProof="0" dirty="0" err="1">
                <a:latin typeface="Calibri"/>
                <a:cs typeface="Calibri"/>
              </a:rPr>
              <a:t>display.max</a:t>
            </a:r>
            <a:r>
              <a:rPr lang="en-US" noProof="0" dirty="0">
                <a:latin typeface="Calibri"/>
                <a:cs typeface="Calibri"/>
              </a:rPr>
              <a:t>_...")</a:t>
            </a:r>
            <a:endParaRPr lang="en-US" noProof="0" dirty="0"/>
          </a:p>
        </p:txBody>
      </p:sp>
      <p:sp>
        <p:nvSpPr>
          <p:cNvPr id="4" name="Slide Number Placeholder 3">
            <a:extLst>
              <a:ext uri="{FF2B5EF4-FFF2-40B4-BE49-F238E27FC236}">
                <a16:creationId xmlns:a16="http://schemas.microsoft.com/office/drawing/2014/main" id="{86ED9420-6C50-F881-2C54-76060D1A123A}"/>
              </a:ext>
            </a:extLst>
          </p:cNvPr>
          <p:cNvSpPr>
            <a:spLocks noGrp="1"/>
          </p:cNvSpPr>
          <p:nvPr>
            <p:ph type="sldNum" sz="quarter" idx="12"/>
          </p:nvPr>
        </p:nvSpPr>
        <p:spPr/>
        <p:txBody>
          <a:bodyPr/>
          <a:lstStyle/>
          <a:p>
            <a:fld id="{FE1B3154-47D9-4402-8EDB-E791933DC0B9}" type="slidenum">
              <a:rPr lang="nl-BE" smtClean="0"/>
              <a:pPr/>
              <a:t>37</a:t>
            </a:fld>
            <a:endParaRPr lang="nl-BE"/>
          </a:p>
        </p:txBody>
      </p:sp>
      <p:sp>
        <p:nvSpPr>
          <p:cNvPr id="3" name="TextBox 2">
            <a:extLst>
              <a:ext uri="{FF2B5EF4-FFF2-40B4-BE49-F238E27FC236}">
                <a16:creationId xmlns:a16="http://schemas.microsoft.com/office/drawing/2014/main" id="{18412C2D-B98A-C03A-0288-A52A2676884A}"/>
              </a:ext>
            </a:extLst>
          </p:cNvPr>
          <p:cNvSpPr txBox="1"/>
          <p:nvPr/>
        </p:nvSpPr>
        <p:spPr>
          <a:xfrm>
            <a:off x="1058915" y="2319830"/>
            <a:ext cx="8887725" cy="1015663"/>
          </a:xfrm>
          <a:prstGeom prst="rect">
            <a:avLst/>
          </a:prstGeom>
          <a:noFill/>
          <a:ln>
            <a:solidFill>
              <a:srgbClr val="446785"/>
            </a:solidFill>
          </a:ln>
        </p:spPr>
        <p:txBody>
          <a:bodyPr wrap="square">
            <a:spAutoFit/>
          </a:bodyPr>
          <a:lstStyle/>
          <a:p>
            <a:r>
              <a:rPr lang="nl-BE" sz="2000" b="0" err="1">
                <a:solidFill>
                  <a:srgbClr val="267F99"/>
                </a:solidFill>
                <a:effectLst/>
                <a:latin typeface="Monaco"/>
              </a:rPr>
              <a:t>pd</a:t>
            </a:r>
            <a:r>
              <a:rPr lang="nl-BE" sz="2000" b="0" err="1">
                <a:solidFill>
                  <a:srgbClr val="3B3B3B"/>
                </a:solidFill>
                <a:effectLst/>
                <a:latin typeface="Monaco"/>
              </a:rPr>
              <a:t>.</a:t>
            </a:r>
            <a:r>
              <a:rPr lang="nl-BE" sz="2000" b="0" err="1">
                <a:solidFill>
                  <a:srgbClr val="795E26"/>
                </a:solidFill>
                <a:effectLst/>
                <a:latin typeface="Monaco"/>
              </a:rPr>
              <a:t>set_option</a:t>
            </a:r>
            <a:r>
              <a:rPr lang="nl-BE" sz="2000" b="0">
                <a:solidFill>
                  <a:srgbClr val="3B3B3B"/>
                </a:solidFill>
                <a:effectLst/>
                <a:latin typeface="Monaco"/>
              </a:rPr>
              <a:t>(</a:t>
            </a:r>
            <a:r>
              <a:rPr lang="nl-BE" sz="2000" b="0">
                <a:solidFill>
                  <a:srgbClr val="A31515"/>
                </a:solidFill>
                <a:effectLst/>
                <a:latin typeface="Monaco"/>
              </a:rPr>
              <a:t>'</a:t>
            </a:r>
            <a:r>
              <a:rPr lang="nl-BE" sz="2000" b="0" err="1">
                <a:solidFill>
                  <a:srgbClr val="A31515"/>
                </a:solidFill>
                <a:effectLst/>
                <a:latin typeface="Monaco"/>
              </a:rPr>
              <a:t>display.max_columns</a:t>
            </a:r>
            <a:r>
              <a:rPr lang="nl-BE" sz="2000" b="0">
                <a:solidFill>
                  <a:srgbClr val="A31515"/>
                </a:solidFill>
                <a:effectLst/>
                <a:latin typeface="Monaco"/>
              </a:rPr>
              <a:t>'</a:t>
            </a:r>
            <a:r>
              <a:rPr lang="nl-BE" sz="2000" b="0">
                <a:solidFill>
                  <a:srgbClr val="3B3B3B"/>
                </a:solidFill>
                <a:effectLst/>
                <a:latin typeface="Monaco"/>
              </a:rPr>
              <a:t>, </a:t>
            </a:r>
            <a:r>
              <a:rPr lang="nl-BE" sz="2000" b="0">
                <a:solidFill>
                  <a:srgbClr val="098658"/>
                </a:solidFill>
                <a:effectLst/>
                <a:latin typeface="Monaco"/>
              </a:rPr>
              <a:t>4</a:t>
            </a:r>
            <a:r>
              <a:rPr lang="nl-BE" sz="2000" b="0">
                <a:solidFill>
                  <a:srgbClr val="3B3B3B"/>
                </a:solidFill>
                <a:effectLst/>
                <a:latin typeface="Monaco"/>
              </a:rPr>
              <a:t>)</a:t>
            </a:r>
          </a:p>
          <a:p>
            <a:r>
              <a:rPr lang="nl-BE" sz="2000" b="0" err="1">
                <a:solidFill>
                  <a:srgbClr val="267F99"/>
                </a:solidFill>
                <a:effectLst/>
                <a:latin typeface="Monaco"/>
              </a:rPr>
              <a:t>pd</a:t>
            </a:r>
            <a:r>
              <a:rPr lang="nl-BE" sz="2000" b="0" err="1">
                <a:solidFill>
                  <a:srgbClr val="3B3B3B"/>
                </a:solidFill>
                <a:effectLst/>
                <a:latin typeface="Monaco"/>
              </a:rPr>
              <a:t>.</a:t>
            </a:r>
            <a:r>
              <a:rPr lang="nl-BE" sz="2000" b="0" err="1">
                <a:solidFill>
                  <a:srgbClr val="795E26"/>
                </a:solidFill>
                <a:effectLst/>
                <a:latin typeface="Monaco"/>
              </a:rPr>
              <a:t>set_option</a:t>
            </a:r>
            <a:r>
              <a:rPr lang="nl-BE" sz="2000" b="0">
                <a:solidFill>
                  <a:srgbClr val="3B3B3B"/>
                </a:solidFill>
                <a:effectLst/>
                <a:latin typeface="Monaco"/>
              </a:rPr>
              <a:t>(</a:t>
            </a:r>
            <a:r>
              <a:rPr lang="nl-BE" sz="2000" b="0">
                <a:solidFill>
                  <a:srgbClr val="A31515"/>
                </a:solidFill>
                <a:effectLst/>
                <a:latin typeface="Monaco"/>
              </a:rPr>
              <a:t>'</a:t>
            </a:r>
            <a:r>
              <a:rPr lang="nl-BE" sz="2000" b="0" err="1">
                <a:solidFill>
                  <a:srgbClr val="A31515"/>
                </a:solidFill>
                <a:effectLst/>
                <a:latin typeface="Monaco"/>
              </a:rPr>
              <a:t>display.max_rows</a:t>
            </a:r>
            <a:r>
              <a:rPr lang="nl-BE" sz="2000" b="0">
                <a:solidFill>
                  <a:srgbClr val="A31515"/>
                </a:solidFill>
                <a:effectLst/>
                <a:latin typeface="Monaco"/>
              </a:rPr>
              <a:t>'</a:t>
            </a:r>
            <a:r>
              <a:rPr lang="nl-BE" sz="2000" b="0">
                <a:solidFill>
                  <a:srgbClr val="3B3B3B"/>
                </a:solidFill>
                <a:effectLst/>
                <a:latin typeface="Monaco"/>
              </a:rPr>
              <a:t>, </a:t>
            </a:r>
            <a:r>
              <a:rPr lang="nl-BE" sz="2000" b="0">
                <a:solidFill>
                  <a:srgbClr val="098658"/>
                </a:solidFill>
                <a:effectLst/>
                <a:latin typeface="Monaco"/>
              </a:rPr>
              <a:t>6</a:t>
            </a:r>
            <a:r>
              <a:rPr lang="nl-BE" sz="2000" b="0">
                <a:solidFill>
                  <a:srgbClr val="3B3B3B"/>
                </a:solidFill>
                <a:effectLst/>
                <a:latin typeface="Monaco"/>
              </a:rPr>
              <a:t>)</a:t>
            </a:r>
          </a:p>
          <a:p>
            <a:r>
              <a:rPr lang="nl-BE" sz="2000" b="0" err="1">
                <a:solidFill>
                  <a:srgbClr val="001080"/>
                </a:solidFill>
                <a:effectLst/>
                <a:latin typeface="Monaco"/>
              </a:rPr>
              <a:t>df_movies</a:t>
            </a:r>
            <a:endParaRPr lang="nl-BE" sz="2000" b="0">
              <a:solidFill>
                <a:srgbClr val="3B3B3B"/>
              </a:solidFill>
              <a:effectLst/>
              <a:latin typeface="Monaco"/>
            </a:endParaRPr>
          </a:p>
        </p:txBody>
      </p:sp>
      <p:pic>
        <p:nvPicPr>
          <p:cNvPr id="6" name="Picture 5">
            <a:extLst>
              <a:ext uri="{FF2B5EF4-FFF2-40B4-BE49-F238E27FC236}">
                <a16:creationId xmlns:a16="http://schemas.microsoft.com/office/drawing/2014/main" id="{731878BC-88E4-80F6-D100-B5BB69A9ACCE}"/>
              </a:ext>
            </a:extLst>
          </p:cNvPr>
          <p:cNvPicPr>
            <a:picLocks noChangeAspect="1"/>
          </p:cNvPicPr>
          <p:nvPr/>
        </p:nvPicPr>
        <p:blipFill>
          <a:blip r:embed="rId2"/>
          <a:stretch>
            <a:fillRect/>
          </a:stretch>
        </p:blipFill>
        <p:spPr>
          <a:xfrm>
            <a:off x="1058915" y="3860098"/>
            <a:ext cx="5800931" cy="2469265"/>
          </a:xfrm>
          <a:prstGeom prst="rect">
            <a:avLst/>
          </a:prstGeom>
          <a:ln>
            <a:solidFill>
              <a:schemeClr val="tx2">
                <a:lumMod val="40000"/>
                <a:lumOff val="60000"/>
              </a:schemeClr>
            </a:solidFill>
          </a:ln>
        </p:spPr>
      </p:pic>
    </p:spTree>
    <p:extLst>
      <p:ext uri="{BB962C8B-B14F-4D97-AF65-F5344CB8AC3E}">
        <p14:creationId xmlns:p14="http://schemas.microsoft.com/office/powerpoint/2010/main" val="3627771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800C4-8B09-4DF3-8781-DAFB26210839}"/>
              </a:ext>
            </a:extLst>
          </p:cNvPr>
          <p:cNvSpPr>
            <a:spLocks noGrp="1"/>
          </p:cNvSpPr>
          <p:nvPr>
            <p:ph type="title"/>
          </p:nvPr>
        </p:nvSpPr>
        <p:spPr/>
        <p:txBody>
          <a:bodyPr/>
          <a:lstStyle/>
          <a:p>
            <a:r>
              <a:rPr lang="en-US" noProof="0" dirty="0"/>
              <a:t>Getting info about the data</a:t>
            </a:r>
          </a:p>
        </p:txBody>
      </p:sp>
      <p:sp>
        <p:nvSpPr>
          <p:cNvPr id="3" name="Content Placeholder 2">
            <a:extLst>
              <a:ext uri="{FF2B5EF4-FFF2-40B4-BE49-F238E27FC236}">
                <a16:creationId xmlns:a16="http://schemas.microsoft.com/office/drawing/2014/main" id="{60B38091-6EBD-48E6-9113-DFF4FEC3A80D}"/>
              </a:ext>
            </a:extLst>
          </p:cNvPr>
          <p:cNvSpPr>
            <a:spLocks noGrp="1"/>
          </p:cNvSpPr>
          <p:nvPr>
            <p:ph idx="1"/>
          </p:nvPr>
        </p:nvSpPr>
        <p:spPr/>
        <p:txBody>
          <a:bodyPr/>
          <a:lstStyle/>
          <a:p>
            <a:pPr marL="0" indent="0">
              <a:buNone/>
            </a:pPr>
            <a:r>
              <a:rPr lang="en-US" noProof="0" dirty="0"/>
              <a:t>The method </a:t>
            </a:r>
            <a:r>
              <a:rPr lang="en-US" b="1" noProof="0" dirty="0">
                <a:solidFill>
                  <a:srgbClr val="446785"/>
                </a:solidFill>
              </a:rPr>
              <a:t>.</a:t>
            </a:r>
            <a:r>
              <a:rPr lang="en-US" b="1" i="1" noProof="0" dirty="0">
                <a:solidFill>
                  <a:srgbClr val="446785"/>
                </a:solidFill>
              </a:rPr>
              <a:t>info() </a:t>
            </a:r>
            <a:r>
              <a:rPr lang="en-US" noProof="0" dirty="0"/>
              <a:t>provides the essential details about the dataset, such as the number of rows and columns, the number of non-null values, what type of data is in each column, and how much memory the DataFrame is using.</a:t>
            </a:r>
          </a:p>
          <a:p>
            <a:endParaRPr lang="en-US" noProof="0" dirty="0"/>
          </a:p>
          <a:p>
            <a:endParaRPr lang="en-US" noProof="0" dirty="0"/>
          </a:p>
        </p:txBody>
      </p:sp>
      <p:sp>
        <p:nvSpPr>
          <p:cNvPr id="4" name="Slide Number Placeholder 3">
            <a:extLst>
              <a:ext uri="{FF2B5EF4-FFF2-40B4-BE49-F238E27FC236}">
                <a16:creationId xmlns:a16="http://schemas.microsoft.com/office/drawing/2014/main" id="{CB4365AC-6BC0-4BF5-BAFE-8F7B70D09E5A}"/>
              </a:ext>
            </a:extLst>
          </p:cNvPr>
          <p:cNvSpPr>
            <a:spLocks noGrp="1"/>
          </p:cNvSpPr>
          <p:nvPr>
            <p:ph type="sldNum" sz="quarter" idx="12"/>
          </p:nvPr>
        </p:nvSpPr>
        <p:spPr/>
        <p:txBody>
          <a:bodyPr/>
          <a:lstStyle/>
          <a:p>
            <a:fld id="{FE1B3154-47D9-4402-8EDB-E791933DC0B9}" type="slidenum">
              <a:rPr lang="nl-BE" smtClean="0"/>
              <a:pPr/>
              <a:t>38</a:t>
            </a:fld>
            <a:endParaRPr lang="nl-BE"/>
          </a:p>
        </p:txBody>
      </p:sp>
      <p:pic>
        <p:nvPicPr>
          <p:cNvPr id="7" name="Picture 6">
            <a:extLst>
              <a:ext uri="{FF2B5EF4-FFF2-40B4-BE49-F238E27FC236}">
                <a16:creationId xmlns:a16="http://schemas.microsoft.com/office/drawing/2014/main" id="{4DC644F3-DBD5-4385-8EAD-0A8D7C6C38BD}"/>
              </a:ext>
            </a:extLst>
          </p:cNvPr>
          <p:cNvPicPr>
            <a:picLocks noChangeAspect="1"/>
          </p:cNvPicPr>
          <p:nvPr/>
        </p:nvPicPr>
        <p:blipFill>
          <a:blip r:embed="rId2"/>
          <a:stretch>
            <a:fillRect/>
          </a:stretch>
        </p:blipFill>
        <p:spPr>
          <a:xfrm>
            <a:off x="738351" y="3573524"/>
            <a:ext cx="4489816" cy="3084786"/>
          </a:xfrm>
          <a:prstGeom prst="rect">
            <a:avLst/>
          </a:prstGeom>
        </p:spPr>
      </p:pic>
      <p:sp>
        <p:nvSpPr>
          <p:cNvPr id="9" name="TextBox 8">
            <a:extLst>
              <a:ext uri="{FF2B5EF4-FFF2-40B4-BE49-F238E27FC236}">
                <a16:creationId xmlns:a16="http://schemas.microsoft.com/office/drawing/2014/main" id="{DE8D6BCC-BC08-4D71-8612-1396411D44C2}"/>
              </a:ext>
            </a:extLst>
          </p:cNvPr>
          <p:cNvSpPr txBox="1"/>
          <p:nvPr/>
        </p:nvSpPr>
        <p:spPr>
          <a:xfrm>
            <a:off x="706821" y="3028890"/>
            <a:ext cx="4569372" cy="400110"/>
          </a:xfrm>
          <a:prstGeom prst="rect">
            <a:avLst/>
          </a:prstGeom>
          <a:noFill/>
          <a:ln>
            <a:solidFill>
              <a:srgbClr val="446785"/>
            </a:solidFill>
          </a:ln>
        </p:spPr>
        <p:txBody>
          <a:bodyPr wrap="square">
            <a:spAutoFit/>
          </a:bodyPr>
          <a:lstStyle/>
          <a:p>
            <a:r>
              <a:rPr lang="en-US" sz="2000" b="0" i="0">
                <a:solidFill>
                  <a:srgbClr val="4D4D4C"/>
                </a:solidFill>
                <a:effectLst/>
                <a:latin typeface="Monaco"/>
              </a:rPr>
              <a:t>df_movies.</a:t>
            </a:r>
            <a:r>
              <a:rPr lang="en-US" sz="2000" b="0" i="0">
                <a:solidFill>
                  <a:srgbClr val="4271AE"/>
                </a:solidFill>
                <a:effectLst/>
                <a:latin typeface="Monaco"/>
              </a:rPr>
              <a:t>info</a:t>
            </a:r>
            <a:r>
              <a:rPr lang="en-US" sz="2000" b="0" i="0">
                <a:solidFill>
                  <a:srgbClr val="4D4D4C"/>
                </a:solidFill>
                <a:effectLst/>
                <a:latin typeface="Monaco"/>
              </a:rPr>
              <a:t>()</a:t>
            </a:r>
            <a:endParaRPr lang="en-US" sz="2000"/>
          </a:p>
        </p:txBody>
      </p:sp>
      <p:sp>
        <p:nvSpPr>
          <p:cNvPr id="10" name="Oval 9">
            <a:extLst>
              <a:ext uri="{FF2B5EF4-FFF2-40B4-BE49-F238E27FC236}">
                <a16:creationId xmlns:a16="http://schemas.microsoft.com/office/drawing/2014/main" id="{1CB5458F-8619-4DE4-A1CE-7E372CC02289}"/>
              </a:ext>
            </a:extLst>
          </p:cNvPr>
          <p:cNvSpPr/>
          <p:nvPr/>
        </p:nvSpPr>
        <p:spPr>
          <a:xfrm>
            <a:off x="2438401" y="5822731"/>
            <a:ext cx="1524002" cy="49875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A1FB215-6C29-4986-A6E5-47CBFAFC1091}"/>
              </a:ext>
            </a:extLst>
          </p:cNvPr>
          <p:cNvCxnSpPr>
            <a:stCxn id="10" idx="5"/>
          </p:cNvCxnSpPr>
          <p:nvPr/>
        </p:nvCxnSpPr>
        <p:spPr>
          <a:xfrm>
            <a:off x="3739218" y="6248446"/>
            <a:ext cx="454410" cy="18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AE3438-7D28-4077-B43A-27EC7E1F02BA}"/>
              </a:ext>
            </a:extLst>
          </p:cNvPr>
          <p:cNvSpPr txBox="1"/>
          <p:nvPr/>
        </p:nvSpPr>
        <p:spPr>
          <a:xfrm>
            <a:off x="4127877" y="6335222"/>
            <a:ext cx="1617559" cy="369332"/>
          </a:xfrm>
          <a:prstGeom prst="rect">
            <a:avLst/>
          </a:prstGeom>
          <a:noFill/>
        </p:spPr>
        <p:txBody>
          <a:bodyPr wrap="none" rtlCol="0">
            <a:spAutoFit/>
          </a:bodyPr>
          <a:lstStyle/>
          <a:p>
            <a:r>
              <a:rPr lang="en-US">
                <a:solidFill>
                  <a:srgbClr val="446785"/>
                </a:solidFill>
              </a:rPr>
              <a:t>Missing values!</a:t>
            </a:r>
          </a:p>
        </p:txBody>
      </p:sp>
      <p:sp>
        <p:nvSpPr>
          <p:cNvPr id="14" name="Right Brace 13">
            <a:extLst>
              <a:ext uri="{FF2B5EF4-FFF2-40B4-BE49-F238E27FC236}">
                <a16:creationId xmlns:a16="http://schemas.microsoft.com/office/drawing/2014/main" id="{F9C755C6-3BDD-408E-B313-905FD797B04F}"/>
              </a:ext>
            </a:extLst>
          </p:cNvPr>
          <p:cNvSpPr/>
          <p:nvPr/>
        </p:nvSpPr>
        <p:spPr>
          <a:xfrm>
            <a:off x="5297219" y="3689131"/>
            <a:ext cx="157655" cy="441435"/>
          </a:xfrm>
          <a:prstGeom prst="rightBrace">
            <a:avLst/>
          </a:prstGeom>
          <a:ln>
            <a:solidFill>
              <a:srgbClr val="44678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8B716DA-A1F8-4717-8820-B3970077E672}"/>
              </a:ext>
            </a:extLst>
          </p:cNvPr>
          <p:cNvSpPr txBox="1"/>
          <p:nvPr/>
        </p:nvSpPr>
        <p:spPr>
          <a:xfrm>
            <a:off x="5575550" y="3605051"/>
            <a:ext cx="6115007" cy="646331"/>
          </a:xfrm>
          <a:prstGeom prst="rect">
            <a:avLst/>
          </a:prstGeom>
          <a:noFill/>
        </p:spPr>
        <p:txBody>
          <a:bodyPr wrap="none" rtlCol="0">
            <a:spAutoFit/>
          </a:bodyPr>
          <a:lstStyle/>
          <a:p>
            <a:r>
              <a:rPr lang="en-US" dirty="0"/>
              <a:t>The </a:t>
            </a:r>
            <a:r>
              <a:rPr lang="en-US" dirty="0" err="1"/>
              <a:t>dataframe</a:t>
            </a:r>
            <a:r>
              <a:rPr lang="en-US" dirty="0"/>
              <a:t> counts 1000 rows and 11 columns </a:t>
            </a:r>
            <a:br>
              <a:rPr lang="en-US" dirty="0"/>
            </a:br>
            <a:r>
              <a:rPr lang="en-US" dirty="0"/>
              <a:t>This information can also be retrieved with the property </a:t>
            </a:r>
            <a:r>
              <a:rPr lang="en-US" b="1" dirty="0">
                <a:solidFill>
                  <a:srgbClr val="446785"/>
                </a:solidFill>
              </a:rPr>
              <a:t>shape</a:t>
            </a:r>
            <a:r>
              <a:rPr lang="en-US" dirty="0"/>
              <a:t>.</a:t>
            </a:r>
          </a:p>
        </p:txBody>
      </p:sp>
      <p:pic>
        <p:nvPicPr>
          <p:cNvPr id="17" name="Picture 16">
            <a:extLst>
              <a:ext uri="{FF2B5EF4-FFF2-40B4-BE49-F238E27FC236}">
                <a16:creationId xmlns:a16="http://schemas.microsoft.com/office/drawing/2014/main" id="{EA528A0B-26EE-4AE6-B687-4F2435C28949}"/>
              </a:ext>
            </a:extLst>
          </p:cNvPr>
          <p:cNvPicPr>
            <a:picLocks noChangeAspect="1"/>
          </p:cNvPicPr>
          <p:nvPr/>
        </p:nvPicPr>
        <p:blipFill>
          <a:blip r:embed="rId3"/>
          <a:stretch>
            <a:fillRect/>
          </a:stretch>
        </p:blipFill>
        <p:spPr>
          <a:xfrm>
            <a:off x="6720728" y="4830765"/>
            <a:ext cx="2409825" cy="285750"/>
          </a:xfrm>
          <a:prstGeom prst="rect">
            <a:avLst/>
          </a:prstGeom>
        </p:spPr>
      </p:pic>
      <p:sp>
        <p:nvSpPr>
          <p:cNvPr id="21" name="TextBox 20">
            <a:extLst>
              <a:ext uri="{FF2B5EF4-FFF2-40B4-BE49-F238E27FC236}">
                <a16:creationId xmlns:a16="http://schemas.microsoft.com/office/drawing/2014/main" id="{152792F0-523B-4C2E-9E60-B4DB60A5B21C}"/>
              </a:ext>
            </a:extLst>
          </p:cNvPr>
          <p:cNvSpPr txBox="1"/>
          <p:nvPr/>
        </p:nvSpPr>
        <p:spPr>
          <a:xfrm>
            <a:off x="6741343" y="4412274"/>
            <a:ext cx="1950712" cy="369332"/>
          </a:xfrm>
          <a:prstGeom prst="rect">
            <a:avLst/>
          </a:prstGeom>
          <a:noFill/>
          <a:ln>
            <a:solidFill>
              <a:srgbClr val="446785"/>
            </a:solidFill>
          </a:ln>
        </p:spPr>
        <p:txBody>
          <a:bodyPr wrap="square">
            <a:spAutoFit/>
          </a:bodyPr>
          <a:lstStyle/>
          <a:p>
            <a:r>
              <a:rPr lang="en-US" b="0" i="0" err="1">
                <a:solidFill>
                  <a:srgbClr val="4D4D4C"/>
                </a:solidFill>
                <a:effectLst/>
                <a:latin typeface="Monaco"/>
              </a:rPr>
              <a:t>df_movies.</a:t>
            </a:r>
            <a:r>
              <a:rPr lang="en-US" b="0" i="0" err="1">
                <a:solidFill>
                  <a:srgbClr val="4271AE"/>
                </a:solidFill>
                <a:effectLst/>
                <a:latin typeface="Monaco"/>
              </a:rPr>
              <a:t>shape</a:t>
            </a:r>
            <a:endParaRPr lang="en-US"/>
          </a:p>
        </p:txBody>
      </p:sp>
    </p:spTree>
    <p:extLst>
      <p:ext uri="{BB962C8B-B14F-4D97-AF65-F5344CB8AC3E}">
        <p14:creationId xmlns:p14="http://schemas.microsoft.com/office/powerpoint/2010/main" val="937404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F9CD-EB90-DDFC-6DD0-8B2375335D44}"/>
              </a:ext>
            </a:extLst>
          </p:cNvPr>
          <p:cNvSpPr>
            <a:spLocks noGrp="1"/>
          </p:cNvSpPr>
          <p:nvPr>
            <p:ph type="title"/>
          </p:nvPr>
        </p:nvSpPr>
        <p:spPr/>
        <p:txBody>
          <a:bodyPr/>
          <a:lstStyle/>
          <a:p>
            <a:r>
              <a:rPr lang="en-US" noProof="0" dirty="0"/>
              <a:t>Getting info about the data</a:t>
            </a:r>
          </a:p>
        </p:txBody>
      </p:sp>
      <p:sp>
        <p:nvSpPr>
          <p:cNvPr id="3" name="Content Placeholder 2">
            <a:extLst>
              <a:ext uri="{FF2B5EF4-FFF2-40B4-BE49-F238E27FC236}">
                <a16:creationId xmlns:a16="http://schemas.microsoft.com/office/drawing/2014/main" id="{F62183F3-4EB4-89FB-77CD-8C77370F0F08}"/>
              </a:ext>
            </a:extLst>
          </p:cNvPr>
          <p:cNvSpPr>
            <a:spLocks noGrp="1"/>
          </p:cNvSpPr>
          <p:nvPr>
            <p:ph idx="1"/>
          </p:nvPr>
        </p:nvSpPr>
        <p:spPr/>
        <p:txBody>
          <a:bodyPr/>
          <a:lstStyle/>
          <a:p>
            <a:r>
              <a:rPr lang="en-US" noProof="0" dirty="0"/>
              <a:t>You can use the </a:t>
            </a:r>
            <a:r>
              <a:rPr lang="en-US" b="1" i="1" noProof="0" dirty="0">
                <a:solidFill>
                  <a:srgbClr val="446785"/>
                </a:solidFill>
              </a:rPr>
              <a:t>.describe() </a:t>
            </a:r>
            <a:r>
              <a:rPr lang="en-US" noProof="0" dirty="0"/>
              <a:t>method to find basic statistical characteristics:</a:t>
            </a:r>
          </a:p>
          <a:p>
            <a:pPr marL="0" indent="0">
              <a:buNone/>
            </a:pPr>
            <a:br>
              <a:rPr lang="en-US" noProof="0" dirty="0"/>
            </a:br>
            <a:endParaRPr lang="en-US" noProof="0" dirty="0"/>
          </a:p>
          <a:p>
            <a:pPr lvl="1"/>
            <a:r>
              <a:rPr lang="en-US" noProof="0" dirty="0"/>
              <a:t>Count: number of non-missing values </a:t>
            </a:r>
          </a:p>
          <a:p>
            <a:pPr lvl="1"/>
            <a:r>
              <a:rPr lang="en-US" noProof="0" dirty="0"/>
              <a:t>Mean</a:t>
            </a:r>
          </a:p>
          <a:p>
            <a:pPr lvl="1"/>
            <a:r>
              <a:rPr lang="en-US" noProof="0" dirty="0"/>
              <a:t>Standard deviation</a:t>
            </a:r>
          </a:p>
          <a:p>
            <a:pPr lvl="1"/>
            <a:r>
              <a:rPr lang="en-US" noProof="0" dirty="0"/>
              <a:t>Median (0,50)</a:t>
            </a:r>
          </a:p>
          <a:p>
            <a:pPr lvl="1"/>
            <a:r>
              <a:rPr lang="en-US" noProof="0" dirty="0"/>
              <a:t>Quartiles (0,25/0,75)</a:t>
            </a:r>
          </a:p>
          <a:p>
            <a:pPr lvl="1"/>
            <a:r>
              <a:rPr lang="en-US" noProof="0" dirty="0"/>
              <a:t>Range: min-max</a:t>
            </a:r>
          </a:p>
          <a:p>
            <a:endParaRPr lang="en-US" noProof="0" dirty="0"/>
          </a:p>
          <a:p>
            <a:endParaRPr lang="en-US" noProof="0" dirty="0"/>
          </a:p>
        </p:txBody>
      </p:sp>
      <p:sp>
        <p:nvSpPr>
          <p:cNvPr id="4" name="Slide Number Placeholder 3">
            <a:extLst>
              <a:ext uri="{FF2B5EF4-FFF2-40B4-BE49-F238E27FC236}">
                <a16:creationId xmlns:a16="http://schemas.microsoft.com/office/drawing/2014/main" id="{86ED9420-6C50-F881-2C54-76060D1A123A}"/>
              </a:ext>
            </a:extLst>
          </p:cNvPr>
          <p:cNvSpPr>
            <a:spLocks noGrp="1"/>
          </p:cNvSpPr>
          <p:nvPr>
            <p:ph type="sldNum" sz="quarter" idx="12"/>
          </p:nvPr>
        </p:nvSpPr>
        <p:spPr/>
        <p:txBody>
          <a:bodyPr/>
          <a:lstStyle/>
          <a:p>
            <a:fld id="{FE1B3154-47D9-4402-8EDB-E791933DC0B9}" type="slidenum">
              <a:rPr lang="nl-BE" smtClean="0"/>
              <a:pPr/>
              <a:t>39</a:t>
            </a:fld>
            <a:endParaRPr lang="nl-BE"/>
          </a:p>
        </p:txBody>
      </p:sp>
      <p:pic>
        <p:nvPicPr>
          <p:cNvPr id="7" name="Picture 6">
            <a:extLst>
              <a:ext uri="{FF2B5EF4-FFF2-40B4-BE49-F238E27FC236}">
                <a16:creationId xmlns:a16="http://schemas.microsoft.com/office/drawing/2014/main" id="{37E67744-0754-8E5A-E8CB-68E40ED2D1FE}"/>
              </a:ext>
            </a:extLst>
          </p:cNvPr>
          <p:cNvPicPr>
            <a:picLocks noChangeAspect="1"/>
          </p:cNvPicPr>
          <p:nvPr/>
        </p:nvPicPr>
        <p:blipFill rotWithShape="1">
          <a:blip r:embed="rId2"/>
          <a:srcRect t="8839" r="5597"/>
          <a:stretch/>
        </p:blipFill>
        <p:spPr>
          <a:xfrm>
            <a:off x="4963715" y="3429000"/>
            <a:ext cx="6910038" cy="2182906"/>
          </a:xfrm>
          <a:prstGeom prst="rect">
            <a:avLst/>
          </a:prstGeom>
        </p:spPr>
      </p:pic>
      <p:sp>
        <p:nvSpPr>
          <p:cNvPr id="8" name="TextBox 7">
            <a:extLst>
              <a:ext uri="{FF2B5EF4-FFF2-40B4-BE49-F238E27FC236}">
                <a16:creationId xmlns:a16="http://schemas.microsoft.com/office/drawing/2014/main" id="{66F97501-E9AC-C1AC-D476-79731E325207}"/>
              </a:ext>
            </a:extLst>
          </p:cNvPr>
          <p:cNvSpPr txBox="1"/>
          <p:nvPr/>
        </p:nvSpPr>
        <p:spPr>
          <a:xfrm>
            <a:off x="940501" y="2222982"/>
            <a:ext cx="4569372"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describe</a:t>
            </a:r>
            <a:r>
              <a:rPr lang="en-US" sz="2000" b="0" i="0">
                <a:solidFill>
                  <a:srgbClr val="4D4D4C"/>
                </a:solidFill>
                <a:effectLst/>
                <a:latin typeface="Monaco"/>
              </a:rPr>
              <a:t>()</a:t>
            </a:r>
            <a:endParaRPr lang="en-US" sz="2000"/>
          </a:p>
        </p:txBody>
      </p:sp>
    </p:spTree>
    <p:extLst>
      <p:ext uri="{BB962C8B-B14F-4D97-AF65-F5344CB8AC3E}">
        <p14:creationId xmlns:p14="http://schemas.microsoft.com/office/powerpoint/2010/main" val="2336077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F9CD-EB90-DDFC-6DD0-8B2375335D44}"/>
              </a:ext>
            </a:extLst>
          </p:cNvPr>
          <p:cNvSpPr>
            <a:spLocks noGrp="1"/>
          </p:cNvSpPr>
          <p:nvPr>
            <p:ph type="title"/>
          </p:nvPr>
        </p:nvSpPr>
        <p:spPr/>
        <p:txBody>
          <a:bodyPr/>
          <a:lstStyle/>
          <a:p>
            <a:r>
              <a:rPr lang="en-US" noProof="0" dirty="0"/>
              <a:t>Getting info about the data</a:t>
            </a:r>
          </a:p>
        </p:txBody>
      </p:sp>
      <p:sp>
        <p:nvSpPr>
          <p:cNvPr id="3" name="Content Placeholder 2">
            <a:extLst>
              <a:ext uri="{FF2B5EF4-FFF2-40B4-BE49-F238E27FC236}">
                <a16:creationId xmlns:a16="http://schemas.microsoft.com/office/drawing/2014/main" id="{F62183F3-4EB4-89FB-77CD-8C77370F0F08}"/>
              </a:ext>
            </a:extLst>
          </p:cNvPr>
          <p:cNvSpPr>
            <a:spLocks noGrp="1"/>
          </p:cNvSpPr>
          <p:nvPr>
            <p:ph idx="1"/>
          </p:nvPr>
        </p:nvSpPr>
        <p:spPr/>
        <p:txBody>
          <a:bodyPr/>
          <a:lstStyle/>
          <a:p>
            <a:pPr marL="0" indent="0">
              <a:buNone/>
            </a:pPr>
            <a:endParaRPr lang="en-US" sz="1800" noProof="0" dirty="0">
              <a:solidFill>
                <a:srgbClr val="9CDCFE"/>
              </a:solidFill>
              <a:latin typeface="Consolas" panose="020B0609020204030204" pitchFamily="49" charset="0"/>
            </a:endParaRPr>
          </a:p>
          <a:p>
            <a:endParaRPr lang="en-US" noProof="0" dirty="0"/>
          </a:p>
        </p:txBody>
      </p:sp>
      <p:sp>
        <p:nvSpPr>
          <p:cNvPr id="4" name="Slide Number Placeholder 3">
            <a:extLst>
              <a:ext uri="{FF2B5EF4-FFF2-40B4-BE49-F238E27FC236}">
                <a16:creationId xmlns:a16="http://schemas.microsoft.com/office/drawing/2014/main" id="{86ED9420-6C50-F881-2C54-76060D1A123A}"/>
              </a:ext>
            </a:extLst>
          </p:cNvPr>
          <p:cNvSpPr>
            <a:spLocks noGrp="1"/>
          </p:cNvSpPr>
          <p:nvPr>
            <p:ph type="sldNum" sz="quarter" idx="12"/>
          </p:nvPr>
        </p:nvSpPr>
        <p:spPr/>
        <p:txBody>
          <a:bodyPr/>
          <a:lstStyle/>
          <a:p>
            <a:fld id="{FE1B3154-47D9-4402-8EDB-E791933DC0B9}" type="slidenum">
              <a:rPr lang="nl-BE" smtClean="0"/>
              <a:pPr/>
              <a:t>40</a:t>
            </a:fld>
            <a:endParaRPr lang="nl-BE"/>
          </a:p>
        </p:txBody>
      </p:sp>
      <p:pic>
        <p:nvPicPr>
          <p:cNvPr id="6" name="Afbeelding 7">
            <a:extLst>
              <a:ext uri="{FF2B5EF4-FFF2-40B4-BE49-F238E27FC236}">
                <a16:creationId xmlns:a16="http://schemas.microsoft.com/office/drawing/2014/main" id="{5E09D636-9656-970D-3B81-5FA1E65CEE20}"/>
              </a:ext>
            </a:extLst>
          </p:cNvPr>
          <p:cNvPicPr>
            <a:picLocks noChangeAspect="1"/>
          </p:cNvPicPr>
          <p:nvPr/>
        </p:nvPicPr>
        <p:blipFill rotWithShape="1">
          <a:blip r:embed="rId3"/>
          <a:srcRect t="28945"/>
          <a:stretch/>
        </p:blipFill>
        <p:spPr>
          <a:xfrm>
            <a:off x="1046189" y="2775492"/>
            <a:ext cx="8448407" cy="1154099"/>
          </a:xfrm>
          <a:prstGeom prst="rect">
            <a:avLst/>
          </a:prstGeom>
        </p:spPr>
      </p:pic>
      <p:pic>
        <p:nvPicPr>
          <p:cNvPr id="8" name="Afbeelding 8" descr="Afbeelding met tafel&#10;&#10;Automatisch gegenereerde beschrijving">
            <a:extLst>
              <a:ext uri="{FF2B5EF4-FFF2-40B4-BE49-F238E27FC236}">
                <a16:creationId xmlns:a16="http://schemas.microsoft.com/office/drawing/2014/main" id="{485F3779-6AFF-487D-712E-1D65304AB0B0}"/>
              </a:ext>
            </a:extLst>
          </p:cNvPr>
          <p:cNvPicPr>
            <a:picLocks noChangeAspect="1"/>
          </p:cNvPicPr>
          <p:nvPr/>
        </p:nvPicPr>
        <p:blipFill rotWithShape="1">
          <a:blip r:embed="rId4"/>
          <a:srcRect t="16357"/>
          <a:stretch/>
        </p:blipFill>
        <p:spPr>
          <a:xfrm>
            <a:off x="1046189" y="4531666"/>
            <a:ext cx="3184487" cy="2007245"/>
          </a:xfrm>
          <a:prstGeom prst="rect">
            <a:avLst/>
          </a:prstGeom>
        </p:spPr>
      </p:pic>
      <p:sp>
        <p:nvSpPr>
          <p:cNvPr id="5" name="Content Placeholder 2">
            <a:extLst>
              <a:ext uri="{FF2B5EF4-FFF2-40B4-BE49-F238E27FC236}">
                <a16:creationId xmlns:a16="http://schemas.microsoft.com/office/drawing/2014/main" id="{7D3D7A91-4077-34E6-413E-90A7F49DA2F7}"/>
              </a:ext>
            </a:extLst>
          </p:cNvPr>
          <p:cNvSpPr txBox="1">
            <a:spLocks/>
          </p:cNvSpPr>
          <p:nvPr/>
        </p:nvSpPr>
        <p:spPr>
          <a:xfrm>
            <a:off x="735105" y="1703294"/>
            <a:ext cx="11291048" cy="46260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When using parameter “include” you can select columns of a certain type</a:t>
            </a:r>
            <a:endParaRPr lang="nl-BE"/>
          </a:p>
        </p:txBody>
      </p:sp>
      <p:sp>
        <p:nvSpPr>
          <p:cNvPr id="7" name="TextBox 6">
            <a:extLst>
              <a:ext uri="{FF2B5EF4-FFF2-40B4-BE49-F238E27FC236}">
                <a16:creationId xmlns:a16="http://schemas.microsoft.com/office/drawing/2014/main" id="{072FBE75-85E5-B387-AFBB-041E47342742}"/>
              </a:ext>
            </a:extLst>
          </p:cNvPr>
          <p:cNvSpPr txBox="1"/>
          <p:nvPr/>
        </p:nvSpPr>
        <p:spPr>
          <a:xfrm>
            <a:off x="1092901" y="4055356"/>
            <a:ext cx="4569372"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describe</a:t>
            </a:r>
            <a:r>
              <a:rPr lang="en-US" sz="2000" b="0" i="0">
                <a:solidFill>
                  <a:srgbClr val="4D4D4C"/>
                </a:solidFill>
                <a:effectLst/>
                <a:latin typeface="Monaco"/>
              </a:rPr>
              <a:t>(</a:t>
            </a:r>
            <a:r>
              <a:rPr lang="nl-BE" sz="2000" b="0" err="1">
                <a:solidFill>
                  <a:srgbClr val="001080"/>
                </a:solidFill>
                <a:effectLst/>
                <a:latin typeface="Monaco"/>
              </a:rPr>
              <a:t>include</a:t>
            </a:r>
            <a:r>
              <a:rPr lang="nl-BE" sz="2000" b="0">
                <a:solidFill>
                  <a:srgbClr val="000000"/>
                </a:solidFill>
                <a:effectLst/>
                <a:latin typeface="Monaco"/>
              </a:rPr>
              <a:t>=</a:t>
            </a:r>
            <a:r>
              <a:rPr lang="nl-BE" sz="2000" b="0">
                <a:solidFill>
                  <a:srgbClr val="A31515"/>
                </a:solidFill>
                <a:effectLst/>
                <a:latin typeface="Monaco"/>
              </a:rPr>
              <a:t>"int"</a:t>
            </a:r>
            <a:r>
              <a:rPr lang="en-US" sz="2000" b="0" i="0">
                <a:solidFill>
                  <a:srgbClr val="4D4D4C"/>
                </a:solidFill>
                <a:effectLst/>
                <a:latin typeface="Monaco"/>
              </a:rPr>
              <a:t>)</a:t>
            </a:r>
            <a:endParaRPr lang="en-US" sz="2000">
              <a:latin typeface="Monaco"/>
            </a:endParaRPr>
          </a:p>
        </p:txBody>
      </p:sp>
      <p:sp>
        <p:nvSpPr>
          <p:cNvPr id="9" name="TextBox 8">
            <a:extLst>
              <a:ext uri="{FF2B5EF4-FFF2-40B4-BE49-F238E27FC236}">
                <a16:creationId xmlns:a16="http://schemas.microsoft.com/office/drawing/2014/main" id="{F9CDEE4B-F922-2D01-0AB9-DAB16AC723D7}"/>
              </a:ext>
            </a:extLst>
          </p:cNvPr>
          <p:cNvSpPr txBox="1"/>
          <p:nvPr/>
        </p:nvSpPr>
        <p:spPr>
          <a:xfrm>
            <a:off x="1092901" y="2237399"/>
            <a:ext cx="4569372"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describe</a:t>
            </a:r>
            <a:r>
              <a:rPr lang="en-US" sz="2000" b="0" i="0">
                <a:solidFill>
                  <a:srgbClr val="4D4D4C"/>
                </a:solidFill>
                <a:effectLst/>
                <a:latin typeface="Monaco"/>
              </a:rPr>
              <a:t>(</a:t>
            </a:r>
            <a:r>
              <a:rPr lang="nl-BE" sz="2000" b="0" err="1">
                <a:solidFill>
                  <a:srgbClr val="001080"/>
                </a:solidFill>
                <a:effectLst/>
                <a:latin typeface="Monaco"/>
              </a:rPr>
              <a:t>include</a:t>
            </a:r>
            <a:r>
              <a:rPr lang="nl-BE" sz="2000" b="0">
                <a:solidFill>
                  <a:srgbClr val="000000"/>
                </a:solidFill>
                <a:effectLst/>
                <a:latin typeface="Monaco"/>
              </a:rPr>
              <a:t>=</a:t>
            </a:r>
            <a:r>
              <a:rPr lang="nl-BE" sz="2000" b="0">
                <a:solidFill>
                  <a:srgbClr val="A31515"/>
                </a:solidFill>
                <a:effectLst/>
                <a:latin typeface="Monaco"/>
              </a:rPr>
              <a:t>“object"</a:t>
            </a:r>
            <a:r>
              <a:rPr lang="en-US" sz="2000" b="0" i="0">
                <a:solidFill>
                  <a:srgbClr val="4D4D4C"/>
                </a:solidFill>
                <a:effectLst/>
                <a:latin typeface="Monaco"/>
              </a:rPr>
              <a:t>)</a:t>
            </a:r>
            <a:endParaRPr lang="en-US" sz="2000">
              <a:latin typeface="Monaco"/>
            </a:endParaRPr>
          </a:p>
        </p:txBody>
      </p:sp>
      <p:sp>
        <p:nvSpPr>
          <p:cNvPr id="10" name="TextBox 9">
            <a:extLst>
              <a:ext uri="{FF2B5EF4-FFF2-40B4-BE49-F238E27FC236}">
                <a16:creationId xmlns:a16="http://schemas.microsoft.com/office/drawing/2014/main" id="{2388FB41-1748-419F-40EB-D82B96A4D746}"/>
              </a:ext>
            </a:extLst>
          </p:cNvPr>
          <p:cNvSpPr txBox="1"/>
          <p:nvPr/>
        </p:nvSpPr>
        <p:spPr>
          <a:xfrm>
            <a:off x="4785360" y="6176963"/>
            <a:ext cx="5136791" cy="369332"/>
          </a:xfrm>
          <a:prstGeom prst="rect">
            <a:avLst/>
          </a:prstGeom>
          <a:noFill/>
        </p:spPr>
        <p:txBody>
          <a:bodyPr wrap="none" rtlCol="0">
            <a:spAutoFit/>
          </a:bodyPr>
          <a:lstStyle/>
          <a:p>
            <a:r>
              <a:rPr lang="nl-BE"/>
              <a:t>! </a:t>
            </a:r>
            <a:r>
              <a:rPr lang="nl-BE" err="1"/>
              <a:t>Notice</a:t>
            </a:r>
            <a:r>
              <a:rPr lang="nl-BE"/>
              <a:t> </a:t>
            </a:r>
            <a:r>
              <a:rPr lang="nl-BE" err="1"/>
              <a:t>the</a:t>
            </a:r>
            <a:r>
              <a:rPr lang="nl-BE"/>
              <a:t> </a:t>
            </a:r>
            <a:r>
              <a:rPr lang="nl-BE" err="1"/>
              <a:t>characteristics</a:t>
            </a:r>
            <a:r>
              <a:rPr lang="nl-BE"/>
              <a:t> change </a:t>
            </a:r>
            <a:r>
              <a:rPr lang="nl-BE" err="1"/>
              <a:t>with</a:t>
            </a:r>
            <a:r>
              <a:rPr lang="nl-BE"/>
              <a:t> </a:t>
            </a:r>
            <a:r>
              <a:rPr lang="nl-BE" err="1"/>
              <a:t>the</a:t>
            </a:r>
            <a:r>
              <a:rPr lang="nl-BE"/>
              <a:t> datatype</a:t>
            </a:r>
          </a:p>
        </p:txBody>
      </p:sp>
    </p:spTree>
    <p:extLst>
      <p:ext uri="{BB962C8B-B14F-4D97-AF65-F5344CB8AC3E}">
        <p14:creationId xmlns:p14="http://schemas.microsoft.com/office/powerpoint/2010/main" val="3675161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43E7-6A52-4F18-9420-2A1298A0D2D0}"/>
              </a:ext>
            </a:extLst>
          </p:cNvPr>
          <p:cNvSpPr>
            <a:spLocks noGrp="1"/>
          </p:cNvSpPr>
          <p:nvPr>
            <p:ph type="title"/>
          </p:nvPr>
        </p:nvSpPr>
        <p:spPr/>
        <p:txBody>
          <a:bodyPr/>
          <a:lstStyle/>
          <a:p>
            <a:r>
              <a:rPr lang="en-US" noProof="0" dirty="0"/>
              <a:t>Column names cleanup</a:t>
            </a:r>
          </a:p>
        </p:txBody>
      </p:sp>
      <p:sp>
        <p:nvSpPr>
          <p:cNvPr id="3" name="Content Placeholder 2">
            <a:extLst>
              <a:ext uri="{FF2B5EF4-FFF2-40B4-BE49-F238E27FC236}">
                <a16:creationId xmlns:a16="http://schemas.microsoft.com/office/drawing/2014/main" id="{6D104F5D-3065-415A-B6DD-9F53363AC696}"/>
              </a:ext>
            </a:extLst>
          </p:cNvPr>
          <p:cNvSpPr>
            <a:spLocks noGrp="1"/>
          </p:cNvSpPr>
          <p:nvPr>
            <p:ph idx="1"/>
          </p:nvPr>
        </p:nvSpPr>
        <p:spPr>
          <a:xfrm>
            <a:off x="582704" y="1550894"/>
            <a:ext cx="11472661" cy="4626069"/>
          </a:xfrm>
        </p:spPr>
        <p:txBody>
          <a:bodyPr/>
          <a:lstStyle/>
          <a:p>
            <a:r>
              <a:rPr lang="en-US" b="0" i="0" noProof="0" dirty="0">
                <a:solidFill>
                  <a:srgbClr val="333333"/>
                </a:solidFill>
                <a:effectLst/>
              </a:rPr>
              <a:t>Best practice for column names is to lowercase them, remove special characters, and replace spaces with underscores</a:t>
            </a:r>
          </a:p>
          <a:p>
            <a:r>
              <a:rPr lang="en-US" b="0" i="0" noProof="0" dirty="0">
                <a:solidFill>
                  <a:srgbClr val="333333"/>
                </a:solidFill>
                <a:effectLst/>
              </a:rPr>
              <a:t>Here's how to get the column names of our dataset:</a:t>
            </a:r>
          </a:p>
          <a:p>
            <a:endParaRPr lang="en-US" noProof="0" dirty="0">
              <a:solidFill>
                <a:srgbClr val="333333"/>
              </a:solidFill>
            </a:endParaRPr>
          </a:p>
          <a:p>
            <a:endParaRPr lang="en-US" noProof="0" dirty="0">
              <a:solidFill>
                <a:srgbClr val="333333"/>
              </a:solidFill>
            </a:endParaRPr>
          </a:p>
          <a:p>
            <a:r>
              <a:rPr lang="en-US" noProof="0" dirty="0">
                <a:solidFill>
                  <a:srgbClr val="333333"/>
                </a:solidFill>
              </a:rPr>
              <a:t>Use the </a:t>
            </a:r>
            <a:r>
              <a:rPr lang="en-US" b="1" i="1" noProof="0" dirty="0">
                <a:solidFill>
                  <a:srgbClr val="446785"/>
                </a:solidFill>
              </a:rPr>
              <a:t>.rename() </a:t>
            </a:r>
            <a:r>
              <a:rPr lang="en-US" noProof="0" dirty="0">
                <a:solidFill>
                  <a:srgbClr val="333333"/>
                </a:solidFill>
              </a:rPr>
              <a:t>method to rename certain or all columns via a dictionary. </a:t>
            </a:r>
            <a:endParaRPr lang="en-US" noProof="0" dirty="0"/>
          </a:p>
        </p:txBody>
      </p:sp>
      <p:sp>
        <p:nvSpPr>
          <p:cNvPr id="4" name="Slide Number Placeholder 3">
            <a:extLst>
              <a:ext uri="{FF2B5EF4-FFF2-40B4-BE49-F238E27FC236}">
                <a16:creationId xmlns:a16="http://schemas.microsoft.com/office/drawing/2014/main" id="{22BBE8A3-7B3B-4130-AFD7-BB153FC00B85}"/>
              </a:ext>
            </a:extLst>
          </p:cNvPr>
          <p:cNvSpPr>
            <a:spLocks noGrp="1"/>
          </p:cNvSpPr>
          <p:nvPr>
            <p:ph type="sldNum" sz="quarter" idx="12"/>
          </p:nvPr>
        </p:nvSpPr>
        <p:spPr/>
        <p:txBody>
          <a:bodyPr/>
          <a:lstStyle/>
          <a:p>
            <a:fld id="{FE1B3154-47D9-4402-8EDB-E791933DC0B9}" type="slidenum">
              <a:rPr lang="nl-BE" smtClean="0"/>
              <a:pPr/>
              <a:t>41</a:t>
            </a:fld>
            <a:endParaRPr lang="nl-BE"/>
          </a:p>
        </p:txBody>
      </p:sp>
      <p:sp>
        <p:nvSpPr>
          <p:cNvPr id="6" name="TextBox 5">
            <a:extLst>
              <a:ext uri="{FF2B5EF4-FFF2-40B4-BE49-F238E27FC236}">
                <a16:creationId xmlns:a16="http://schemas.microsoft.com/office/drawing/2014/main" id="{296D613A-3444-4E51-ACB5-C6FFADDDF8A8}"/>
              </a:ext>
            </a:extLst>
          </p:cNvPr>
          <p:cNvSpPr txBox="1"/>
          <p:nvPr/>
        </p:nvSpPr>
        <p:spPr>
          <a:xfrm>
            <a:off x="938050" y="3028890"/>
            <a:ext cx="2866696"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columns</a:t>
            </a:r>
            <a:endParaRPr lang="en-US" sz="2000"/>
          </a:p>
        </p:txBody>
      </p:sp>
      <p:pic>
        <p:nvPicPr>
          <p:cNvPr id="8" name="Picture 7">
            <a:extLst>
              <a:ext uri="{FF2B5EF4-FFF2-40B4-BE49-F238E27FC236}">
                <a16:creationId xmlns:a16="http://schemas.microsoft.com/office/drawing/2014/main" id="{D20CD5B3-561D-4787-831D-A5EC8276853A}"/>
              </a:ext>
            </a:extLst>
          </p:cNvPr>
          <p:cNvPicPr>
            <a:picLocks noChangeAspect="1"/>
          </p:cNvPicPr>
          <p:nvPr/>
        </p:nvPicPr>
        <p:blipFill>
          <a:blip r:embed="rId2"/>
          <a:stretch>
            <a:fillRect/>
          </a:stretch>
        </p:blipFill>
        <p:spPr>
          <a:xfrm>
            <a:off x="3988676" y="3028890"/>
            <a:ext cx="6715125" cy="923925"/>
          </a:xfrm>
          <a:prstGeom prst="rect">
            <a:avLst/>
          </a:prstGeom>
        </p:spPr>
      </p:pic>
      <p:sp>
        <p:nvSpPr>
          <p:cNvPr id="15" name="TextBox 14">
            <a:extLst>
              <a:ext uri="{FF2B5EF4-FFF2-40B4-BE49-F238E27FC236}">
                <a16:creationId xmlns:a16="http://schemas.microsoft.com/office/drawing/2014/main" id="{A98D4749-4078-4742-BE5C-8B814F9F8C92}"/>
              </a:ext>
            </a:extLst>
          </p:cNvPr>
          <p:cNvSpPr txBox="1"/>
          <p:nvPr/>
        </p:nvSpPr>
        <p:spPr>
          <a:xfrm>
            <a:off x="938049" y="4602456"/>
            <a:ext cx="4127938" cy="1200329"/>
          </a:xfrm>
          <a:prstGeom prst="rect">
            <a:avLst/>
          </a:prstGeom>
          <a:noFill/>
          <a:ln>
            <a:solidFill>
              <a:srgbClr val="446785"/>
            </a:solidFill>
          </a:ln>
        </p:spPr>
        <p:txBody>
          <a:bodyPr wrap="square">
            <a:spAutoFit/>
          </a:bodyPr>
          <a:lstStyle/>
          <a:p>
            <a:pPr algn="l"/>
            <a:r>
              <a:rPr lang="en-US" b="0" i="0" err="1">
                <a:solidFill>
                  <a:srgbClr val="4D4D4C"/>
                </a:solidFill>
                <a:effectLst/>
                <a:latin typeface="Monaco"/>
              </a:rPr>
              <a:t>df_movies.</a:t>
            </a:r>
            <a:r>
              <a:rPr lang="en-US" b="0" i="0" err="1">
                <a:solidFill>
                  <a:srgbClr val="4271AE"/>
                </a:solidFill>
                <a:effectLst/>
                <a:latin typeface="Monaco"/>
              </a:rPr>
              <a:t>rename</a:t>
            </a:r>
            <a:r>
              <a:rPr lang="en-US" b="0" i="0">
                <a:solidFill>
                  <a:srgbClr val="4D4D4C"/>
                </a:solidFill>
                <a:effectLst/>
                <a:latin typeface="Monaco"/>
              </a:rPr>
              <a:t>(columns</a:t>
            </a:r>
            <a:r>
              <a:rPr lang="en-US" b="0" i="0">
                <a:solidFill>
                  <a:srgbClr val="3E999F"/>
                </a:solidFill>
                <a:effectLst/>
                <a:latin typeface="Monaco"/>
              </a:rPr>
              <a:t>=</a:t>
            </a:r>
            <a:r>
              <a:rPr lang="en-US" b="0" i="0">
                <a:solidFill>
                  <a:srgbClr val="4D4D4C"/>
                </a:solidFill>
                <a:effectLst/>
                <a:latin typeface="Monaco"/>
              </a:rPr>
              <a:t>{ </a:t>
            </a:r>
          </a:p>
          <a:p>
            <a:pPr algn="l"/>
            <a:r>
              <a:rPr lang="en-US" b="0" i="0">
                <a:solidFill>
                  <a:srgbClr val="718C00"/>
                </a:solidFill>
                <a:effectLst/>
                <a:latin typeface="Monaco"/>
              </a:rPr>
              <a:t>'Runtime (Minutes)'</a:t>
            </a:r>
            <a:r>
              <a:rPr lang="en-US" b="0" i="0">
                <a:solidFill>
                  <a:srgbClr val="4D4D4C"/>
                </a:solidFill>
                <a:effectLst/>
                <a:latin typeface="Monaco"/>
              </a:rPr>
              <a:t>: </a:t>
            </a:r>
            <a:r>
              <a:rPr lang="en-US" b="0" i="0">
                <a:solidFill>
                  <a:srgbClr val="718C00"/>
                </a:solidFill>
                <a:effectLst/>
                <a:latin typeface="Monaco"/>
              </a:rPr>
              <a:t>'Runtime'</a:t>
            </a:r>
            <a:r>
              <a:rPr lang="en-US" b="0" i="0">
                <a:solidFill>
                  <a:srgbClr val="4D4D4C"/>
                </a:solidFill>
                <a:effectLst/>
                <a:latin typeface="Monaco"/>
              </a:rPr>
              <a:t>, </a:t>
            </a:r>
          </a:p>
          <a:p>
            <a:pPr algn="l"/>
            <a:r>
              <a:rPr lang="en-US" b="0" i="0">
                <a:solidFill>
                  <a:srgbClr val="718C00"/>
                </a:solidFill>
                <a:effectLst/>
                <a:latin typeface="Monaco"/>
              </a:rPr>
              <a:t>'Revenue (Millions)'</a:t>
            </a:r>
            <a:r>
              <a:rPr lang="en-US" b="0" i="0">
                <a:solidFill>
                  <a:srgbClr val="4D4D4C"/>
                </a:solidFill>
                <a:effectLst/>
                <a:latin typeface="Monaco"/>
              </a:rPr>
              <a:t>: </a:t>
            </a:r>
            <a:r>
              <a:rPr lang="en-US" b="0" i="0">
                <a:solidFill>
                  <a:srgbClr val="718C00"/>
                </a:solidFill>
                <a:effectLst/>
                <a:latin typeface="Monaco"/>
              </a:rPr>
              <a:t>'</a:t>
            </a:r>
            <a:r>
              <a:rPr lang="en-US" b="0" i="0" err="1">
                <a:solidFill>
                  <a:srgbClr val="718C00"/>
                </a:solidFill>
                <a:effectLst/>
                <a:latin typeface="Monaco"/>
              </a:rPr>
              <a:t>Revenue_millions</a:t>
            </a:r>
            <a:r>
              <a:rPr lang="en-US" b="0" i="0">
                <a:solidFill>
                  <a:srgbClr val="718C00"/>
                </a:solidFill>
                <a:effectLst/>
                <a:latin typeface="Monaco"/>
              </a:rPr>
              <a:t>'</a:t>
            </a:r>
            <a:r>
              <a:rPr lang="en-US" b="0" i="0">
                <a:solidFill>
                  <a:srgbClr val="4D4D4C"/>
                </a:solidFill>
                <a:effectLst/>
                <a:latin typeface="Monaco"/>
              </a:rPr>
              <a:t> </a:t>
            </a:r>
          </a:p>
          <a:p>
            <a:pPr algn="l"/>
            <a:r>
              <a:rPr lang="en-US" b="0" i="0">
                <a:solidFill>
                  <a:srgbClr val="4D4D4C"/>
                </a:solidFill>
                <a:effectLst/>
                <a:latin typeface="Monaco"/>
              </a:rPr>
              <a:t>}, </a:t>
            </a:r>
            <a:r>
              <a:rPr lang="en-US" b="0" i="0" err="1">
                <a:solidFill>
                  <a:srgbClr val="4D4D4C"/>
                </a:solidFill>
                <a:effectLst/>
                <a:latin typeface="Monaco"/>
              </a:rPr>
              <a:t>inplace</a:t>
            </a:r>
            <a:r>
              <a:rPr lang="en-US" b="0" i="0">
                <a:solidFill>
                  <a:srgbClr val="3E999F"/>
                </a:solidFill>
                <a:effectLst/>
                <a:latin typeface="Monaco"/>
              </a:rPr>
              <a:t>=</a:t>
            </a:r>
            <a:r>
              <a:rPr lang="en-US" b="0" i="0">
                <a:solidFill>
                  <a:srgbClr val="F5871F"/>
                </a:solidFill>
                <a:effectLst/>
                <a:latin typeface="Monaco"/>
              </a:rPr>
              <a:t>True</a:t>
            </a:r>
            <a:r>
              <a:rPr lang="en-US" b="0" i="0">
                <a:solidFill>
                  <a:srgbClr val="4D4D4C"/>
                </a:solidFill>
                <a:effectLst/>
                <a:latin typeface="Monaco"/>
              </a:rPr>
              <a:t>)</a:t>
            </a:r>
          </a:p>
        </p:txBody>
      </p:sp>
      <p:pic>
        <p:nvPicPr>
          <p:cNvPr id="17" name="Picture 16">
            <a:extLst>
              <a:ext uri="{FF2B5EF4-FFF2-40B4-BE49-F238E27FC236}">
                <a16:creationId xmlns:a16="http://schemas.microsoft.com/office/drawing/2014/main" id="{212338DC-D46D-4535-AC28-A854A2D5F3FB}"/>
              </a:ext>
            </a:extLst>
          </p:cNvPr>
          <p:cNvPicPr>
            <a:picLocks noChangeAspect="1"/>
          </p:cNvPicPr>
          <p:nvPr/>
        </p:nvPicPr>
        <p:blipFill>
          <a:blip r:embed="rId3"/>
          <a:stretch>
            <a:fillRect/>
          </a:stretch>
        </p:blipFill>
        <p:spPr>
          <a:xfrm>
            <a:off x="5205866" y="4635067"/>
            <a:ext cx="6725830" cy="694888"/>
          </a:xfrm>
          <a:prstGeom prst="rect">
            <a:avLst/>
          </a:prstGeom>
        </p:spPr>
      </p:pic>
      <p:sp>
        <p:nvSpPr>
          <p:cNvPr id="26" name="TextBox 25">
            <a:extLst>
              <a:ext uri="{FF2B5EF4-FFF2-40B4-BE49-F238E27FC236}">
                <a16:creationId xmlns:a16="http://schemas.microsoft.com/office/drawing/2014/main" id="{2A38DE72-9B2A-465A-AA87-E05E4C0FBDB1}"/>
              </a:ext>
            </a:extLst>
          </p:cNvPr>
          <p:cNvSpPr txBox="1"/>
          <p:nvPr/>
        </p:nvSpPr>
        <p:spPr>
          <a:xfrm>
            <a:off x="893376" y="5992297"/>
            <a:ext cx="7805535" cy="369332"/>
          </a:xfrm>
          <a:prstGeom prst="rect">
            <a:avLst/>
          </a:prstGeom>
          <a:noFill/>
        </p:spPr>
        <p:txBody>
          <a:bodyPr wrap="none" rtlCol="0">
            <a:spAutoFit/>
          </a:bodyPr>
          <a:lstStyle/>
          <a:p>
            <a:r>
              <a:rPr lang="en-US" dirty="0" err="1"/>
              <a:t>Inplace</a:t>
            </a:r>
            <a:r>
              <a:rPr lang="en-US" dirty="0"/>
              <a:t> = true is an alternative way to code </a:t>
            </a:r>
            <a:r>
              <a:rPr lang="en-US" dirty="0" err="1"/>
              <a:t>df_movies</a:t>
            </a:r>
            <a:r>
              <a:rPr lang="en-US" dirty="0"/>
              <a:t> = </a:t>
            </a:r>
            <a:r>
              <a:rPr lang="en-US" dirty="0" err="1"/>
              <a:t>df_movies.rename</a:t>
            </a:r>
            <a:r>
              <a:rPr lang="en-US" dirty="0"/>
              <a:t>(….)</a:t>
            </a:r>
          </a:p>
        </p:txBody>
      </p:sp>
    </p:spTree>
    <p:extLst>
      <p:ext uri="{BB962C8B-B14F-4D97-AF65-F5344CB8AC3E}">
        <p14:creationId xmlns:p14="http://schemas.microsoft.com/office/powerpoint/2010/main" val="2983246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43E7-6A52-4F18-9420-2A1298A0D2D0}"/>
              </a:ext>
            </a:extLst>
          </p:cNvPr>
          <p:cNvSpPr>
            <a:spLocks noGrp="1"/>
          </p:cNvSpPr>
          <p:nvPr>
            <p:ph type="title"/>
          </p:nvPr>
        </p:nvSpPr>
        <p:spPr/>
        <p:txBody>
          <a:bodyPr/>
          <a:lstStyle/>
          <a:p>
            <a:r>
              <a:rPr lang="en-US" noProof="0" dirty="0"/>
              <a:t>Column names cleanup</a:t>
            </a:r>
          </a:p>
        </p:txBody>
      </p:sp>
      <p:sp>
        <p:nvSpPr>
          <p:cNvPr id="3" name="Content Placeholder 2">
            <a:extLst>
              <a:ext uri="{FF2B5EF4-FFF2-40B4-BE49-F238E27FC236}">
                <a16:creationId xmlns:a16="http://schemas.microsoft.com/office/drawing/2014/main" id="{6D104F5D-3065-415A-B6DD-9F53363AC696}"/>
              </a:ext>
            </a:extLst>
          </p:cNvPr>
          <p:cNvSpPr>
            <a:spLocks noGrp="1"/>
          </p:cNvSpPr>
          <p:nvPr>
            <p:ph idx="1"/>
          </p:nvPr>
        </p:nvSpPr>
        <p:spPr/>
        <p:txBody>
          <a:bodyPr/>
          <a:lstStyle/>
          <a:p>
            <a:r>
              <a:rPr lang="en-US" noProof="0" dirty="0">
                <a:solidFill>
                  <a:srgbClr val="333333"/>
                </a:solidFill>
              </a:rPr>
              <a:t>You can also set the columns property to a list of appropriate names:</a:t>
            </a:r>
          </a:p>
          <a:p>
            <a:endParaRPr lang="en-US" noProof="0" dirty="0">
              <a:solidFill>
                <a:srgbClr val="333333"/>
              </a:solidFill>
            </a:endParaRPr>
          </a:p>
          <a:p>
            <a:endParaRPr lang="en-US" noProof="0" dirty="0">
              <a:solidFill>
                <a:srgbClr val="333333"/>
              </a:solidFill>
            </a:endParaRPr>
          </a:p>
          <a:p>
            <a:r>
              <a:rPr lang="en-US" noProof="0" dirty="0">
                <a:solidFill>
                  <a:srgbClr val="333333"/>
                </a:solidFill>
              </a:rPr>
              <a:t>The above solution is a long way to lowercase each column. </a:t>
            </a:r>
            <a:r>
              <a:rPr lang="en-US" b="0" i="0" noProof="0" dirty="0">
                <a:solidFill>
                  <a:srgbClr val="333333"/>
                </a:solidFill>
                <a:effectLst/>
              </a:rPr>
              <a:t> Instead of just renaming each column manually we can do a list comprehension:</a:t>
            </a:r>
            <a:endParaRPr lang="en-US" noProof="0" dirty="0"/>
          </a:p>
        </p:txBody>
      </p:sp>
      <p:sp>
        <p:nvSpPr>
          <p:cNvPr id="4" name="Slide Number Placeholder 3">
            <a:extLst>
              <a:ext uri="{FF2B5EF4-FFF2-40B4-BE49-F238E27FC236}">
                <a16:creationId xmlns:a16="http://schemas.microsoft.com/office/drawing/2014/main" id="{22BBE8A3-7B3B-4130-AFD7-BB153FC00B85}"/>
              </a:ext>
            </a:extLst>
          </p:cNvPr>
          <p:cNvSpPr>
            <a:spLocks noGrp="1"/>
          </p:cNvSpPr>
          <p:nvPr>
            <p:ph type="sldNum" sz="quarter" idx="12"/>
          </p:nvPr>
        </p:nvSpPr>
        <p:spPr/>
        <p:txBody>
          <a:bodyPr/>
          <a:lstStyle/>
          <a:p>
            <a:fld id="{FE1B3154-47D9-4402-8EDB-E791933DC0B9}" type="slidenum">
              <a:rPr lang="nl-BE" smtClean="0"/>
              <a:pPr/>
              <a:t>42</a:t>
            </a:fld>
            <a:endParaRPr lang="nl-BE"/>
          </a:p>
        </p:txBody>
      </p:sp>
      <p:sp>
        <p:nvSpPr>
          <p:cNvPr id="10" name="TextBox 9">
            <a:extLst>
              <a:ext uri="{FF2B5EF4-FFF2-40B4-BE49-F238E27FC236}">
                <a16:creationId xmlns:a16="http://schemas.microsoft.com/office/drawing/2014/main" id="{5A8B902A-FF46-4515-B68F-837681B67CCD}"/>
              </a:ext>
            </a:extLst>
          </p:cNvPr>
          <p:cNvSpPr txBox="1"/>
          <p:nvPr/>
        </p:nvSpPr>
        <p:spPr>
          <a:xfrm>
            <a:off x="896007" y="2079785"/>
            <a:ext cx="9866585" cy="707886"/>
          </a:xfrm>
          <a:prstGeom prst="rect">
            <a:avLst/>
          </a:prstGeom>
          <a:noFill/>
          <a:ln>
            <a:solidFill>
              <a:srgbClr val="446785"/>
            </a:solidFill>
          </a:ln>
        </p:spPr>
        <p:txBody>
          <a:bodyPr wrap="square">
            <a:spAutoFit/>
          </a:bodyPr>
          <a:lstStyle/>
          <a:p>
            <a:pPr algn="l"/>
            <a:r>
              <a:rPr lang="en-US" sz="2000" b="0" i="0" err="1">
                <a:solidFill>
                  <a:srgbClr val="4D4D4C"/>
                </a:solidFill>
                <a:effectLst/>
                <a:latin typeface="Monaco"/>
              </a:rPr>
              <a:t>df_movies.</a:t>
            </a:r>
            <a:r>
              <a:rPr lang="en-US" sz="2000" b="0" i="0" err="1">
                <a:solidFill>
                  <a:srgbClr val="4271AE"/>
                </a:solidFill>
                <a:effectLst/>
                <a:latin typeface="Monaco"/>
              </a:rPr>
              <a:t>columns</a:t>
            </a:r>
            <a:r>
              <a:rPr lang="en-US" sz="2000" b="0" i="0">
                <a:solidFill>
                  <a:srgbClr val="4D4D4C"/>
                </a:solidFill>
                <a:effectLst/>
                <a:latin typeface="Monaco"/>
              </a:rPr>
              <a:t> </a:t>
            </a:r>
            <a:r>
              <a:rPr lang="en-US" sz="2000" b="0" i="0">
                <a:solidFill>
                  <a:srgbClr val="3E999F"/>
                </a:solidFill>
                <a:effectLst/>
                <a:latin typeface="Monaco"/>
              </a:rPr>
              <a:t>=</a:t>
            </a:r>
            <a:r>
              <a:rPr lang="en-US" sz="2000" b="0" i="0">
                <a:solidFill>
                  <a:srgbClr val="4D4D4C"/>
                </a:solidFill>
                <a:effectLst/>
                <a:latin typeface="Monaco"/>
              </a:rPr>
              <a:t> [</a:t>
            </a:r>
            <a:r>
              <a:rPr lang="en-US" sz="2000" b="0" i="0">
                <a:solidFill>
                  <a:srgbClr val="718C00"/>
                </a:solidFill>
                <a:effectLst/>
                <a:latin typeface="Monaco"/>
              </a:rPr>
              <a:t>'rank'</a:t>
            </a:r>
            <a:r>
              <a:rPr lang="en-US" sz="2000" b="0" i="0">
                <a:solidFill>
                  <a:srgbClr val="4D4D4C"/>
                </a:solidFill>
                <a:effectLst/>
                <a:latin typeface="Monaco"/>
              </a:rPr>
              <a:t>, </a:t>
            </a:r>
            <a:r>
              <a:rPr lang="en-US" sz="2000" b="0" i="0">
                <a:solidFill>
                  <a:srgbClr val="718C00"/>
                </a:solidFill>
                <a:effectLst/>
                <a:latin typeface="Monaco"/>
              </a:rPr>
              <a:t>'genre'</a:t>
            </a:r>
            <a:r>
              <a:rPr lang="en-US" sz="2000" b="0" i="0">
                <a:solidFill>
                  <a:srgbClr val="4D4D4C"/>
                </a:solidFill>
                <a:effectLst/>
                <a:latin typeface="Monaco"/>
              </a:rPr>
              <a:t>, </a:t>
            </a:r>
            <a:r>
              <a:rPr lang="en-US" sz="2000" b="0" i="0">
                <a:solidFill>
                  <a:srgbClr val="718C00"/>
                </a:solidFill>
                <a:effectLst/>
                <a:latin typeface="Monaco"/>
              </a:rPr>
              <a:t>'description'</a:t>
            </a:r>
            <a:r>
              <a:rPr lang="en-US" sz="2000" b="0" i="0">
                <a:solidFill>
                  <a:srgbClr val="4D4D4C"/>
                </a:solidFill>
                <a:effectLst/>
                <a:latin typeface="Monaco"/>
              </a:rPr>
              <a:t>, </a:t>
            </a:r>
            <a:r>
              <a:rPr lang="en-US" sz="2000" b="0" i="0">
                <a:solidFill>
                  <a:srgbClr val="718C00"/>
                </a:solidFill>
                <a:effectLst/>
                <a:latin typeface="Monaco"/>
              </a:rPr>
              <a:t>'director'</a:t>
            </a:r>
            <a:r>
              <a:rPr lang="en-US" sz="2000" b="0" i="0">
                <a:solidFill>
                  <a:srgbClr val="4D4D4C"/>
                </a:solidFill>
                <a:effectLst/>
                <a:latin typeface="Monaco"/>
              </a:rPr>
              <a:t>, </a:t>
            </a:r>
            <a:r>
              <a:rPr lang="en-US" sz="2000" b="0" i="0">
                <a:solidFill>
                  <a:srgbClr val="718C00"/>
                </a:solidFill>
                <a:effectLst/>
                <a:latin typeface="Monaco"/>
              </a:rPr>
              <a:t>'actors'</a:t>
            </a:r>
            <a:r>
              <a:rPr lang="en-US" sz="2000" b="0" i="0">
                <a:solidFill>
                  <a:srgbClr val="4D4D4C"/>
                </a:solidFill>
                <a:effectLst/>
                <a:latin typeface="Monaco"/>
              </a:rPr>
              <a:t>, </a:t>
            </a:r>
            <a:r>
              <a:rPr lang="en-US" sz="2000" b="0" i="0">
                <a:solidFill>
                  <a:srgbClr val="718C00"/>
                </a:solidFill>
                <a:effectLst/>
                <a:latin typeface="Monaco"/>
              </a:rPr>
              <a:t>'year'</a:t>
            </a:r>
            <a:r>
              <a:rPr lang="en-US" sz="2000" b="0" i="0">
                <a:solidFill>
                  <a:srgbClr val="4D4D4C"/>
                </a:solidFill>
                <a:effectLst/>
                <a:latin typeface="Monaco"/>
              </a:rPr>
              <a:t>, </a:t>
            </a:r>
            <a:r>
              <a:rPr lang="en-US" sz="2000" b="0" i="0">
                <a:solidFill>
                  <a:srgbClr val="718C00"/>
                </a:solidFill>
                <a:effectLst/>
                <a:latin typeface="Monaco"/>
              </a:rPr>
              <a:t>'runtime'</a:t>
            </a:r>
            <a:r>
              <a:rPr lang="en-US" sz="2000" b="0" i="0">
                <a:solidFill>
                  <a:srgbClr val="4D4D4C"/>
                </a:solidFill>
                <a:effectLst/>
                <a:latin typeface="Monaco"/>
              </a:rPr>
              <a:t>, </a:t>
            </a:r>
          </a:p>
          <a:p>
            <a:pPr algn="l"/>
            <a:r>
              <a:rPr lang="en-US" sz="2000" b="0" i="0">
                <a:solidFill>
                  <a:srgbClr val="718C00"/>
                </a:solidFill>
                <a:effectLst/>
                <a:latin typeface="Monaco"/>
              </a:rPr>
              <a:t>'rating'</a:t>
            </a:r>
            <a:r>
              <a:rPr lang="en-US" sz="2000" b="0" i="0">
                <a:solidFill>
                  <a:srgbClr val="4D4D4C"/>
                </a:solidFill>
                <a:effectLst/>
                <a:latin typeface="Monaco"/>
              </a:rPr>
              <a:t>, </a:t>
            </a:r>
            <a:r>
              <a:rPr lang="en-US" sz="2000" b="0" i="0">
                <a:solidFill>
                  <a:srgbClr val="718C00"/>
                </a:solidFill>
                <a:effectLst/>
                <a:latin typeface="Monaco"/>
              </a:rPr>
              <a:t>'votes'</a:t>
            </a:r>
            <a:r>
              <a:rPr lang="en-US" sz="2000" b="0" i="0">
                <a:solidFill>
                  <a:srgbClr val="4D4D4C"/>
                </a:solidFill>
                <a:effectLst/>
                <a:latin typeface="Monaco"/>
              </a:rPr>
              <a:t>, </a:t>
            </a:r>
            <a:r>
              <a:rPr lang="en-US" sz="2000" b="0" i="0">
                <a:solidFill>
                  <a:srgbClr val="718C00"/>
                </a:solidFill>
                <a:effectLst/>
                <a:latin typeface="Monaco"/>
              </a:rPr>
              <a:t>'</a:t>
            </a:r>
            <a:r>
              <a:rPr lang="en-US" sz="2000" b="0" i="0" err="1">
                <a:solidFill>
                  <a:srgbClr val="718C00"/>
                </a:solidFill>
                <a:effectLst/>
                <a:latin typeface="Monaco"/>
              </a:rPr>
              <a:t>revenue_millions</a:t>
            </a:r>
            <a:r>
              <a:rPr lang="en-US" sz="2000" b="0" i="0">
                <a:solidFill>
                  <a:srgbClr val="718C00"/>
                </a:solidFill>
                <a:effectLst/>
                <a:latin typeface="Monaco"/>
              </a:rPr>
              <a:t>'</a:t>
            </a:r>
            <a:r>
              <a:rPr lang="en-US" sz="2000" b="0" i="0">
                <a:solidFill>
                  <a:srgbClr val="4D4D4C"/>
                </a:solidFill>
                <a:effectLst/>
                <a:latin typeface="Monaco"/>
              </a:rPr>
              <a:t>, </a:t>
            </a:r>
            <a:r>
              <a:rPr lang="en-US" sz="2000" b="0" i="0">
                <a:solidFill>
                  <a:srgbClr val="718C00"/>
                </a:solidFill>
                <a:effectLst/>
                <a:latin typeface="Monaco"/>
              </a:rPr>
              <a:t>'</a:t>
            </a:r>
            <a:r>
              <a:rPr lang="en-US" sz="2000" b="0" i="0" err="1">
                <a:solidFill>
                  <a:srgbClr val="718C00"/>
                </a:solidFill>
                <a:effectLst/>
                <a:latin typeface="Monaco"/>
              </a:rPr>
              <a:t>metascore</a:t>
            </a:r>
            <a:r>
              <a:rPr lang="en-US" sz="2000" b="0" i="0">
                <a:solidFill>
                  <a:srgbClr val="718C00"/>
                </a:solidFill>
                <a:effectLst/>
                <a:latin typeface="Monaco"/>
              </a:rPr>
              <a:t>'</a:t>
            </a:r>
            <a:r>
              <a:rPr lang="en-US" sz="2000" b="0" i="0">
                <a:solidFill>
                  <a:srgbClr val="4D4D4C"/>
                </a:solidFill>
                <a:effectLst/>
                <a:latin typeface="Monaco"/>
              </a:rPr>
              <a:t>]</a:t>
            </a:r>
          </a:p>
        </p:txBody>
      </p:sp>
      <p:sp>
        <p:nvSpPr>
          <p:cNvPr id="9" name="TextBox 8">
            <a:extLst>
              <a:ext uri="{FF2B5EF4-FFF2-40B4-BE49-F238E27FC236}">
                <a16:creationId xmlns:a16="http://schemas.microsoft.com/office/drawing/2014/main" id="{833E747D-7694-4A03-BCD3-7339875DC39E}"/>
              </a:ext>
            </a:extLst>
          </p:cNvPr>
          <p:cNvSpPr txBox="1"/>
          <p:nvPr/>
        </p:nvSpPr>
        <p:spPr>
          <a:xfrm>
            <a:off x="896007" y="4070330"/>
            <a:ext cx="6101254" cy="369332"/>
          </a:xfrm>
          <a:prstGeom prst="rect">
            <a:avLst/>
          </a:prstGeom>
          <a:noFill/>
          <a:ln>
            <a:solidFill>
              <a:schemeClr val="accent1">
                <a:lumMod val="75000"/>
              </a:schemeClr>
            </a:solidFill>
          </a:ln>
        </p:spPr>
        <p:txBody>
          <a:bodyPr wrap="square">
            <a:spAutoFit/>
          </a:bodyPr>
          <a:lstStyle/>
          <a:p>
            <a:r>
              <a:rPr lang="en-US" b="0" i="0" dirty="0" err="1">
                <a:solidFill>
                  <a:srgbClr val="4D4D4C"/>
                </a:solidFill>
                <a:effectLst/>
                <a:latin typeface="Monaco"/>
              </a:rPr>
              <a:t>df_movies.</a:t>
            </a:r>
            <a:r>
              <a:rPr lang="en-US" b="0" i="0" dirty="0" err="1">
                <a:solidFill>
                  <a:srgbClr val="4271AE"/>
                </a:solidFill>
                <a:effectLst/>
                <a:latin typeface="Monaco"/>
              </a:rPr>
              <a:t>columns</a:t>
            </a:r>
            <a:r>
              <a:rPr lang="en-US" b="0" i="0" dirty="0">
                <a:solidFill>
                  <a:srgbClr val="4D4D4C"/>
                </a:solidFill>
                <a:effectLst/>
                <a:latin typeface="Monaco"/>
              </a:rPr>
              <a:t> </a:t>
            </a:r>
            <a:r>
              <a:rPr lang="en-US" b="0" i="0" dirty="0">
                <a:solidFill>
                  <a:srgbClr val="3E999F"/>
                </a:solidFill>
                <a:effectLst/>
                <a:latin typeface="Monaco"/>
              </a:rPr>
              <a:t>=</a:t>
            </a:r>
            <a:r>
              <a:rPr lang="en-US" b="0" i="0" dirty="0">
                <a:solidFill>
                  <a:srgbClr val="4D4D4C"/>
                </a:solidFill>
                <a:effectLst/>
                <a:latin typeface="Monaco"/>
              </a:rPr>
              <a:t> [</a:t>
            </a:r>
            <a:r>
              <a:rPr lang="en-US" b="0" i="0" dirty="0" err="1">
                <a:solidFill>
                  <a:srgbClr val="4D4D4C"/>
                </a:solidFill>
                <a:effectLst/>
                <a:latin typeface="Monaco"/>
              </a:rPr>
              <a:t>col.</a:t>
            </a:r>
            <a:r>
              <a:rPr lang="en-US" b="0" i="0" dirty="0" err="1">
                <a:solidFill>
                  <a:srgbClr val="4271AE"/>
                </a:solidFill>
                <a:effectLst/>
                <a:latin typeface="Monaco"/>
              </a:rPr>
              <a:t>lower</a:t>
            </a:r>
            <a:r>
              <a:rPr lang="en-US" b="0" i="0" dirty="0">
                <a:solidFill>
                  <a:srgbClr val="4D4D4C"/>
                </a:solidFill>
                <a:effectLst/>
                <a:latin typeface="Monaco"/>
              </a:rPr>
              <a:t>() </a:t>
            </a:r>
            <a:r>
              <a:rPr lang="en-US" b="0" i="0" dirty="0">
                <a:solidFill>
                  <a:srgbClr val="8959A8"/>
                </a:solidFill>
                <a:effectLst/>
                <a:latin typeface="Monaco"/>
              </a:rPr>
              <a:t>for</a:t>
            </a:r>
            <a:r>
              <a:rPr lang="en-US" b="0" i="0" dirty="0">
                <a:solidFill>
                  <a:srgbClr val="4D4D4C"/>
                </a:solidFill>
                <a:effectLst/>
                <a:latin typeface="Monaco"/>
              </a:rPr>
              <a:t> col </a:t>
            </a:r>
            <a:r>
              <a:rPr lang="en-US" b="0" i="0" dirty="0">
                <a:solidFill>
                  <a:srgbClr val="8959A8"/>
                </a:solidFill>
                <a:effectLst/>
                <a:latin typeface="Monaco"/>
              </a:rPr>
              <a:t>in</a:t>
            </a:r>
            <a:r>
              <a:rPr lang="en-US" b="0" i="0" dirty="0">
                <a:solidFill>
                  <a:srgbClr val="4D4D4C"/>
                </a:solidFill>
                <a:effectLst/>
                <a:latin typeface="Monaco"/>
              </a:rPr>
              <a:t> </a:t>
            </a:r>
            <a:r>
              <a:rPr lang="en-US" b="0" i="0" dirty="0" err="1">
                <a:solidFill>
                  <a:srgbClr val="4D4D4C"/>
                </a:solidFill>
                <a:effectLst/>
                <a:latin typeface="Monaco"/>
              </a:rPr>
              <a:t>df_movies</a:t>
            </a:r>
            <a:r>
              <a:rPr lang="en-US" b="0" i="0" dirty="0">
                <a:solidFill>
                  <a:srgbClr val="4D4D4C"/>
                </a:solidFill>
                <a:effectLst/>
                <a:latin typeface="Monaco"/>
              </a:rPr>
              <a:t>]</a:t>
            </a:r>
            <a:endParaRPr lang="en-US" dirty="0"/>
          </a:p>
        </p:txBody>
      </p:sp>
      <p:pic>
        <p:nvPicPr>
          <p:cNvPr id="11" name="Picture 10">
            <a:extLst>
              <a:ext uri="{FF2B5EF4-FFF2-40B4-BE49-F238E27FC236}">
                <a16:creationId xmlns:a16="http://schemas.microsoft.com/office/drawing/2014/main" id="{78918A08-504D-4228-9F07-82165E414818}"/>
              </a:ext>
            </a:extLst>
          </p:cNvPr>
          <p:cNvPicPr>
            <a:picLocks noChangeAspect="1"/>
          </p:cNvPicPr>
          <p:nvPr/>
        </p:nvPicPr>
        <p:blipFill rotWithShape="1">
          <a:blip r:embed="rId2"/>
          <a:srcRect l="1501"/>
          <a:stretch/>
        </p:blipFill>
        <p:spPr>
          <a:xfrm>
            <a:off x="945933" y="4864250"/>
            <a:ext cx="7411764" cy="762000"/>
          </a:xfrm>
          <a:prstGeom prst="rect">
            <a:avLst/>
          </a:prstGeom>
        </p:spPr>
      </p:pic>
    </p:spTree>
    <p:extLst>
      <p:ext uri="{BB962C8B-B14F-4D97-AF65-F5344CB8AC3E}">
        <p14:creationId xmlns:p14="http://schemas.microsoft.com/office/powerpoint/2010/main" val="2925722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p:txBody>
          <a:bodyPr/>
          <a:lstStyle/>
          <a:p>
            <a:r>
              <a:rPr lang="en-US" noProof="0" dirty="0"/>
              <a:t>Pandas – Missing values</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43</a:t>
            </a:fld>
            <a:endParaRPr lang="nl-BE"/>
          </a:p>
        </p:txBody>
      </p:sp>
    </p:spTree>
    <p:extLst>
      <p:ext uri="{BB962C8B-B14F-4D97-AF65-F5344CB8AC3E}">
        <p14:creationId xmlns:p14="http://schemas.microsoft.com/office/powerpoint/2010/main" val="2776512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438FD-93EB-4698-A8F2-5C16F29057F9}"/>
              </a:ext>
            </a:extLst>
          </p:cNvPr>
          <p:cNvSpPr>
            <a:spLocks noGrp="1"/>
          </p:cNvSpPr>
          <p:nvPr>
            <p:ph type="title"/>
          </p:nvPr>
        </p:nvSpPr>
        <p:spPr/>
        <p:txBody>
          <a:bodyPr/>
          <a:lstStyle/>
          <a:p>
            <a:r>
              <a:rPr lang="en-US" noProof="0" dirty="0"/>
              <a:t>Missing values</a:t>
            </a:r>
          </a:p>
        </p:txBody>
      </p:sp>
      <p:sp>
        <p:nvSpPr>
          <p:cNvPr id="3" name="Content Placeholder 2">
            <a:extLst>
              <a:ext uri="{FF2B5EF4-FFF2-40B4-BE49-F238E27FC236}">
                <a16:creationId xmlns:a16="http://schemas.microsoft.com/office/drawing/2014/main" id="{8D1EBEF2-F552-4E5C-ACF8-C3B8EE593212}"/>
              </a:ext>
            </a:extLst>
          </p:cNvPr>
          <p:cNvSpPr>
            <a:spLocks noGrp="1"/>
          </p:cNvSpPr>
          <p:nvPr>
            <p:ph idx="1"/>
          </p:nvPr>
        </p:nvSpPr>
        <p:spPr/>
        <p:txBody>
          <a:bodyPr/>
          <a:lstStyle/>
          <a:p>
            <a:r>
              <a:rPr lang="en-US" noProof="0" dirty="0"/>
              <a:t>When exploring data, you’ll most likely encounter missing or null values, which are essentially placeholders for non-existent values. </a:t>
            </a:r>
          </a:p>
          <a:p>
            <a:r>
              <a:rPr lang="en-US" noProof="0" dirty="0"/>
              <a:t>Most commonly you'll see Python's None or NumPy's </a:t>
            </a:r>
            <a:r>
              <a:rPr lang="en-US" noProof="0" dirty="0" err="1"/>
              <a:t>np.nan</a:t>
            </a:r>
            <a:endParaRPr lang="en-US" noProof="0" dirty="0"/>
          </a:p>
          <a:p>
            <a:pPr algn="l"/>
            <a:r>
              <a:rPr lang="en-US" b="0" i="0" noProof="0" dirty="0">
                <a:solidFill>
                  <a:srgbClr val="333333"/>
                </a:solidFill>
                <a:effectLst/>
              </a:rPr>
              <a:t>There are two options in dealing with nulls:</a:t>
            </a:r>
          </a:p>
          <a:p>
            <a:pPr lvl="1">
              <a:buFont typeface="+mj-lt"/>
              <a:buAutoNum type="arabicPeriod"/>
            </a:pPr>
            <a:r>
              <a:rPr lang="en-US" b="0" i="0" noProof="0" dirty="0">
                <a:solidFill>
                  <a:srgbClr val="333333"/>
                </a:solidFill>
                <a:effectLst/>
              </a:rPr>
              <a:t>Get rid of rows or columns with nulls (</a:t>
            </a:r>
            <a:r>
              <a:rPr lang="en-US" b="1" i="0" noProof="0" dirty="0">
                <a:solidFill>
                  <a:srgbClr val="333333"/>
                </a:solidFill>
                <a:effectLst/>
              </a:rPr>
              <a:t>amputation</a:t>
            </a:r>
            <a:r>
              <a:rPr lang="en-US" b="0" i="0" noProof="0" dirty="0">
                <a:solidFill>
                  <a:srgbClr val="333333"/>
                </a:solidFill>
                <a:effectLst/>
              </a:rPr>
              <a:t>)</a:t>
            </a:r>
          </a:p>
          <a:p>
            <a:pPr lvl="1">
              <a:buFont typeface="+mj-lt"/>
              <a:buAutoNum type="arabicPeriod"/>
            </a:pPr>
            <a:r>
              <a:rPr lang="en-US" b="0" i="0" noProof="0" dirty="0">
                <a:solidFill>
                  <a:srgbClr val="333333"/>
                </a:solidFill>
                <a:effectLst/>
              </a:rPr>
              <a:t>Replace nulls with non-null values (</a:t>
            </a:r>
            <a:r>
              <a:rPr lang="en-US" b="1" i="0" noProof="0" dirty="0">
                <a:solidFill>
                  <a:srgbClr val="333333"/>
                </a:solidFill>
                <a:effectLst/>
              </a:rPr>
              <a:t>imputation</a:t>
            </a:r>
            <a:r>
              <a:rPr lang="en-US" i="0" noProof="0" dirty="0">
                <a:solidFill>
                  <a:srgbClr val="333333"/>
                </a:solidFill>
                <a:effectLst/>
              </a:rPr>
              <a:t>)</a:t>
            </a:r>
          </a:p>
          <a:p>
            <a:r>
              <a:rPr lang="en-US" b="0" i="0" noProof="0" dirty="0">
                <a:solidFill>
                  <a:srgbClr val="333333"/>
                </a:solidFill>
                <a:effectLst/>
              </a:rPr>
              <a:t>Data scientists regularly face the dilemma of dropping or imputing null values. This decision requires profound knowledge of the data and its context. Overall, removing null data is only suggested if you have a small amount of missing data.</a:t>
            </a:r>
            <a:endParaRPr lang="en-US" b="1" i="0" noProof="0" dirty="0">
              <a:solidFill>
                <a:srgbClr val="333333"/>
              </a:solidFill>
              <a:effectLst/>
            </a:endParaRPr>
          </a:p>
          <a:p>
            <a:pPr marL="457200" lvl="1" indent="0">
              <a:buNone/>
            </a:pPr>
            <a:endParaRPr lang="en-US" b="1" noProof="0" dirty="0">
              <a:solidFill>
                <a:srgbClr val="333333"/>
              </a:solidFill>
            </a:endParaRPr>
          </a:p>
          <a:p>
            <a:pPr marL="457200" lvl="1" indent="0">
              <a:buNone/>
            </a:pPr>
            <a:endParaRPr lang="en-US" b="0" i="0" noProof="0" dirty="0">
              <a:solidFill>
                <a:srgbClr val="333333"/>
              </a:solidFill>
              <a:effectLst/>
            </a:endParaRPr>
          </a:p>
          <a:p>
            <a:endParaRPr lang="en-US" noProof="0" dirty="0"/>
          </a:p>
        </p:txBody>
      </p:sp>
      <p:sp>
        <p:nvSpPr>
          <p:cNvPr id="4" name="Slide Number Placeholder 3">
            <a:extLst>
              <a:ext uri="{FF2B5EF4-FFF2-40B4-BE49-F238E27FC236}">
                <a16:creationId xmlns:a16="http://schemas.microsoft.com/office/drawing/2014/main" id="{2D74D278-FC12-473F-95CD-BD5E9919BEA7}"/>
              </a:ext>
            </a:extLst>
          </p:cNvPr>
          <p:cNvSpPr>
            <a:spLocks noGrp="1"/>
          </p:cNvSpPr>
          <p:nvPr>
            <p:ph type="sldNum" sz="quarter" idx="12"/>
          </p:nvPr>
        </p:nvSpPr>
        <p:spPr/>
        <p:txBody>
          <a:bodyPr/>
          <a:lstStyle/>
          <a:p>
            <a:fld id="{FE1B3154-47D9-4402-8EDB-E791933DC0B9}" type="slidenum">
              <a:rPr lang="nl-BE" smtClean="0"/>
              <a:pPr/>
              <a:t>44</a:t>
            </a:fld>
            <a:endParaRPr lang="nl-BE"/>
          </a:p>
        </p:txBody>
      </p:sp>
    </p:spTree>
    <p:extLst>
      <p:ext uri="{BB962C8B-B14F-4D97-AF65-F5344CB8AC3E}">
        <p14:creationId xmlns:p14="http://schemas.microsoft.com/office/powerpoint/2010/main" val="645345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4E2C-27DE-4F7A-AE63-2A71CFE64A02}"/>
              </a:ext>
            </a:extLst>
          </p:cNvPr>
          <p:cNvSpPr>
            <a:spLocks noGrp="1"/>
          </p:cNvSpPr>
          <p:nvPr>
            <p:ph type="title"/>
          </p:nvPr>
        </p:nvSpPr>
        <p:spPr/>
        <p:txBody>
          <a:bodyPr/>
          <a:lstStyle/>
          <a:p>
            <a:r>
              <a:rPr lang="en-US" noProof="0" dirty="0"/>
              <a:t>Missing values</a:t>
            </a:r>
          </a:p>
        </p:txBody>
      </p:sp>
      <p:sp>
        <p:nvSpPr>
          <p:cNvPr id="3" name="Content Placeholder 2">
            <a:extLst>
              <a:ext uri="{FF2B5EF4-FFF2-40B4-BE49-F238E27FC236}">
                <a16:creationId xmlns:a16="http://schemas.microsoft.com/office/drawing/2014/main" id="{ADB8644E-2BAE-4C3E-96D4-02372B7AF5C2}"/>
              </a:ext>
            </a:extLst>
          </p:cNvPr>
          <p:cNvSpPr>
            <a:spLocks noGrp="1"/>
          </p:cNvSpPr>
          <p:nvPr>
            <p:ph idx="1"/>
          </p:nvPr>
        </p:nvSpPr>
        <p:spPr>
          <a:xfrm>
            <a:off x="582704" y="1550894"/>
            <a:ext cx="11609295" cy="4626069"/>
          </a:xfrm>
        </p:spPr>
        <p:txBody>
          <a:bodyPr/>
          <a:lstStyle/>
          <a:p>
            <a:r>
              <a:rPr lang="en-US" i="1" noProof="0" dirty="0">
                <a:solidFill>
                  <a:srgbClr val="446785"/>
                </a:solidFill>
              </a:rPr>
              <a:t>.</a:t>
            </a:r>
            <a:r>
              <a:rPr lang="en-US" b="1" i="1" noProof="0" dirty="0" err="1">
                <a:solidFill>
                  <a:srgbClr val="446785"/>
                </a:solidFill>
              </a:rPr>
              <a:t>isnull</a:t>
            </a:r>
            <a:r>
              <a:rPr lang="en-US" b="1" i="1" noProof="0" dirty="0">
                <a:solidFill>
                  <a:srgbClr val="446785"/>
                </a:solidFill>
              </a:rPr>
              <a:t>() </a:t>
            </a:r>
            <a:r>
              <a:rPr lang="en-US" noProof="0" dirty="0"/>
              <a:t>returns for every data cell whether a value is present. </a:t>
            </a:r>
          </a:p>
          <a:p>
            <a:r>
              <a:rPr lang="en-US" noProof="0" dirty="0"/>
              <a:t>To count the number of nulls in each column use an aggregate function for summing. </a:t>
            </a:r>
          </a:p>
        </p:txBody>
      </p:sp>
      <p:sp>
        <p:nvSpPr>
          <p:cNvPr id="4" name="Slide Number Placeholder 3">
            <a:extLst>
              <a:ext uri="{FF2B5EF4-FFF2-40B4-BE49-F238E27FC236}">
                <a16:creationId xmlns:a16="http://schemas.microsoft.com/office/drawing/2014/main" id="{000D51D4-6665-4F25-886C-FA5A48398C82}"/>
              </a:ext>
            </a:extLst>
          </p:cNvPr>
          <p:cNvSpPr>
            <a:spLocks noGrp="1"/>
          </p:cNvSpPr>
          <p:nvPr>
            <p:ph type="sldNum" sz="quarter" idx="12"/>
          </p:nvPr>
        </p:nvSpPr>
        <p:spPr/>
        <p:txBody>
          <a:bodyPr/>
          <a:lstStyle/>
          <a:p>
            <a:fld id="{FE1B3154-47D9-4402-8EDB-E791933DC0B9}" type="slidenum">
              <a:rPr lang="nl-BE" smtClean="0"/>
              <a:pPr/>
              <a:t>45</a:t>
            </a:fld>
            <a:endParaRPr lang="nl-BE"/>
          </a:p>
        </p:txBody>
      </p:sp>
      <p:sp>
        <p:nvSpPr>
          <p:cNvPr id="9" name="TextBox 8">
            <a:extLst>
              <a:ext uri="{FF2B5EF4-FFF2-40B4-BE49-F238E27FC236}">
                <a16:creationId xmlns:a16="http://schemas.microsoft.com/office/drawing/2014/main" id="{E70FA4E7-E27A-48BC-81EB-86C1C5F69BFC}"/>
              </a:ext>
            </a:extLst>
          </p:cNvPr>
          <p:cNvSpPr txBox="1"/>
          <p:nvPr/>
        </p:nvSpPr>
        <p:spPr>
          <a:xfrm>
            <a:off x="990600" y="3102829"/>
            <a:ext cx="2898227" cy="369332"/>
          </a:xfrm>
          <a:prstGeom prst="rect">
            <a:avLst/>
          </a:prstGeom>
          <a:noFill/>
          <a:ln>
            <a:solidFill>
              <a:schemeClr val="accent1">
                <a:lumMod val="75000"/>
              </a:schemeClr>
            </a:solidFill>
          </a:ln>
        </p:spPr>
        <p:txBody>
          <a:bodyPr wrap="square">
            <a:spAutoFit/>
          </a:bodyPr>
          <a:lstStyle/>
          <a:p>
            <a:r>
              <a:rPr lang="en-US" b="0" i="0" err="1">
                <a:solidFill>
                  <a:srgbClr val="4D4D4C"/>
                </a:solidFill>
                <a:effectLst/>
                <a:latin typeface="Monaco"/>
              </a:rPr>
              <a:t>df_movies.</a:t>
            </a:r>
            <a:r>
              <a:rPr lang="en-US" b="0" i="0" err="1">
                <a:solidFill>
                  <a:srgbClr val="4271AE"/>
                </a:solidFill>
                <a:effectLst/>
                <a:latin typeface="Monaco"/>
              </a:rPr>
              <a:t>isnull</a:t>
            </a:r>
            <a:r>
              <a:rPr lang="en-US" b="0" i="0">
                <a:solidFill>
                  <a:srgbClr val="4D4D4C"/>
                </a:solidFill>
                <a:effectLst/>
                <a:latin typeface="Monaco"/>
              </a:rPr>
              <a:t>().</a:t>
            </a:r>
            <a:r>
              <a:rPr lang="en-US" b="0" i="0">
                <a:solidFill>
                  <a:srgbClr val="4271AE"/>
                </a:solidFill>
                <a:effectLst/>
                <a:latin typeface="Monaco"/>
              </a:rPr>
              <a:t>sum</a:t>
            </a:r>
            <a:r>
              <a:rPr lang="en-US" b="0" i="0">
                <a:solidFill>
                  <a:srgbClr val="4D4D4C"/>
                </a:solidFill>
                <a:effectLst/>
                <a:latin typeface="Monaco"/>
              </a:rPr>
              <a:t>()</a:t>
            </a:r>
            <a:endParaRPr lang="en-US"/>
          </a:p>
        </p:txBody>
      </p:sp>
      <p:grpSp>
        <p:nvGrpSpPr>
          <p:cNvPr id="13" name="Group 12">
            <a:extLst>
              <a:ext uri="{FF2B5EF4-FFF2-40B4-BE49-F238E27FC236}">
                <a16:creationId xmlns:a16="http://schemas.microsoft.com/office/drawing/2014/main" id="{7DBC0C46-41F8-4FB0-AC98-C1521414C78C}"/>
              </a:ext>
            </a:extLst>
          </p:cNvPr>
          <p:cNvGrpSpPr/>
          <p:nvPr/>
        </p:nvGrpSpPr>
        <p:grpSpPr>
          <a:xfrm>
            <a:off x="1100884" y="3681562"/>
            <a:ext cx="2446283" cy="2286000"/>
            <a:chOff x="959069" y="3021106"/>
            <a:chExt cx="2446283" cy="2286000"/>
          </a:xfrm>
        </p:grpSpPr>
        <p:pic>
          <p:nvPicPr>
            <p:cNvPr id="11" name="Picture 10">
              <a:extLst>
                <a:ext uri="{FF2B5EF4-FFF2-40B4-BE49-F238E27FC236}">
                  <a16:creationId xmlns:a16="http://schemas.microsoft.com/office/drawing/2014/main" id="{188A8C0C-6EC5-4FC8-A658-0A561581ACF5}"/>
                </a:ext>
              </a:extLst>
            </p:cNvPr>
            <p:cNvPicPr>
              <a:picLocks noChangeAspect="1"/>
            </p:cNvPicPr>
            <p:nvPr/>
          </p:nvPicPr>
          <p:blipFill>
            <a:blip r:embed="rId2"/>
            <a:stretch>
              <a:fillRect/>
            </a:stretch>
          </p:blipFill>
          <p:spPr>
            <a:xfrm>
              <a:off x="959069" y="3021106"/>
              <a:ext cx="2286000" cy="2286000"/>
            </a:xfrm>
            <a:prstGeom prst="rect">
              <a:avLst/>
            </a:prstGeom>
          </p:spPr>
        </p:pic>
        <p:sp>
          <p:nvSpPr>
            <p:cNvPr id="12" name="Oval 11">
              <a:extLst>
                <a:ext uri="{FF2B5EF4-FFF2-40B4-BE49-F238E27FC236}">
                  <a16:creationId xmlns:a16="http://schemas.microsoft.com/office/drawing/2014/main" id="{3F5FBE42-8E61-4B68-8065-B173B7726D19}"/>
                </a:ext>
              </a:extLst>
            </p:cNvPr>
            <p:cNvSpPr/>
            <p:nvPr/>
          </p:nvSpPr>
          <p:spPr>
            <a:xfrm>
              <a:off x="2774731" y="4803228"/>
              <a:ext cx="630621" cy="503878"/>
            </a:xfrm>
            <a:prstGeom prst="ellipse">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sp>
        <p:nvSpPr>
          <p:cNvPr id="15" name="TextBox 14">
            <a:extLst>
              <a:ext uri="{FF2B5EF4-FFF2-40B4-BE49-F238E27FC236}">
                <a16:creationId xmlns:a16="http://schemas.microsoft.com/office/drawing/2014/main" id="{403988EF-0537-4A82-9389-49C2F4AB5231}"/>
              </a:ext>
            </a:extLst>
          </p:cNvPr>
          <p:cNvSpPr txBox="1"/>
          <p:nvPr/>
        </p:nvSpPr>
        <p:spPr>
          <a:xfrm>
            <a:off x="3779089" y="5297160"/>
            <a:ext cx="6101254" cy="646331"/>
          </a:xfrm>
          <a:prstGeom prst="rect">
            <a:avLst/>
          </a:prstGeom>
          <a:noFill/>
        </p:spPr>
        <p:txBody>
          <a:bodyPr wrap="square">
            <a:spAutoFit/>
          </a:bodyPr>
          <a:lstStyle/>
          <a:p>
            <a:r>
              <a:rPr lang="en-US"/>
              <a:t>We can see now that our data has 128 missing values for </a:t>
            </a:r>
            <a:r>
              <a:rPr lang="en-US" err="1"/>
              <a:t>revenue_millions</a:t>
            </a:r>
            <a:r>
              <a:rPr lang="en-US"/>
              <a:t> and 64 missing values for </a:t>
            </a:r>
            <a:r>
              <a:rPr lang="en-US" err="1"/>
              <a:t>metascore</a:t>
            </a:r>
            <a:r>
              <a:rPr lang="en-US"/>
              <a:t>.</a:t>
            </a:r>
          </a:p>
        </p:txBody>
      </p:sp>
    </p:spTree>
    <p:extLst>
      <p:ext uri="{BB962C8B-B14F-4D97-AF65-F5344CB8AC3E}">
        <p14:creationId xmlns:p14="http://schemas.microsoft.com/office/powerpoint/2010/main" val="2843649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B00E-8B6C-47D6-BB08-7090AAAF5C38}"/>
              </a:ext>
            </a:extLst>
          </p:cNvPr>
          <p:cNvSpPr>
            <a:spLocks noGrp="1"/>
          </p:cNvSpPr>
          <p:nvPr>
            <p:ph type="title"/>
          </p:nvPr>
        </p:nvSpPr>
        <p:spPr/>
        <p:txBody>
          <a:bodyPr/>
          <a:lstStyle/>
          <a:p>
            <a:r>
              <a:rPr lang="en-US" noProof="0" dirty="0"/>
              <a:t>Missing values: remove rows or columns</a:t>
            </a:r>
          </a:p>
        </p:txBody>
      </p:sp>
      <p:sp>
        <p:nvSpPr>
          <p:cNvPr id="3" name="Content Placeholder 2">
            <a:extLst>
              <a:ext uri="{FF2B5EF4-FFF2-40B4-BE49-F238E27FC236}">
                <a16:creationId xmlns:a16="http://schemas.microsoft.com/office/drawing/2014/main" id="{6E5250CB-201F-47F4-B917-23D9088CBA8B}"/>
              </a:ext>
            </a:extLst>
          </p:cNvPr>
          <p:cNvSpPr>
            <a:spLocks noGrp="1"/>
          </p:cNvSpPr>
          <p:nvPr>
            <p:ph idx="1"/>
          </p:nvPr>
        </p:nvSpPr>
        <p:spPr/>
        <p:txBody>
          <a:bodyPr>
            <a:normAutofit lnSpcReduction="10000"/>
          </a:bodyPr>
          <a:lstStyle/>
          <a:p>
            <a:r>
              <a:rPr lang="en-US" sz="2600" noProof="0" dirty="0"/>
              <a:t>Remove rows with missing elements:</a:t>
            </a:r>
          </a:p>
          <a:p>
            <a:endParaRPr lang="en-US" sz="2600" noProof="0" dirty="0"/>
          </a:p>
          <a:p>
            <a:endParaRPr lang="en-US" sz="2600" noProof="0" dirty="0"/>
          </a:p>
          <a:p>
            <a:r>
              <a:rPr lang="en-US" sz="2600" noProof="0" dirty="0"/>
              <a:t>162 rows are deleted with missing </a:t>
            </a:r>
            <a:r>
              <a:rPr lang="en-US" sz="2600" noProof="0" dirty="0" err="1"/>
              <a:t>revenue_millions</a:t>
            </a:r>
            <a:r>
              <a:rPr lang="en-US" sz="2600" noProof="0" dirty="0"/>
              <a:t> and/or </a:t>
            </a:r>
            <a:r>
              <a:rPr lang="en-US" sz="2600" noProof="0" dirty="0" err="1"/>
              <a:t>metascore</a:t>
            </a:r>
            <a:endParaRPr lang="en-US" sz="2600" noProof="0" dirty="0"/>
          </a:p>
          <a:p>
            <a:r>
              <a:rPr lang="en-US" sz="2600" b="0" i="0" noProof="0" dirty="0">
                <a:effectLst/>
              </a:rPr>
              <a:t>This obviously seems like a waste since there's perfectly good data in the other columns of those dropped rows </a:t>
            </a:r>
          </a:p>
          <a:p>
            <a:r>
              <a:rPr lang="en-US" sz="2600" noProof="0" dirty="0"/>
              <a:t>Other than just dropping rows, you can also drop columns with null values by setting the parameter axis=1:</a:t>
            </a:r>
          </a:p>
          <a:p>
            <a:endParaRPr lang="en-US" sz="2600" noProof="0" dirty="0"/>
          </a:p>
          <a:p>
            <a:endParaRPr lang="en-US" sz="2600" noProof="0" dirty="0"/>
          </a:p>
          <a:p>
            <a:r>
              <a:rPr lang="en-US" sz="2600" noProof="0" dirty="0"/>
              <a:t>Now the columns </a:t>
            </a:r>
            <a:r>
              <a:rPr lang="en-US" sz="2600" noProof="0" dirty="0" err="1"/>
              <a:t>revenue_millions</a:t>
            </a:r>
            <a:r>
              <a:rPr lang="en-US" sz="2600" noProof="0" dirty="0"/>
              <a:t> and </a:t>
            </a:r>
            <a:r>
              <a:rPr lang="en-US" sz="2600" noProof="0" dirty="0" err="1"/>
              <a:t>metascore</a:t>
            </a:r>
            <a:r>
              <a:rPr lang="en-US" sz="2600" noProof="0" dirty="0"/>
              <a:t> are gone</a:t>
            </a:r>
          </a:p>
          <a:p>
            <a:endParaRPr lang="en-US" sz="2600" noProof="0" dirty="0"/>
          </a:p>
        </p:txBody>
      </p:sp>
      <p:sp>
        <p:nvSpPr>
          <p:cNvPr id="4" name="Slide Number Placeholder 3">
            <a:extLst>
              <a:ext uri="{FF2B5EF4-FFF2-40B4-BE49-F238E27FC236}">
                <a16:creationId xmlns:a16="http://schemas.microsoft.com/office/drawing/2014/main" id="{D4DEA219-DE69-4DF0-B74A-A22A185F6BA6}"/>
              </a:ext>
            </a:extLst>
          </p:cNvPr>
          <p:cNvSpPr>
            <a:spLocks noGrp="1"/>
          </p:cNvSpPr>
          <p:nvPr>
            <p:ph type="sldNum" sz="quarter" idx="12"/>
          </p:nvPr>
        </p:nvSpPr>
        <p:spPr/>
        <p:txBody>
          <a:bodyPr/>
          <a:lstStyle/>
          <a:p>
            <a:fld id="{FE1B3154-47D9-4402-8EDB-E791933DC0B9}" type="slidenum">
              <a:rPr lang="nl-BE" smtClean="0"/>
              <a:pPr/>
              <a:t>46</a:t>
            </a:fld>
            <a:endParaRPr lang="nl-BE"/>
          </a:p>
        </p:txBody>
      </p:sp>
      <p:sp>
        <p:nvSpPr>
          <p:cNvPr id="6" name="TextBox 5">
            <a:extLst>
              <a:ext uri="{FF2B5EF4-FFF2-40B4-BE49-F238E27FC236}">
                <a16:creationId xmlns:a16="http://schemas.microsoft.com/office/drawing/2014/main" id="{EE69D80E-9C1C-4E28-BE36-7FB1CC175010}"/>
              </a:ext>
            </a:extLst>
          </p:cNvPr>
          <p:cNvSpPr txBox="1"/>
          <p:nvPr/>
        </p:nvSpPr>
        <p:spPr>
          <a:xfrm>
            <a:off x="853965" y="1965685"/>
            <a:ext cx="5242035" cy="707886"/>
          </a:xfrm>
          <a:prstGeom prst="rect">
            <a:avLst/>
          </a:prstGeom>
          <a:noFill/>
          <a:ln>
            <a:solidFill>
              <a:schemeClr val="accent1">
                <a:lumMod val="75000"/>
              </a:schemeClr>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dropna</a:t>
            </a:r>
            <a:r>
              <a:rPr lang="en-US" sz="2000" b="0" i="0">
                <a:solidFill>
                  <a:srgbClr val="4D4D4C"/>
                </a:solidFill>
                <a:effectLst/>
                <a:latin typeface="Monaco"/>
              </a:rPr>
              <a:t>(</a:t>
            </a:r>
            <a:r>
              <a:rPr lang="en-US" sz="2000" b="0" i="0" err="1">
                <a:solidFill>
                  <a:srgbClr val="4D4D4C"/>
                </a:solidFill>
                <a:effectLst/>
                <a:latin typeface="Monaco"/>
              </a:rPr>
              <a:t>inplace</a:t>
            </a:r>
            <a:r>
              <a:rPr lang="en-US" sz="2000" b="0" i="0">
                <a:solidFill>
                  <a:srgbClr val="3E999F"/>
                </a:solidFill>
                <a:effectLst/>
                <a:latin typeface="Monaco"/>
              </a:rPr>
              <a:t>=</a:t>
            </a:r>
            <a:r>
              <a:rPr lang="en-US" sz="2000" b="0" i="0">
                <a:solidFill>
                  <a:srgbClr val="F5871F"/>
                </a:solidFill>
                <a:effectLst/>
                <a:latin typeface="Monaco"/>
              </a:rPr>
              <a:t>True</a:t>
            </a:r>
            <a:r>
              <a:rPr lang="en-US" sz="2000" b="0" i="0">
                <a:solidFill>
                  <a:srgbClr val="4D4D4C"/>
                </a:solidFill>
                <a:effectLst/>
                <a:latin typeface="Monaco"/>
              </a:rPr>
              <a:t>)</a:t>
            </a:r>
            <a:br>
              <a:rPr lang="en-US" sz="2000" b="0" i="0">
                <a:solidFill>
                  <a:srgbClr val="4D4D4C"/>
                </a:solidFill>
                <a:effectLst/>
                <a:latin typeface="Monaco"/>
              </a:rPr>
            </a:br>
            <a:r>
              <a:rPr lang="en-US" sz="2000" b="0" i="0" err="1">
                <a:solidFill>
                  <a:srgbClr val="4D4D4C"/>
                </a:solidFill>
                <a:effectLst/>
                <a:latin typeface="Monaco"/>
              </a:rPr>
              <a:t>df_movies</a:t>
            </a:r>
            <a:r>
              <a:rPr lang="en-US" sz="2000" b="0" i="0">
                <a:solidFill>
                  <a:srgbClr val="4D4D4C"/>
                </a:solidFill>
                <a:effectLst/>
                <a:latin typeface="Monaco"/>
              </a:rPr>
              <a:t>. </a:t>
            </a:r>
            <a:r>
              <a:rPr lang="en-US" sz="2000">
                <a:solidFill>
                  <a:srgbClr val="4271AE"/>
                </a:solidFill>
                <a:latin typeface="Monaco"/>
              </a:rPr>
              <a:t>shape</a:t>
            </a:r>
            <a:endParaRPr lang="en-US" sz="2000"/>
          </a:p>
        </p:txBody>
      </p:sp>
      <p:pic>
        <p:nvPicPr>
          <p:cNvPr id="8" name="Picture 7">
            <a:extLst>
              <a:ext uri="{FF2B5EF4-FFF2-40B4-BE49-F238E27FC236}">
                <a16:creationId xmlns:a16="http://schemas.microsoft.com/office/drawing/2014/main" id="{9D6012E8-DE11-47CD-902A-2AD74C990F46}"/>
              </a:ext>
            </a:extLst>
          </p:cNvPr>
          <p:cNvPicPr>
            <a:picLocks noChangeAspect="1"/>
          </p:cNvPicPr>
          <p:nvPr/>
        </p:nvPicPr>
        <p:blipFill>
          <a:blip r:embed="rId3"/>
          <a:stretch>
            <a:fillRect/>
          </a:stretch>
        </p:blipFill>
        <p:spPr>
          <a:xfrm>
            <a:off x="6457564" y="2157703"/>
            <a:ext cx="1905000" cy="323850"/>
          </a:xfrm>
          <a:prstGeom prst="rect">
            <a:avLst/>
          </a:prstGeom>
        </p:spPr>
      </p:pic>
      <p:sp>
        <p:nvSpPr>
          <p:cNvPr id="10" name="TextBox 9">
            <a:extLst>
              <a:ext uri="{FF2B5EF4-FFF2-40B4-BE49-F238E27FC236}">
                <a16:creationId xmlns:a16="http://schemas.microsoft.com/office/drawing/2014/main" id="{7B4287AC-F8E1-4194-99F2-4C1222E4FAA4}"/>
              </a:ext>
            </a:extLst>
          </p:cNvPr>
          <p:cNvSpPr txBox="1"/>
          <p:nvPr/>
        </p:nvSpPr>
        <p:spPr>
          <a:xfrm>
            <a:off x="933644" y="4858240"/>
            <a:ext cx="5242035" cy="707886"/>
          </a:xfrm>
          <a:prstGeom prst="rect">
            <a:avLst/>
          </a:prstGeom>
          <a:noFill/>
          <a:ln>
            <a:solidFill>
              <a:schemeClr val="accent1">
                <a:lumMod val="75000"/>
              </a:schemeClr>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dropna</a:t>
            </a:r>
            <a:r>
              <a:rPr lang="en-US" sz="2000" b="0" i="0">
                <a:solidFill>
                  <a:srgbClr val="4D4D4C"/>
                </a:solidFill>
                <a:effectLst/>
                <a:latin typeface="Monaco"/>
              </a:rPr>
              <a:t>(axis = 1, </a:t>
            </a:r>
            <a:r>
              <a:rPr lang="en-US" sz="2000" b="0" i="0" err="1">
                <a:solidFill>
                  <a:srgbClr val="4D4D4C"/>
                </a:solidFill>
                <a:effectLst/>
                <a:latin typeface="Monaco"/>
              </a:rPr>
              <a:t>inplace</a:t>
            </a:r>
            <a:r>
              <a:rPr lang="en-US" sz="2000" b="0" i="0">
                <a:solidFill>
                  <a:srgbClr val="3E999F"/>
                </a:solidFill>
                <a:effectLst/>
                <a:latin typeface="Monaco"/>
              </a:rPr>
              <a:t>=</a:t>
            </a:r>
            <a:r>
              <a:rPr lang="en-US" sz="2000" b="0" i="0">
                <a:solidFill>
                  <a:srgbClr val="F5871F"/>
                </a:solidFill>
                <a:effectLst/>
                <a:latin typeface="Monaco"/>
              </a:rPr>
              <a:t>True</a:t>
            </a:r>
            <a:r>
              <a:rPr lang="en-US" sz="2000" b="0" i="0">
                <a:solidFill>
                  <a:srgbClr val="4D4D4C"/>
                </a:solidFill>
                <a:effectLst/>
                <a:latin typeface="Monaco"/>
              </a:rPr>
              <a:t>)</a:t>
            </a:r>
            <a:br>
              <a:rPr lang="en-US" sz="2000" b="0" i="0">
                <a:solidFill>
                  <a:srgbClr val="4D4D4C"/>
                </a:solidFill>
                <a:effectLst/>
                <a:latin typeface="Monaco"/>
              </a:rPr>
            </a:br>
            <a:r>
              <a:rPr lang="en-US" sz="2000" b="0" i="0" err="1">
                <a:solidFill>
                  <a:srgbClr val="4D4D4C"/>
                </a:solidFill>
                <a:effectLst/>
                <a:latin typeface="Monaco"/>
              </a:rPr>
              <a:t>df_movies</a:t>
            </a:r>
            <a:r>
              <a:rPr lang="en-US" sz="2000" b="0" i="0">
                <a:solidFill>
                  <a:srgbClr val="4D4D4C"/>
                </a:solidFill>
                <a:effectLst/>
                <a:latin typeface="Monaco"/>
              </a:rPr>
              <a:t>. </a:t>
            </a:r>
            <a:r>
              <a:rPr lang="en-US" sz="2000">
                <a:solidFill>
                  <a:srgbClr val="4271AE"/>
                </a:solidFill>
                <a:latin typeface="Monaco"/>
              </a:rPr>
              <a:t>shape</a:t>
            </a:r>
            <a:endParaRPr lang="en-US" sz="2000"/>
          </a:p>
        </p:txBody>
      </p:sp>
      <p:pic>
        <p:nvPicPr>
          <p:cNvPr id="12" name="Picture 11">
            <a:extLst>
              <a:ext uri="{FF2B5EF4-FFF2-40B4-BE49-F238E27FC236}">
                <a16:creationId xmlns:a16="http://schemas.microsoft.com/office/drawing/2014/main" id="{C9711CA3-8F16-4DC5-A978-FC2CA808188B}"/>
              </a:ext>
            </a:extLst>
          </p:cNvPr>
          <p:cNvPicPr>
            <a:picLocks noChangeAspect="1"/>
          </p:cNvPicPr>
          <p:nvPr/>
        </p:nvPicPr>
        <p:blipFill>
          <a:blip r:embed="rId4"/>
          <a:stretch>
            <a:fillRect/>
          </a:stretch>
        </p:blipFill>
        <p:spPr>
          <a:xfrm>
            <a:off x="6305164" y="5074070"/>
            <a:ext cx="2057400" cy="276225"/>
          </a:xfrm>
          <a:prstGeom prst="rect">
            <a:avLst/>
          </a:prstGeom>
        </p:spPr>
      </p:pic>
    </p:spTree>
    <p:extLst>
      <p:ext uri="{BB962C8B-B14F-4D97-AF65-F5344CB8AC3E}">
        <p14:creationId xmlns:p14="http://schemas.microsoft.com/office/powerpoint/2010/main" val="25609948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580D8-9FF5-4842-95E5-34F55F52D3EE}"/>
              </a:ext>
            </a:extLst>
          </p:cNvPr>
          <p:cNvSpPr>
            <a:spLocks noGrp="1"/>
          </p:cNvSpPr>
          <p:nvPr>
            <p:ph type="title"/>
          </p:nvPr>
        </p:nvSpPr>
        <p:spPr/>
        <p:txBody>
          <a:bodyPr/>
          <a:lstStyle/>
          <a:p>
            <a:pPr marL="0" indent="0">
              <a:buNone/>
            </a:pPr>
            <a:r>
              <a:rPr lang="en-US" sz="4400" noProof="0" dirty="0"/>
              <a:t>What's with this axis=1 parameter?</a:t>
            </a:r>
          </a:p>
        </p:txBody>
      </p:sp>
      <p:sp>
        <p:nvSpPr>
          <p:cNvPr id="3" name="Content Placeholder 2">
            <a:extLst>
              <a:ext uri="{FF2B5EF4-FFF2-40B4-BE49-F238E27FC236}">
                <a16:creationId xmlns:a16="http://schemas.microsoft.com/office/drawing/2014/main" id="{FA722CFF-835B-4691-81A2-3F44E3C44642}"/>
              </a:ext>
            </a:extLst>
          </p:cNvPr>
          <p:cNvSpPr>
            <a:spLocks noGrp="1"/>
          </p:cNvSpPr>
          <p:nvPr>
            <p:ph idx="1"/>
          </p:nvPr>
        </p:nvSpPr>
        <p:spPr/>
        <p:txBody>
          <a:bodyPr>
            <a:normAutofit/>
          </a:bodyPr>
          <a:lstStyle/>
          <a:p>
            <a:pPr marL="0" indent="0">
              <a:buNone/>
            </a:pPr>
            <a:r>
              <a:rPr lang="en-US" sz="2600" noProof="0" dirty="0"/>
              <a:t>It's not immediately obvious where axis comes from and why is must be 1 to affect columns. To understand, just look at the .shape output:</a:t>
            </a:r>
          </a:p>
          <a:p>
            <a:pPr marL="0" indent="0">
              <a:buNone/>
            </a:pPr>
            <a:endParaRPr lang="en-US" sz="2600" noProof="0" dirty="0"/>
          </a:p>
          <a:p>
            <a:pPr marL="0" indent="0">
              <a:buNone/>
            </a:pPr>
            <a:endParaRPr lang="en-US" sz="2600" noProof="0" dirty="0"/>
          </a:p>
          <a:p>
            <a:pPr marL="0" indent="0">
              <a:buNone/>
            </a:pPr>
            <a:r>
              <a:rPr lang="en-US" sz="2600" noProof="0" dirty="0"/>
              <a:t>This is a tuple that represents the shape of the DataFrame, i.e. 1000 rows and 11 columns. </a:t>
            </a:r>
            <a:br>
              <a:rPr lang="en-US" sz="2600" noProof="0" dirty="0"/>
            </a:br>
            <a:br>
              <a:rPr lang="en-US" sz="2600" noProof="0" dirty="0"/>
            </a:br>
            <a:r>
              <a:rPr lang="en-US" sz="2600" noProof="0" dirty="0"/>
              <a:t>Note that the rows are at index 0 of this tuple and columns are at index 1. </a:t>
            </a:r>
          </a:p>
          <a:p>
            <a:pPr marL="0" indent="0">
              <a:buNone/>
            </a:pPr>
            <a:r>
              <a:rPr lang="en-US" sz="2600" noProof="0" dirty="0"/>
              <a:t>Therefore axis=1 affects columns. This comes from NumPy and is a great example of why learning NumPy is worth your time.</a:t>
            </a:r>
          </a:p>
          <a:p>
            <a:pPr marL="0" indent="0">
              <a:buNone/>
            </a:pPr>
            <a:endParaRPr lang="en-US" sz="2600" noProof="0" dirty="0"/>
          </a:p>
        </p:txBody>
      </p:sp>
      <p:sp>
        <p:nvSpPr>
          <p:cNvPr id="4" name="Slide Number Placeholder 3">
            <a:extLst>
              <a:ext uri="{FF2B5EF4-FFF2-40B4-BE49-F238E27FC236}">
                <a16:creationId xmlns:a16="http://schemas.microsoft.com/office/drawing/2014/main" id="{DB980ABE-1677-474D-9F97-CC2D65B8F7E6}"/>
              </a:ext>
            </a:extLst>
          </p:cNvPr>
          <p:cNvSpPr>
            <a:spLocks noGrp="1"/>
          </p:cNvSpPr>
          <p:nvPr>
            <p:ph type="sldNum" sz="quarter" idx="12"/>
          </p:nvPr>
        </p:nvSpPr>
        <p:spPr/>
        <p:txBody>
          <a:bodyPr/>
          <a:lstStyle/>
          <a:p>
            <a:fld id="{FE1B3154-47D9-4402-8EDB-E791933DC0B9}" type="slidenum">
              <a:rPr lang="nl-BE" smtClean="0"/>
              <a:pPr/>
              <a:t>47</a:t>
            </a:fld>
            <a:endParaRPr lang="nl-BE"/>
          </a:p>
        </p:txBody>
      </p:sp>
      <p:pic>
        <p:nvPicPr>
          <p:cNvPr id="8" name="Picture 7">
            <a:extLst>
              <a:ext uri="{FF2B5EF4-FFF2-40B4-BE49-F238E27FC236}">
                <a16:creationId xmlns:a16="http://schemas.microsoft.com/office/drawing/2014/main" id="{E2D1E3AF-1E17-4A67-A6C6-E86748FDAF4B}"/>
              </a:ext>
            </a:extLst>
          </p:cNvPr>
          <p:cNvPicPr>
            <a:picLocks noChangeAspect="1"/>
          </p:cNvPicPr>
          <p:nvPr/>
        </p:nvPicPr>
        <p:blipFill>
          <a:blip r:embed="rId2"/>
          <a:stretch>
            <a:fillRect/>
          </a:stretch>
        </p:blipFill>
        <p:spPr>
          <a:xfrm>
            <a:off x="3084148" y="2856242"/>
            <a:ext cx="2409825" cy="285750"/>
          </a:xfrm>
          <a:prstGeom prst="rect">
            <a:avLst/>
          </a:prstGeom>
        </p:spPr>
      </p:pic>
      <p:sp>
        <p:nvSpPr>
          <p:cNvPr id="9" name="TextBox 8">
            <a:extLst>
              <a:ext uri="{FF2B5EF4-FFF2-40B4-BE49-F238E27FC236}">
                <a16:creationId xmlns:a16="http://schemas.microsoft.com/office/drawing/2014/main" id="{8747AED9-93A8-4A92-825F-FC0FB0086D6D}"/>
              </a:ext>
            </a:extLst>
          </p:cNvPr>
          <p:cNvSpPr txBox="1"/>
          <p:nvPr/>
        </p:nvSpPr>
        <p:spPr>
          <a:xfrm>
            <a:off x="718915" y="2750680"/>
            <a:ext cx="1950712" cy="400110"/>
          </a:xfrm>
          <a:prstGeom prst="rect">
            <a:avLst/>
          </a:prstGeom>
          <a:noFill/>
          <a:ln>
            <a:solidFill>
              <a:srgbClr val="446785"/>
            </a:solidFill>
          </a:ln>
        </p:spPr>
        <p:txBody>
          <a:bodyPr wrap="square">
            <a:spAutoFit/>
          </a:bodyPr>
          <a:lstStyle/>
          <a:p>
            <a:r>
              <a:rPr lang="en-US" sz="2000" b="0" i="0" err="1">
                <a:solidFill>
                  <a:srgbClr val="4D4D4C"/>
                </a:solidFill>
                <a:effectLst/>
                <a:latin typeface="Monaco"/>
              </a:rPr>
              <a:t>df_movies.</a:t>
            </a:r>
            <a:r>
              <a:rPr lang="en-US" sz="2000" b="0" i="0" err="1">
                <a:solidFill>
                  <a:srgbClr val="4271AE"/>
                </a:solidFill>
                <a:effectLst/>
                <a:latin typeface="Monaco"/>
              </a:rPr>
              <a:t>shape</a:t>
            </a:r>
            <a:endParaRPr lang="en-US" sz="2000"/>
          </a:p>
        </p:txBody>
      </p:sp>
    </p:spTree>
    <p:extLst>
      <p:ext uri="{BB962C8B-B14F-4D97-AF65-F5344CB8AC3E}">
        <p14:creationId xmlns:p14="http://schemas.microsoft.com/office/powerpoint/2010/main" val="1530594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BFC8-356D-4F4A-9D78-65644ACCE3C0}"/>
              </a:ext>
            </a:extLst>
          </p:cNvPr>
          <p:cNvSpPr>
            <a:spLocks noGrp="1"/>
          </p:cNvSpPr>
          <p:nvPr>
            <p:ph type="title"/>
          </p:nvPr>
        </p:nvSpPr>
        <p:spPr/>
        <p:txBody>
          <a:bodyPr/>
          <a:lstStyle/>
          <a:p>
            <a:r>
              <a:rPr lang="en-US" noProof="0" dirty="0"/>
              <a:t>Missing values: imputation</a:t>
            </a:r>
          </a:p>
        </p:txBody>
      </p:sp>
      <p:sp>
        <p:nvSpPr>
          <p:cNvPr id="3" name="Content Placeholder 2">
            <a:extLst>
              <a:ext uri="{FF2B5EF4-FFF2-40B4-BE49-F238E27FC236}">
                <a16:creationId xmlns:a16="http://schemas.microsoft.com/office/drawing/2014/main" id="{E4B1108E-06A0-4360-8A6E-2A3F2624E67E}"/>
              </a:ext>
            </a:extLst>
          </p:cNvPr>
          <p:cNvSpPr>
            <a:spLocks noGrp="1"/>
          </p:cNvSpPr>
          <p:nvPr>
            <p:ph idx="1"/>
          </p:nvPr>
        </p:nvSpPr>
        <p:spPr/>
        <p:txBody>
          <a:bodyPr/>
          <a:lstStyle/>
          <a:p>
            <a:pPr algn="l"/>
            <a:r>
              <a:rPr lang="en-US" b="0" i="0" noProof="0" dirty="0">
                <a:solidFill>
                  <a:srgbClr val="333333"/>
                </a:solidFill>
                <a:effectLst/>
                <a:latin typeface="proxima-nova"/>
              </a:rPr>
              <a:t>Imputation is a conventional technique used to keep valuable data that have null values.</a:t>
            </a:r>
          </a:p>
          <a:p>
            <a:pPr algn="l"/>
            <a:r>
              <a:rPr lang="en-US" b="0" i="0" noProof="0" dirty="0">
                <a:solidFill>
                  <a:srgbClr val="333333"/>
                </a:solidFill>
                <a:effectLst/>
                <a:latin typeface="proxima-nova"/>
              </a:rPr>
              <a:t>There may be instances where dropping every row with a null value removes too big a chunk from your dataset, so instead we can impute that null with another value, usually the </a:t>
            </a:r>
            <a:r>
              <a:rPr lang="en-US" b="1" i="0" noProof="0" dirty="0">
                <a:solidFill>
                  <a:srgbClr val="333333"/>
                </a:solidFill>
                <a:effectLst/>
                <a:latin typeface="proxima-nova"/>
              </a:rPr>
              <a:t>mean</a:t>
            </a:r>
            <a:r>
              <a:rPr lang="en-US" b="0" i="0" noProof="0" dirty="0">
                <a:solidFill>
                  <a:srgbClr val="333333"/>
                </a:solidFill>
                <a:effectLst/>
                <a:latin typeface="proxima-nova"/>
              </a:rPr>
              <a:t> or the </a:t>
            </a:r>
            <a:r>
              <a:rPr lang="en-US" b="1" i="0" noProof="0" dirty="0">
                <a:solidFill>
                  <a:srgbClr val="333333"/>
                </a:solidFill>
                <a:effectLst/>
                <a:latin typeface="proxima-nova"/>
              </a:rPr>
              <a:t>median</a:t>
            </a:r>
            <a:r>
              <a:rPr lang="en-US" b="0" i="0" noProof="0" dirty="0">
                <a:solidFill>
                  <a:srgbClr val="333333"/>
                </a:solidFill>
                <a:effectLst/>
                <a:latin typeface="proxima-nova"/>
              </a:rPr>
              <a:t> of that column.</a:t>
            </a:r>
          </a:p>
          <a:p>
            <a:endParaRPr lang="en-US" noProof="0" dirty="0"/>
          </a:p>
          <a:p>
            <a:endParaRPr lang="en-US" noProof="0" dirty="0"/>
          </a:p>
        </p:txBody>
      </p:sp>
      <p:sp>
        <p:nvSpPr>
          <p:cNvPr id="4" name="Slide Number Placeholder 3">
            <a:extLst>
              <a:ext uri="{FF2B5EF4-FFF2-40B4-BE49-F238E27FC236}">
                <a16:creationId xmlns:a16="http://schemas.microsoft.com/office/drawing/2014/main" id="{1EB4D06D-942D-48FA-81A3-B33BF7814B30}"/>
              </a:ext>
            </a:extLst>
          </p:cNvPr>
          <p:cNvSpPr>
            <a:spLocks noGrp="1"/>
          </p:cNvSpPr>
          <p:nvPr>
            <p:ph type="sldNum" sz="quarter" idx="12"/>
          </p:nvPr>
        </p:nvSpPr>
        <p:spPr/>
        <p:txBody>
          <a:bodyPr/>
          <a:lstStyle/>
          <a:p>
            <a:fld id="{FE1B3154-47D9-4402-8EDB-E791933DC0B9}" type="slidenum">
              <a:rPr lang="nl-BE" smtClean="0"/>
              <a:pPr/>
              <a:t>48</a:t>
            </a:fld>
            <a:endParaRPr lang="nl-BE"/>
          </a:p>
        </p:txBody>
      </p:sp>
    </p:spTree>
    <p:extLst>
      <p:ext uri="{BB962C8B-B14F-4D97-AF65-F5344CB8AC3E}">
        <p14:creationId xmlns:p14="http://schemas.microsoft.com/office/powerpoint/2010/main" val="8590946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BFC8-356D-4F4A-9D78-65644ACCE3C0}"/>
              </a:ext>
            </a:extLst>
          </p:cNvPr>
          <p:cNvSpPr>
            <a:spLocks noGrp="1"/>
          </p:cNvSpPr>
          <p:nvPr>
            <p:ph type="title"/>
          </p:nvPr>
        </p:nvSpPr>
        <p:spPr/>
        <p:txBody>
          <a:bodyPr/>
          <a:lstStyle/>
          <a:p>
            <a:r>
              <a:rPr lang="en-US" noProof="0" dirty="0"/>
              <a:t>Missing values: imputation</a:t>
            </a:r>
          </a:p>
        </p:txBody>
      </p:sp>
      <p:sp>
        <p:nvSpPr>
          <p:cNvPr id="3" name="Content Placeholder 2">
            <a:extLst>
              <a:ext uri="{FF2B5EF4-FFF2-40B4-BE49-F238E27FC236}">
                <a16:creationId xmlns:a16="http://schemas.microsoft.com/office/drawing/2014/main" id="{E4B1108E-06A0-4360-8A6E-2A3F2624E67E}"/>
              </a:ext>
            </a:extLst>
          </p:cNvPr>
          <p:cNvSpPr>
            <a:spLocks noGrp="1"/>
          </p:cNvSpPr>
          <p:nvPr>
            <p:ph idx="1"/>
          </p:nvPr>
        </p:nvSpPr>
        <p:spPr/>
        <p:txBody>
          <a:bodyPr/>
          <a:lstStyle/>
          <a:p>
            <a:r>
              <a:rPr lang="en-US" noProof="0" dirty="0"/>
              <a:t>Let's look at imputing the missing values in the </a:t>
            </a:r>
            <a:r>
              <a:rPr lang="en-US" noProof="0" dirty="0" err="1"/>
              <a:t>revenue_millions</a:t>
            </a:r>
            <a:r>
              <a:rPr lang="en-US" noProof="0" dirty="0"/>
              <a:t> column. First extract that column into its own variable:</a:t>
            </a:r>
          </a:p>
          <a:p>
            <a:endParaRPr lang="en-US" noProof="0" dirty="0"/>
          </a:p>
          <a:p>
            <a:endParaRPr lang="en-US" noProof="0" dirty="0"/>
          </a:p>
          <a:p>
            <a:r>
              <a:rPr lang="en-US" noProof="0" dirty="0"/>
              <a:t>revenue now contains a Series:</a:t>
            </a:r>
          </a:p>
          <a:p>
            <a:endParaRPr lang="en-US" noProof="0" dirty="0"/>
          </a:p>
          <a:p>
            <a:endParaRPr lang="en-US" noProof="0" dirty="0"/>
          </a:p>
          <a:p>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1EB4D06D-942D-48FA-81A3-B33BF7814B30}"/>
              </a:ext>
            </a:extLst>
          </p:cNvPr>
          <p:cNvSpPr>
            <a:spLocks noGrp="1"/>
          </p:cNvSpPr>
          <p:nvPr>
            <p:ph type="sldNum" sz="quarter" idx="12"/>
          </p:nvPr>
        </p:nvSpPr>
        <p:spPr/>
        <p:txBody>
          <a:bodyPr/>
          <a:lstStyle/>
          <a:p>
            <a:fld id="{FE1B3154-47D9-4402-8EDB-E791933DC0B9}" type="slidenum">
              <a:rPr lang="nl-BE" smtClean="0"/>
              <a:pPr/>
              <a:t>49</a:t>
            </a:fld>
            <a:endParaRPr lang="nl-BE"/>
          </a:p>
        </p:txBody>
      </p:sp>
      <p:sp>
        <p:nvSpPr>
          <p:cNvPr id="6" name="TextBox 5">
            <a:extLst>
              <a:ext uri="{FF2B5EF4-FFF2-40B4-BE49-F238E27FC236}">
                <a16:creationId xmlns:a16="http://schemas.microsoft.com/office/drawing/2014/main" id="{57F86A72-4AB4-44C1-9D6D-F56F09769C50}"/>
              </a:ext>
            </a:extLst>
          </p:cNvPr>
          <p:cNvSpPr txBox="1"/>
          <p:nvPr/>
        </p:nvSpPr>
        <p:spPr>
          <a:xfrm>
            <a:off x="927538" y="2590064"/>
            <a:ext cx="6101254" cy="400110"/>
          </a:xfrm>
          <a:prstGeom prst="rect">
            <a:avLst/>
          </a:prstGeom>
          <a:noFill/>
          <a:ln>
            <a:solidFill>
              <a:schemeClr val="accent1">
                <a:lumMod val="75000"/>
              </a:schemeClr>
            </a:solidFill>
          </a:ln>
        </p:spPr>
        <p:txBody>
          <a:bodyPr wrap="square">
            <a:spAutoFit/>
          </a:bodyPr>
          <a:lstStyle/>
          <a:p>
            <a:r>
              <a:rPr lang="en-US" sz="2000" b="0" i="0">
                <a:solidFill>
                  <a:srgbClr val="4D4D4C"/>
                </a:solidFill>
                <a:effectLst/>
                <a:latin typeface="Monaco"/>
              </a:rPr>
              <a:t>revenue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df_movies</a:t>
            </a:r>
            <a:r>
              <a:rPr lang="en-US" sz="2000" b="0" i="0">
                <a:solidFill>
                  <a:srgbClr val="4D4D4C"/>
                </a:solidFill>
                <a:effectLst/>
                <a:latin typeface="Monaco"/>
              </a:rPr>
              <a:t>[</a:t>
            </a:r>
            <a:r>
              <a:rPr lang="en-US" sz="2000" b="0" i="0">
                <a:solidFill>
                  <a:srgbClr val="718C00"/>
                </a:solidFill>
                <a:effectLst/>
                <a:latin typeface="Monaco"/>
              </a:rPr>
              <a:t>'</a:t>
            </a:r>
            <a:r>
              <a:rPr lang="en-US" sz="2000" b="0" i="0" err="1">
                <a:solidFill>
                  <a:srgbClr val="718C00"/>
                </a:solidFill>
                <a:effectLst/>
                <a:latin typeface="Monaco"/>
              </a:rPr>
              <a:t>revenue_millions</a:t>
            </a:r>
            <a:r>
              <a:rPr lang="en-US" sz="2000" b="0" i="0">
                <a:solidFill>
                  <a:srgbClr val="718C00"/>
                </a:solidFill>
                <a:effectLst/>
                <a:latin typeface="Monaco"/>
              </a:rPr>
              <a:t>'</a:t>
            </a:r>
            <a:r>
              <a:rPr lang="en-US" sz="2000" b="0" i="0">
                <a:solidFill>
                  <a:srgbClr val="4D4D4C"/>
                </a:solidFill>
                <a:effectLst/>
                <a:latin typeface="Monaco"/>
              </a:rPr>
              <a:t>]</a:t>
            </a:r>
            <a:endParaRPr lang="en-US" sz="2000"/>
          </a:p>
        </p:txBody>
      </p:sp>
      <p:sp>
        <p:nvSpPr>
          <p:cNvPr id="11" name="TextBox 10">
            <a:extLst>
              <a:ext uri="{FF2B5EF4-FFF2-40B4-BE49-F238E27FC236}">
                <a16:creationId xmlns:a16="http://schemas.microsoft.com/office/drawing/2014/main" id="{1F89D878-3737-424D-AB89-AD8D05CCE85D}"/>
              </a:ext>
            </a:extLst>
          </p:cNvPr>
          <p:cNvSpPr txBox="1"/>
          <p:nvPr/>
        </p:nvSpPr>
        <p:spPr>
          <a:xfrm>
            <a:off x="927538" y="4103554"/>
            <a:ext cx="6101254" cy="369332"/>
          </a:xfrm>
          <a:prstGeom prst="rect">
            <a:avLst/>
          </a:prstGeom>
          <a:noFill/>
          <a:ln>
            <a:solidFill>
              <a:schemeClr val="accent1">
                <a:lumMod val="75000"/>
              </a:schemeClr>
            </a:solidFill>
          </a:ln>
        </p:spPr>
        <p:txBody>
          <a:bodyPr wrap="square">
            <a:spAutoFit/>
          </a:bodyPr>
          <a:lstStyle>
            <a:defPPr>
              <a:defRPr lang="nl-BE"/>
            </a:defPPr>
            <a:lvl1pPr>
              <a:defRPr sz="2000" b="0" i="0">
                <a:solidFill>
                  <a:srgbClr val="4D4D4C"/>
                </a:solidFill>
                <a:effectLst/>
                <a:latin typeface="Monaco"/>
              </a:defRPr>
            </a:lvl1pPr>
          </a:lstStyle>
          <a:p>
            <a:r>
              <a:rPr lang="en-US" err="1"/>
              <a:t>revenue.head</a:t>
            </a:r>
            <a:r>
              <a:rPr lang="en-US"/>
              <a:t>()</a:t>
            </a:r>
          </a:p>
        </p:txBody>
      </p:sp>
      <p:pic>
        <p:nvPicPr>
          <p:cNvPr id="13" name="Picture 12">
            <a:extLst>
              <a:ext uri="{FF2B5EF4-FFF2-40B4-BE49-F238E27FC236}">
                <a16:creationId xmlns:a16="http://schemas.microsoft.com/office/drawing/2014/main" id="{A9A52905-D8D9-4362-BE17-B585698BE3F4}"/>
              </a:ext>
            </a:extLst>
          </p:cNvPr>
          <p:cNvPicPr>
            <a:picLocks noChangeAspect="1"/>
          </p:cNvPicPr>
          <p:nvPr/>
        </p:nvPicPr>
        <p:blipFill>
          <a:blip r:embed="rId2"/>
          <a:stretch>
            <a:fillRect/>
          </a:stretch>
        </p:blipFill>
        <p:spPr>
          <a:xfrm>
            <a:off x="927538" y="4685507"/>
            <a:ext cx="3829050" cy="1581150"/>
          </a:xfrm>
          <a:prstGeom prst="rect">
            <a:avLst/>
          </a:prstGeom>
        </p:spPr>
      </p:pic>
    </p:spTree>
    <p:extLst>
      <p:ext uri="{BB962C8B-B14F-4D97-AF65-F5344CB8AC3E}">
        <p14:creationId xmlns:p14="http://schemas.microsoft.com/office/powerpoint/2010/main" val="4159923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004A-DF3E-4998-B88B-804303A9B0E5}"/>
              </a:ext>
            </a:extLst>
          </p:cNvPr>
          <p:cNvSpPr>
            <a:spLocks noGrp="1"/>
          </p:cNvSpPr>
          <p:nvPr>
            <p:ph type="title"/>
          </p:nvPr>
        </p:nvSpPr>
        <p:spPr/>
        <p:txBody>
          <a:bodyPr/>
          <a:lstStyle/>
          <a:p>
            <a:r>
              <a:rPr lang="en-US" noProof="0" dirty="0"/>
              <a:t>Missing values: imputation</a:t>
            </a:r>
          </a:p>
        </p:txBody>
      </p:sp>
      <p:sp>
        <p:nvSpPr>
          <p:cNvPr id="3" name="Content Placeholder 2">
            <a:extLst>
              <a:ext uri="{FF2B5EF4-FFF2-40B4-BE49-F238E27FC236}">
                <a16:creationId xmlns:a16="http://schemas.microsoft.com/office/drawing/2014/main" id="{9ABF4FE6-BD47-4BE5-BC55-0E421CFE4CD6}"/>
              </a:ext>
            </a:extLst>
          </p:cNvPr>
          <p:cNvSpPr>
            <a:spLocks noGrp="1"/>
          </p:cNvSpPr>
          <p:nvPr>
            <p:ph idx="1"/>
          </p:nvPr>
        </p:nvSpPr>
        <p:spPr>
          <a:xfrm>
            <a:off x="582706" y="1507710"/>
            <a:ext cx="11291048" cy="4626069"/>
          </a:xfrm>
        </p:spPr>
        <p:txBody>
          <a:bodyPr/>
          <a:lstStyle/>
          <a:p>
            <a:r>
              <a:rPr lang="en-US" noProof="0" dirty="0"/>
              <a:t>Impute the missing values of revenue using the mean. </a:t>
            </a:r>
          </a:p>
          <a:p>
            <a:r>
              <a:rPr lang="en-US" noProof="0" dirty="0"/>
              <a:t>First calculate the mean value:</a:t>
            </a:r>
          </a:p>
          <a:p>
            <a:endParaRPr lang="en-US" noProof="0" dirty="0"/>
          </a:p>
          <a:p>
            <a:endParaRPr lang="en-US" noProof="0" dirty="0"/>
          </a:p>
          <a:p>
            <a:r>
              <a:rPr lang="en-US" noProof="0" dirty="0"/>
              <a:t>Next fill the nulls using </a:t>
            </a:r>
            <a:r>
              <a:rPr lang="en-US" b="1" noProof="0" dirty="0">
                <a:solidFill>
                  <a:srgbClr val="446785"/>
                </a:solidFill>
              </a:rPr>
              <a:t>.</a:t>
            </a:r>
            <a:r>
              <a:rPr lang="en-US" b="1" i="1" noProof="0" dirty="0" err="1">
                <a:solidFill>
                  <a:srgbClr val="446785"/>
                </a:solidFill>
              </a:rPr>
              <a:t>fillna</a:t>
            </a:r>
            <a:r>
              <a:rPr lang="en-US" b="1" i="1" noProof="0" dirty="0">
                <a:solidFill>
                  <a:srgbClr val="446785"/>
                </a:solidFill>
              </a:rPr>
              <a:t>() </a:t>
            </a:r>
            <a:r>
              <a:rPr lang="en-US" noProof="0" dirty="0"/>
              <a:t>:</a:t>
            </a:r>
          </a:p>
        </p:txBody>
      </p:sp>
      <p:sp>
        <p:nvSpPr>
          <p:cNvPr id="4" name="Slide Number Placeholder 3">
            <a:extLst>
              <a:ext uri="{FF2B5EF4-FFF2-40B4-BE49-F238E27FC236}">
                <a16:creationId xmlns:a16="http://schemas.microsoft.com/office/drawing/2014/main" id="{02F0B4D6-45A8-431C-BA99-5CBB7C5AA66B}"/>
              </a:ext>
            </a:extLst>
          </p:cNvPr>
          <p:cNvSpPr>
            <a:spLocks noGrp="1"/>
          </p:cNvSpPr>
          <p:nvPr>
            <p:ph type="sldNum" sz="quarter" idx="12"/>
          </p:nvPr>
        </p:nvSpPr>
        <p:spPr/>
        <p:txBody>
          <a:bodyPr/>
          <a:lstStyle/>
          <a:p>
            <a:fld id="{FE1B3154-47D9-4402-8EDB-E791933DC0B9}" type="slidenum">
              <a:rPr lang="nl-BE" smtClean="0"/>
              <a:pPr/>
              <a:t>50</a:t>
            </a:fld>
            <a:endParaRPr lang="nl-BE"/>
          </a:p>
        </p:txBody>
      </p:sp>
      <p:sp>
        <p:nvSpPr>
          <p:cNvPr id="7" name="TextBox 6">
            <a:extLst>
              <a:ext uri="{FF2B5EF4-FFF2-40B4-BE49-F238E27FC236}">
                <a16:creationId xmlns:a16="http://schemas.microsoft.com/office/drawing/2014/main" id="{614D2D79-618B-47E8-900C-EA7B100D5163}"/>
              </a:ext>
            </a:extLst>
          </p:cNvPr>
          <p:cNvSpPr txBox="1"/>
          <p:nvPr/>
        </p:nvSpPr>
        <p:spPr>
          <a:xfrm>
            <a:off x="906517" y="2619731"/>
            <a:ext cx="6101254" cy="707886"/>
          </a:xfrm>
          <a:prstGeom prst="rect">
            <a:avLst/>
          </a:prstGeom>
          <a:noFill/>
          <a:ln>
            <a:solidFill>
              <a:schemeClr val="accent1">
                <a:lumMod val="75000"/>
              </a:schemeClr>
            </a:solidFill>
          </a:ln>
        </p:spPr>
        <p:txBody>
          <a:bodyPr wrap="square">
            <a:spAutoFit/>
          </a:bodyPr>
          <a:lstStyle/>
          <a:p>
            <a:pPr algn="l"/>
            <a:r>
              <a:rPr lang="en-US" sz="2000" b="0" i="0" err="1">
                <a:solidFill>
                  <a:srgbClr val="4D4D4C"/>
                </a:solidFill>
                <a:effectLst/>
                <a:latin typeface="Monaco"/>
              </a:rPr>
              <a:t>revenue_mean</a:t>
            </a:r>
            <a:r>
              <a:rPr lang="en-US" sz="2000" b="0" i="0">
                <a:solidFill>
                  <a:srgbClr val="4D4D4C"/>
                </a:solidFill>
                <a:effectLst/>
                <a:latin typeface="Monaco"/>
              </a:rPr>
              <a:t> </a:t>
            </a:r>
            <a:r>
              <a:rPr lang="en-US" sz="2000" b="0" i="0">
                <a:solidFill>
                  <a:srgbClr val="3E999F"/>
                </a:solidFill>
                <a:effectLst/>
                <a:latin typeface="Monaco"/>
              </a:rPr>
              <a:t>=</a:t>
            </a:r>
            <a:r>
              <a:rPr lang="en-US" sz="2000" b="0" i="0">
                <a:solidFill>
                  <a:srgbClr val="4D4D4C"/>
                </a:solidFill>
                <a:effectLst/>
                <a:latin typeface="Monaco"/>
              </a:rPr>
              <a:t> </a:t>
            </a:r>
            <a:r>
              <a:rPr lang="en-US" sz="2000" b="0" i="0" err="1">
                <a:solidFill>
                  <a:srgbClr val="4D4D4C"/>
                </a:solidFill>
                <a:effectLst/>
                <a:latin typeface="Monaco"/>
              </a:rPr>
              <a:t>revenue.</a:t>
            </a:r>
            <a:r>
              <a:rPr lang="en-US" sz="2000" b="0" i="0" err="1">
                <a:solidFill>
                  <a:srgbClr val="4271AE"/>
                </a:solidFill>
                <a:effectLst/>
                <a:latin typeface="Monaco"/>
              </a:rPr>
              <a:t>mean</a:t>
            </a:r>
            <a:r>
              <a:rPr lang="en-US" sz="2000" b="0" i="0">
                <a:solidFill>
                  <a:srgbClr val="4D4D4C"/>
                </a:solidFill>
                <a:effectLst/>
                <a:latin typeface="Monaco"/>
              </a:rPr>
              <a:t>() </a:t>
            </a:r>
          </a:p>
          <a:p>
            <a:pPr algn="l"/>
            <a:r>
              <a:rPr lang="en-US" sz="2000" b="0" i="0" err="1">
                <a:solidFill>
                  <a:srgbClr val="4D4D4C"/>
                </a:solidFill>
                <a:effectLst/>
                <a:latin typeface="Monaco"/>
              </a:rPr>
              <a:t>revenue_mean</a:t>
            </a:r>
            <a:endParaRPr lang="en-US" sz="2000" b="0" i="0">
              <a:solidFill>
                <a:srgbClr val="4D4D4C"/>
              </a:solidFill>
              <a:effectLst/>
              <a:latin typeface="Monaco"/>
            </a:endParaRPr>
          </a:p>
        </p:txBody>
      </p:sp>
      <p:pic>
        <p:nvPicPr>
          <p:cNvPr id="9" name="Picture 8">
            <a:extLst>
              <a:ext uri="{FF2B5EF4-FFF2-40B4-BE49-F238E27FC236}">
                <a16:creationId xmlns:a16="http://schemas.microsoft.com/office/drawing/2014/main" id="{6F5D2335-702F-4D7A-A51C-8FB5CF1C2A59}"/>
              </a:ext>
            </a:extLst>
          </p:cNvPr>
          <p:cNvPicPr>
            <a:picLocks noChangeAspect="1"/>
          </p:cNvPicPr>
          <p:nvPr/>
        </p:nvPicPr>
        <p:blipFill>
          <a:blip r:embed="rId2"/>
          <a:stretch>
            <a:fillRect/>
          </a:stretch>
        </p:blipFill>
        <p:spPr>
          <a:xfrm>
            <a:off x="7488784" y="2821274"/>
            <a:ext cx="2847975" cy="304800"/>
          </a:xfrm>
          <a:prstGeom prst="rect">
            <a:avLst/>
          </a:prstGeom>
        </p:spPr>
      </p:pic>
      <p:sp>
        <p:nvSpPr>
          <p:cNvPr id="12" name="TextBox 11">
            <a:extLst>
              <a:ext uri="{FF2B5EF4-FFF2-40B4-BE49-F238E27FC236}">
                <a16:creationId xmlns:a16="http://schemas.microsoft.com/office/drawing/2014/main" id="{92E61E2C-6ECD-4339-B88A-15FDD2D1BE18}"/>
              </a:ext>
            </a:extLst>
          </p:cNvPr>
          <p:cNvSpPr txBox="1"/>
          <p:nvPr/>
        </p:nvSpPr>
        <p:spPr>
          <a:xfrm>
            <a:off x="906517" y="4169096"/>
            <a:ext cx="6101254" cy="400110"/>
          </a:xfrm>
          <a:prstGeom prst="rect">
            <a:avLst/>
          </a:prstGeom>
          <a:noFill/>
          <a:ln>
            <a:solidFill>
              <a:schemeClr val="accent1">
                <a:lumMod val="75000"/>
              </a:schemeClr>
            </a:solidFill>
          </a:ln>
        </p:spPr>
        <p:txBody>
          <a:bodyPr wrap="square">
            <a:spAutoFit/>
          </a:bodyPr>
          <a:lstStyle>
            <a:defPPr>
              <a:defRPr lang="nl-BE"/>
            </a:defPPr>
            <a:lvl1pPr>
              <a:defRPr sz="2000" b="0" i="0">
                <a:solidFill>
                  <a:srgbClr val="4D4D4C"/>
                </a:solidFill>
                <a:effectLst/>
                <a:latin typeface="Monaco"/>
              </a:defRPr>
            </a:lvl1pPr>
          </a:lstStyle>
          <a:p>
            <a:r>
              <a:rPr lang="en-US" b="0" i="0" err="1">
                <a:solidFill>
                  <a:srgbClr val="4D4D4C"/>
                </a:solidFill>
                <a:effectLst/>
                <a:latin typeface="Monaco"/>
              </a:rPr>
              <a:t>revenue.</a:t>
            </a:r>
            <a:r>
              <a:rPr lang="en-US" i="0" err="1">
                <a:solidFill>
                  <a:srgbClr val="4271AE"/>
                </a:solidFill>
                <a:effectLst/>
                <a:latin typeface="Monaco"/>
              </a:rPr>
              <a:t>fillna</a:t>
            </a:r>
            <a:r>
              <a:rPr lang="en-US" b="0" i="0">
                <a:solidFill>
                  <a:srgbClr val="4D4D4C"/>
                </a:solidFill>
                <a:effectLst/>
                <a:latin typeface="Monaco"/>
              </a:rPr>
              <a:t>(</a:t>
            </a:r>
            <a:r>
              <a:rPr lang="en-US" b="0" i="0" err="1">
                <a:solidFill>
                  <a:srgbClr val="4D4D4C"/>
                </a:solidFill>
                <a:effectLst/>
                <a:latin typeface="Monaco"/>
              </a:rPr>
              <a:t>revenue_mean</a:t>
            </a:r>
            <a:r>
              <a:rPr lang="en-US" b="0" i="0">
                <a:solidFill>
                  <a:srgbClr val="4D4D4C"/>
                </a:solidFill>
                <a:effectLst/>
                <a:latin typeface="Monaco"/>
              </a:rPr>
              <a:t>, </a:t>
            </a:r>
            <a:r>
              <a:rPr lang="en-US" b="0" i="0" err="1">
                <a:solidFill>
                  <a:srgbClr val="4D4D4C"/>
                </a:solidFill>
                <a:effectLst/>
                <a:latin typeface="Monaco"/>
              </a:rPr>
              <a:t>inplace</a:t>
            </a:r>
            <a:r>
              <a:rPr lang="en-US" b="0" i="0">
                <a:solidFill>
                  <a:srgbClr val="3E999F"/>
                </a:solidFill>
                <a:effectLst/>
                <a:latin typeface="Monaco"/>
              </a:rPr>
              <a:t>=</a:t>
            </a:r>
            <a:r>
              <a:rPr lang="en-US" b="0" i="0">
                <a:solidFill>
                  <a:srgbClr val="F5871F"/>
                </a:solidFill>
                <a:effectLst/>
                <a:latin typeface="Monaco"/>
              </a:rPr>
              <a:t>True</a:t>
            </a:r>
            <a:r>
              <a:rPr lang="en-US" b="0" i="0">
                <a:solidFill>
                  <a:srgbClr val="4D4D4C"/>
                </a:solidFill>
                <a:effectLst/>
                <a:latin typeface="Monaco"/>
              </a:rPr>
              <a:t>)</a:t>
            </a:r>
            <a:endParaRPr lang="en-US"/>
          </a:p>
        </p:txBody>
      </p:sp>
      <p:sp>
        <p:nvSpPr>
          <p:cNvPr id="14" name="TextBox 13">
            <a:extLst>
              <a:ext uri="{FF2B5EF4-FFF2-40B4-BE49-F238E27FC236}">
                <a16:creationId xmlns:a16="http://schemas.microsoft.com/office/drawing/2014/main" id="{CA01ED17-89F6-4F02-8EC4-5CD756B9CD19}"/>
              </a:ext>
            </a:extLst>
          </p:cNvPr>
          <p:cNvSpPr txBox="1"/>
          <p:nvPr/>
        </p:nvSpPr>
        <p:spPr>
          <a:xfrm>
            <a:off x="822434" y="4791776"/>
            <a:ext cx="11495689" cy="923330"/>
          </a:xfrm>
          <a:prstGeom prst="rect">
            <a:avLst/>
          </a:prstGeom>
          <a:noFill/>
        </p:spPr>
        <p:txBody>
          <a:bodyPr wrap="square">
            <a:spAutoFit/>
          </a:bodyPr>
          <a:lstStyle/>
          <a:p>
            <a:r>
              <a:rPr lang="en-US"/>
              <a:t>We have now replaced all nulls in revenue with the mean of the column. </a:t>
            </a:r>
          </a:p>
          <a:p>
            <a:r>
              <a:rPr lang="en-US"/>
              <a:t>Notice that by using </a:t>
            </a:r>
            <a:r>
              <a:rPr lang="en-US" err="1"/>
              <a:t>inplace</a:t>
            </a:r>
            <a:r>
              <a:rPr lang="en-US"/>
              <a:t>=True we have actually affected the original </a:t>
            </a:r>
            <a:r>
              <a:rPr lang="en-US" err="1"/>
              <a:t>df_movies</a:t>
            </a:r>
            <a:r>
              <a:rPr lang="en-US"/>
              <a:t> and not only the series.</a:t>
            </a:r>
          </a:p>
          <a:p>
            <a:endParaRPr lang="en-US"/>
          </a:p>
        </p:txBody>
      </p:sp>
      <p:sp>
        <p:nvSpPr>
          <p:cNvPr id="16" name="TextBox 15">
            <a:extLst>
              <a:ext uri="{FF2B5EF4-FFF2-40B4-BE49-F238E27FC236}">
                <a16:creationId xmlns:a16="http://schemas.microsoft.com/office/drawing/2014/main" id="{3879B168-DE98-46A9-AF13-35B0452306E8}"/>
              </a:ext>
            </a:extLst>
          </p:cNvPr>
          <p:cNvSpPr txBox="1"/>
          <p:nvPr/>
        </p:nvSpPr>
        <p:spPr>
          <a:xfrm>
            <a:off x="885494" y="5520120"/>
            <a:ext cx="6101254" cy="400110"/>
          </a:xfrm>
          <a:prstGeom prst="rect">
            <a:avLst/>
          </a:prstGeom>
          <a:noFill/>
          <a:ln>
            <a:solidFill>
              <a:schemeClr val="accent1">
                <a:lumMod val="75000"/>
              </a:schemeClr>
            </a:solidFill>
          </a:ln>
        </p:spPr>
        <p:txBody>
          <a:bodyPr wrap="square">
            <a:spAutoFit/>
          </a:bodyPr>
          <a:lstStyle/>
          <a:p>
            <a:r>
              <a:rPr lang="en-US" sz="2000" b="0" i="0" err="1">
                <a:solidFill>
                  <a:srgbClr val="4D4D4C"/>
                </a:solidFill>
                <a:effectLst/>
                <a:latin typeface="Monaco"/>
              </a:rPr>
              <a:t>df_movies.</a:t>
            </a:r>
            <a:r>
              <a:rPr lang="en-US" sz="2000" i="0" err="1">
                <a:solidFill>
                  <a:srgbClr val="4271AE"/>
                </a:solidFill>
                <a:effectLst/>
                <a:latin typeface="Monaco"/>
              </a:rPr>
              <a:t>isnull</a:t>
            </a:r>
            <a:r>
              <a:rPr lang="en-US" sz="2000" i="0">
                <a:solidFill>
                  <a:srgbClr val="4D4D4C"/>
                </a:solidFill>
                <a:effectLst/>
                <a:latin typeface="Monaco"/>
              </a:rPr>
              <a:t>().</a:t>
            </a:r>
            <a:r>
              <a:rPr lang="en-US" sz="2000" i="0">
                <a:solidFill>
                  <a:srgbClr val="4271AE"/>
                </a:solidFill>
                <a:effectLst/>
                <a:latin typeface="Monaco"/>
              </a:rPr>
              <a:t>sum</a:t>
            </a:r>
            <a:r>
              <a:rPr lang="en-US" sz="2000" i="0">
                <a:solidFill>
                  <a:srgbClr val="4D4D4C"/>
                </a:solidFill>
                <a:effectLst/>
                <a:latin typeface="Monaco"/>
              </a:rPr>
              <a:t>()   </a:t>
            </a:r>
            <a:endParaRPr lang="en-US" sz="2000"/>
          </a:p>
        </p:txBody>
      </p:sp>
      <p:pic>
        <p:nvPicPr>
          <p:cNvPr id="18" name="Picture 17">
            <a:extLst>
              <a:ext uri="{FF2B5EF4-FFF2-40B4-BE49-F238E27FC236}">
                <a16:creationId xmlns:a16="http://schemas.microsoft.com/office/drawing/2014/main" id="{6D19765E-7C00-4D90-8434-E93B7FE44057}"/>
              </a:ext>
            </a:extLst>
          </p:cNvPr>
          <p:cNvPicPr>
            <a:picLocks noChangeAspect="1"/>
          </p:cNvPicPr>
          <p:nvPr/>
        </p:nvPicPr>
        <p:blipFill rotWithShape="1">
          <a:blip r:embed="rId3"/>
          <a:srcRect t="72709"/>
          <a:stretch/>
        </p:blipFill>
        <p:spPr>
          <a:xfrm>
            <a:off x="7375142" y="5520120"/>
            <a:ext cx="2276475" cy="618682"/>
          </a:xfrm>
          <a:prstGeom prst="rect">
            <a:avLst/>
          </a:prstGeom>
        </p:spPr>
      </p:pic>
    </p:spTree>
    <p:extLst>
      <p:ext uri="{BB962C8B-B14F-4D97-AF65-F5344CB8AC3E}">
        <p14:creationId xmlns:p14="http://schemas.microsoft.com/office/powerpoint/2010/main" val="1280406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a:xfrm>
            <a:off x="1517904" y="3433481"/>
            <a:ext cx="10252755" cy="3159343"/>
          </a:xfrm>
        </p:spPr>
        <p:txBody>
          <a:bodyPr>
            <a:normAutofit/>
          </a:bodyPr>
          <a:lstStyle/>
          <a:p>
            <a:r>
              <a:rPr lang="en-US" noProof="0" dirty="0"/>
              <a:t>Pandas – Data manipulation techniques</a:t>
            </a:r>
            <a:br>
              <a:rPr lang="en-US" noProof="0" dirty="0"/>
            </a:br>
            <a:r>
              <a:rPr lang="en-US" sz="3100" noProof="0" dirty="0"/>
              <a:t>Conditional Selection </a:t>
            </a:r>
            <a:br>
              <a:rPr lang="en-US" sz="3100" noProof="0" dirty="0"/>
            </a:br>
            <a:r>
              <a:rPr lang="en-US" sz="3100" noProof="0" dirty="0"/>
              <a:t>Sorting </a:t>
            </a:r>
            <a:br>
              <a:rPr lang="en-US" sz="3100" noProof="0" dirty="0"/>
            </a:br>
            <a:r>
              <a:rPr lang="en-US" sz="3100" noProof="0" dirty="0"/>
              <a:t>Grouping</a:t>
            </a:r>
            <a:br>
              <a:rPr lang="en-US" sz="3100" noProof="0" dirty="0"/>
            </a:br>
            <a:r>
              <a:rPr lang="en-US" sz="3100" noProof="0" dirty="0"/>
              <a:t>Counting</a:t>
            </a:r>
            <a:br>
              <a:rPr lang="en-US" noProof="0" dirty="0"/>
            </a:br>
            <a:endParaRPr lang="en-US" noProof="0" dirty="0"/>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51</a:t>
            </a:fld>
            <a:endParaRPr lang="nl-BE"/>
          </a:p>
        </p:txBody>
      </p:sp>
    </p:spTree>
    <p:extLst>
      <p:ext uri="{BB962C8B-B14F-4D97-AF65-F5344CB8AC3E}">
        <p14:creationId xmlns:p14="http://schemas.microsoft.com/office/powerpoint/2010/main" val="23769590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6ACF-AB6E-40EE-BAEF-5D58F91D1218}"/>
              </a:ext>
            </a:extLst>
          </p:cNvPr>
          <p:cNvSpPr>
            <a:spLocks noGrp="1"/>
          </p:cNvSpPr>
          <p:nvPr>
            <p:ph type="title"/>
          </p:nvPr>
        </p:nvSpPr>
        <p:spPr/>
        <p:txBody>
          <a:bodyPr/>
          <a:lstStyle/>
          <a:p>
            <a:r>
              <a:rPr lang="en-US" noProof="0" dirty="0"/>
              <a:t>Conditional selections</a:t>
            </a:r>
          </a:p>
        </p:txBody>
      </p:sp>
      <p:sp>
        <p:nvSpPr>
          <p:cNvPr id="3" name="Content Placeholder 2">
            <a:extLst>
              <a:ext uri="{FF2B5EF4-FFF2-40B4-BE49-F238E27FC236}">
                <a16:creationId xmlns:a16="http://schemas.microsoft.com/office/drawing/2014/main" id="{F336CADA-2B55-4403-AA60-235679B5EA2F}"/>
              </a:ext>
            </a:extLst>
          </p:cNvPr>
          <p:cNvSpPr>
            <a:spLocks noGrp="1"/>
          </p:cNvSpPr>
          <p:nvPr>
            <p:ph idx="1"/>
          </p:nvPr>
        </p:nvSpPr>
        <p:spPr/>
        <p:txBody>
          <a:bodyPr/>
          <a:lstStyle/>
          <a:p>
            <a:pPr algn="l"/>
            <a:r>
              <a:rPr lang="en-US" b="0" i="0" noProof="0" dirty="0">
                <a:solidFill>
                  <a:srgbClr val="333333"/>
                </a:solidFill>
                <a:effectLst/>
                <a:latin typeface="proxima-nova"/>
              </a:rPr>
              <a:t>We’ve gone over how to select columns and rows, but what if we want to make a conditional selection?</a:t>
            </a:r>
          </a:p>
          <a:p>
            <a:pPr algn="l"/>
            <a:r>
              <a:rPr lang="en-US" b="0" i="0" noProof="0" dirty="0">
                <a:solidFill>
                  <a:srgbClr val="333333"/>
                </a:solidFill>
                <a:effectLst/>
                <a:latin typeface="proxima-nova"/>
              </a:rPr>
              <a:t>For example, what if we want to filter our movies DataFrame to show only films directed by Ridley Scott?</a:t>
            </a:r>
            <a:endParaRPr lang="en-US" noProof="0" dirty="0"/>
          </a:p>
        </p:txBody>
      </p:sp>
      <p:sp>
        <p:nvSpPr>
          <p:cNvPr id="4" name="Slide Number Placeholder 3">
            <a:extLst>
              <a:ext uri="{FF2B5EF4-FFF2-40B4-BE49-F238E27FC236}">
                <a16:creationId xmlns:a16="http://schemas.microsoft.com/office/drawing/2014/main" id="{F2E99F77-1670-4B68-A221-2BEA995F772D}"/>
              </a:ext>
            </a:extLst>
          </p:cNvPr>
          <p:cNvSpPr>
            <a:spLocks noGrp="1"/>
          </p:cNvSpPr>
          <p:nvPr>
            <p:ph type="sldNum" sz="quarter" idx="12"/>
          </p:nvPr>
        </p:nvSpPr>
        <p:spPr/>
        <p:txBody>
          <a:bodyPr/>
          <a:lstStyle/>
          <a:p>
            <a:fld id="{FE1B3154-47D9-4402-8EDB-E791933DC0B9}" type="slidenum">
              <a:rPr lang="nl-BE" smtClean="0"/>
              <a:pPr/>
              <a:t>52</a:t>
            </a:fld>
            <a:endParaRPr lang="nl-BE"/>
          </a:p>
        </p:txBody>
      </p:sp>
      <p:sp>
        <p:nvSpPr>
          <p:cNvPr id="8" name="TextBox 7">
            <a:extLst>
              <a:ext uri="{FF2B5EF4-FFF2-40B4-BE49-F238E27FC236}">
                <a16:creationId xmlns:a16="http://schemas.microsoft.com/office/drawing/2014/main" id="{AD811FDE-075E-442F-8649-B6DB37839DEC}"/>
              </a:ext>
            </a:extLst>
          </p:cNvPr>
          <p:cNvSpPr txBox="1"/>
          <p:nvPr/>
        </p:nvSpPr>
        <p:spPr>
          <a:xfrm>
            <a:off x="811925" y="3494596"/>
            <a:ext cx="5504792" cy="400110"/>
          </a:xfrm>
          <a:prstGeom prst="rect">
            <a:avLst/>
          </a:prstGeom>
          <a:noFill/>
          <a:ln>
            <a:solidFill>
              <a:schemeClr val="accent1"/>
            </a:solidFill>
          </a:ln>
        </p:spPr>
        <p:txBody>
          <a:bodyPr wrap="square">
            <a:spAutoFit/>
          </a:bodyPr>
          <a:lstStyle/>
          <a:p>
            <a:r>
              <a:rPr lang="en-US" sz="2000" b="0" i="0" err="1">
                <a:solidFill>
                  <a:srgbClr val="4D4D4C"/>
                </a:solidFill>
                <a:effectLst/>
                <a:latin typeface="Monaco"/>
              </a:rPr>
              <a:t>df_movies</a:t>
            </a:r>
            <a:r>
              <a:rPr lang="en-US" sz="2000" b="0" i="0">
                <a:solidFill>
                  <a:srgbClr val="4D4D4C"/>
                </a:solidFill>
                <a:effectLst/>
                <a:latin typeface="Monaco"/>
              </a:rPr>
              <a:t>[</a:t>
            </a:r>
            <a:r>
              <a:rPr lang="en-US" sz="2000" b="0" i="0" err="1">
                <a:solidFill>
                  <a:srgbClr val="4D4D4C"/>
                </a:solidFill>
                <a:effectLst/>
                <a:latin typeface="Monaco"/>
              </a:rPr>
              <a:t>df_movies</a:t>
            </a:r>
            <a:r>
              <a:rPr lang="en-US" sz="2000" b="0" i="0">
                <a:solidFill>
                  <a:srgbClr val="4D4D4C"/>
                </a:solidFill>
                <a:effectLst/>
                <a:latin typeface="Monaco"/>
              </a:rPr>
              <a:t>[</a:t>
            </a:r>
            <a:r>
              <a:rPr lang="en-US" sz="2000" b="0" i="0">
                <a:solidFill>
                  <a:srgbClr val="718C00"/>
                </a:solidFill>
                <a:effectLst/>
                <a:latin typeface="Monaco"/>
              </a:rPr>
              <a:t>'director'</a:t>
            </a:r>
            <a:r>
              <a:rPr lang="en-US" sz="2000" b="0" i="0">
                <a:solidFill>
                  <a:srgbClr val="4D4D4C"/>
                </a:solidFill>
                <a:effectLst/>
                <a:latin typeface="Monaco"/>
              </a:rPr>
              <a:t>] </a:t>
            </a:r>
            <a:r>
              <a:rPr lang="en-US" sz="2000" b="0" i="0">
                <a:solidFill>
                  <a:srgbClr val="3E999F"/>
                </a:solidFill>
                <a:effectLst/>
                <a:latin typeface="Monaco"/>
              </a:rPr>
              <a:t>==</a:t>
            </a:r>
            <a:r>
              <a:rPr lang="en-US" sz="2000" b="0" i="0">
                <a:solidFill>
                  <a:srgbClr val="4D4D4C"/>
                </a:solidFill>
                <a:effectLst/>
                <a:latin typeface="Monaco"/>
              </a:rPr>
              <a:t> </a:t>
            </a:r>
            <a:r>
              <a:rPr lang="en-US" sz="2000" b="0" i="0">
                <a:solidFill>
                  <a:srgbClr val="718C00"/>
                </a:solidFill>
                <a:effectLst/>
                <a:latin typeface="Monaco"/>
              </a:rPr>
              <a:t>'Ridley Scott'</a:t>
            </a:r>
            <a:r>
              <a:rPr lang="en-US" sz="2000" b="0" i="0">
                <a:solidFill>
                  <a:srgbClr val="4D4D4C"/>
                </a:solidFill>
                <a:effectLst/>
                <a:latin typeface="Monaco"/>
              </a:rPr>
              <a:t>]</a:t>
            </a:r>
            <a:endParaRPr lang="en-US" sz="2000"/>
          </a:p>
        </p:txBody>
      </p:sp>
      <p:pic>
        <p:nvPicPr>
          <p:cNvPr id="10" name="Picture 9">
            <a:extLst>
              <a:ext uri="{FF2B5EF4-FFF2-40B4-BE49-F238E27FC236}">
                <a16:creationId xmlns:a16="http://schemas.microsoft.com/office/drawing/2014/main" id="{9C45247D-9FA7-46AF-AA1E-A6ADBFF565DC}"/>
              </a:ext>
            </a:extLst>
          </p:cNvPr>
          <p:cNvPicPr>
            <a:picLocks noChangeAspect="1"/>
          </p:cNvPicPr>
          <p:nvPr/>
        </p:nvPicPr>
        <p:blipFill>
          <a:blip r:embed="rId3"/>
          <a:stretch>
            <a:fillRect/>
          </a:stretch>
        </p:blipFill>
        <p:spPr>
          <a:xfrm>
            <a:off x="6991205" y="3195703"/>
            <a:ext cx="3510948" cy="3343209"/>
          </a:xfrm>
          <a:prstGeom prst="rect">
            <a:avLst/>
          </a:prstGeom>
        </p:spPr>
      </p:pic>
      <p:sp>
        <p:nvSpPr>
          <p:cNvPr id="11" name="Rectangle 1">
            <a:extLst>
              <a:ext uri="{FF2B5EF4-FFF2-40B4-BE49-F238E27FC236}">
                <a16:creationId xmlns:a16="http://schemas.microsoft.com/office/drawing/2014/main" id="{140DBC8E-00F8-43C6-A2FF-0E3BB039D315}"/>
              </a:ext>
            </a:extLst>
          </p:cNvPr>
          <p:cNvSpPr>
            <a:spLocks noChangeArrowheads="1"/>
          </p:cNvSpPr>
          <p:nvPr/>
        </p:nvSpPr>
        <p:spPr bwMode="auto">
          <a:xfrm>
            <a:off x="896007" y="4159421"/>
            <a:ext cx="4414345" cy="707886"/>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a:solidFill>
                  <a:srgbClr val="333333"/>
                </a:solidFill>
                <a:latin typeface="+mn-lt"/>
              </a:rPr>
              <a:t>This instruction can be read as SQL:</a:t>
            </a:r>
            <a:br>
              <a:rPr kumimoji="0" lang="en-US" altLang="en-US" sz="1300" i="0" u="none" strike="noStrike" cap="none" normalizeH="0" baseline="0">
                <a:ln>
                  <a:noFill/>
                </a:ln>
                <a:solidFill>
                  <a:srgbClr val="333333"/>
                </a:solidFill>
                <a:effectLst/>
                <a:latin typeface="proxima-nova"/>
              </a:rPr>
            </a:br>
            <a:br>
              <a:rPr kumimoji="0" lang="en-US" altLang="en-US" sz="1300" b="1" i="0" u="none" strike="noStrike" cap="none" normalizeH="0" baseline="0">
                <a:ln>
                  <a:noFill/>
                </a:ln>
                <a:solidFill>
                  <a:srgbClr val="333333"/>
                </a:solidFill>
                <a:effectLst/>
                <a:latin typeface="proxima-nova"/>
              </a:rPr>
            </a:br>
            <a:r>
              <a:rPr kumimoji="0" lang="en-US" altLang="en-US" sz="1300" b="1" i="0" u="none" strike="noStrike" cap="none" normalizeH="0" baseline="0">
                <a:ln>
                  <a:noFill/>
                </a:ln>
                <a:solidFill>
                  <a:srgbClr val="333333"/>
                </a:solidFill>
                <a:effectLst/>
                <a:latin typeface="proxima-nova"/>
              </a:rPr>
              <a:t>Select</a:t>
            </a:r>
            <a:r>
              <a:rPr kumimoji="0" lang="en-US" altLang="en-US" sz="1300" b="0" i="0" u="none" strike="noStrike" cap="none" normalizeH="0" baseline="0">
                <a:ln>
                  <a:noFill/>
                </a:ln>
                <a:solidFill>
                  <a:srgbClr val="333333"/>
                </a:solidFill>
                <a:effectLst/>
                <a:latin typeface="proxima-nova"/>
              </a:rPr>
              <a:t> </a:t>
            </a:r>
            <a:r>
              <a:rPr kumimoji="0" lang="en-US" altLang="en-US" sz="900" b="1" i="0" u="none" strike="noStrike" cap="none" normalizeH="0" baseline="0" err="1">
                <a:ln>
                  <a:noFill/>
                </a:ln>
                <a:solidFill>
                  <a:srgbClr val="DB1348"/>
                </a:solidFill>
                <a:effectLst/>
                <a:latin typeface="Courier New" panose="02070309020205020404" pitchFamily="49" charset="0"/>
                <a:cs typeface="Courier New" panose="02070309020205020404" pitchFamily="49" charset="0"/>
              </a:rPr>
              <a:t>df_movies</a:t>
            </a:r>
            <a:r>
              <a:rPr kumimoji="0" lang="en-US" altLang="en-US" sz="1300" b="0" i="0" u="none" strike="noStrike" cap="none" normalizeH="0" baseline="0">
                <a:ln>
                  <a:noFill/>
                </a:ln>
                <a:solidFill>
                  <a:srgbClr val="333333"/>
                </a:solidFill>
                <a:effectLst/>
                <a:latin typeface="proxima-nova"/>
              </a:rPr>
              <a:t> </a:t>
            </a:r>
            <a:r>
              <a:rPr kumimoji="0" lang="en-US" altLang="en-US" sz="1300" b="1" i="0" u="none" strike="noStrike" cap="none" normalizeH="0" baseline="0">
                <a:ln>
                  <a:noFill/>
                </a:ln>
                <a:solidFill>
                  <a:srgbClr val="333333"/>
                </a:solidFill>
                <a:effectLst/>
                <a:latin typeface="proxima-nova"/>
              </a:rPr>
              <a:t>where</a:t>
            </a:r>
            <a:r>
              <a:rPr kumimoji="0" lang="en-US" altLang="en-US" sz="1300" b="0" i="0" u="none" strike="noStrike" cap="none" normalizeH="0" baseline="0">
                <a:ln>
                  <a:noFill/>
                </a:ln>
                <a:solidFill>
                  <a:srgbClr val="333333"/>
                </a:solidFill>
                <a:effectLst/>
                <a:latin typeface="proxima-nova"/>
              </a:rPr>
              <a:t> </a:t>
            </a:r>
            <a:r>
              <a:rPr kumimoji="0" lang="en-US" altLang="en-US" sz="900" b="0" i="0" u="none" strike="noStrike" cap="none" normalizeH="0" baseline="0" err="1">
                <a:ln>
                  <a:noFill/>
                </a:ln>
                <a:solidFill>
                  <a:srgbClr val="DB1348"/>
                </a:solidFill>
                <a:effectLst/>
                <a:latin typeface="Courier New" panose="02070309020205020404" pitchFamily="49" charset="0"/>
                <a:cs typeface="Courier New" panose="02070309020205020404" pitchFamily="49" charset="0"/>
              </a:rPr>
              <a:t>df_movies</a:t>
            </a:r>
            <a:r>
              <a:rPr kumimoji="0" lang="en-US" altLang="en-US" sz="1300" b="0" i="0" u="none" strike="noStrike" cap="none" normalizeH="0" baseline="0">
                <a:ln>
                  <a:noFill/>
                </a:ln>
                <a:solidFill>
                  <a:srgbClr val="333333"/>
                </a:solidFill>
                <a:effectLst/>
                <a:latin typeface="proxima-nova"/>
              </a:rPr>
              <a:t> </a:t>
            </a:r>
            <a:r>
              <a:rPr kumimoji="0" lang="en-US" altLang="en-US" sz="1300" b="1" i="0" u="none" strike="noStrike" cap="none" normalizeH="0" baseline="0">
                <a:ln>
                  <a:noFill/>
                </a:ln>
                <a:solidFill>
                  <a:srgbClr val="333333"/>
                </a:solidFill>
                <a:effectLst/>
                <a:latin typeface="proxima-nova"/>
              </a:rPr>
              <a:t>director equals Ridley Scott.</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5773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D0B40-3D15-493D-8A16-DD7297B70830}"/>
              </a:ext>
            </a:extLst>
          </p:cNvPr>
          <p:cNvSpPr>
            <a:spLocks noGrp="1"/>
          </p:cNvSpPr>
          <p:nvPr>
            <p:ph type="title"/>
          </p:nvPr>
        </p:nvSpPr>
        <p:spPr/>
        <p:txBody>
          <a:bodyPr/>
          <a:lstStyle/>
          <a:p>
            <a:r>
              <a:rPr lang="en-US" noProof="0" dirty="0"/>
              <a:t>Conditional selections</a:t>
            </a:r>
          </a:p>
        </p:txBody>
      </p:sp>
      <p:sp>
        <p:nvSpPr>
          <p:cNvPr id="3" name="Content Placeholder 2">
            <a:extLst>
              <a:ext uri="{FF2B5EF4-FFF2-40B4-BE49-F238E27FC236}">
                <a16:creationId xmlns:a16="http://schemas.microsoft.com/office/drawing/2014/main" id="{CE0F625D-A98D-4833-A882-B8D0A30B3864}"/>
              </a:ext>
            </a:extLst>
          </p:cNvPr>
          <p:cNvSpPr>
            <a:spLocks noGrp="1"/>
          </p:cNvSpPr>
          <p:nvPr>
            <p:ph idx="1"/>
          </p:nvPr>
        </p:nvSpPr>
        <p:spPr/>
        <p:txBody>
          <a:bodyPr/>
          <a:lstStyle/>
          <a:p>
            <a:r>
              <a:rPr lang="en-US" noProof="0" dirty="0"/>
              <a:t>Conditions can be combined by using logical operators:</a:t>
            </a:r>
          </a:p>
          <a:p>
            <a:pPr lvl="1"/>
            <a:r>
              <a:rPr lang="en-US" noProof="0" dirty="0"/>
              <a:t> | for "or" </a:t>
            </a:r>
          </a:p>
          <a:p>
            <a:pPr lvl="1"/>
            <a:r>
              <a:rPr lang="en-US" noProof="0" dirty="0"/>
              <a:t>&amp; for "and“</a:t>
            </a:r>
          </a:p>
          <a:p>
            <a:pPr lvl="1"/>
            <a:r>
              <a:rPr lang="en-US" noProof="0" dirty="0"/>
              <a:t>Each condition is written between ()</a:t>
            </a:r>
          </a:p>
          <a:p>
            <a:r>
              <a:rPr lang="en-US" noProof="0" dirty="0"/>
              <a:t>E.g. movies directed by Ridley Scott with a rating above 7.0</a:t>
            </a:r>
          </a:p>
        </p:txBody>
      </p:sp>
      <p:sp>
        <p:nvSpPr>
          <p:cNvPr id="4" name="Slide Number Placeholder 3">
            <a:extLst>
              <a:ext uri="{FF2B5EF4-FFF2-40B4-BE49-F238E27FC236}">
                <a16:creationId xmlns:a16="http://schemas.microsoft.com/office/drawing/2014/main" id="{1FD30DFB-FE9A-4145-B4FA-D66F11A1761B}"/>
              </a:ext>
            </a:extLst>
          </p:cNvPr>
          <p:cNvSpPr>
            <a:spLocks noGrp="1"/>
          </p:cNvSpPr>
          <p:nvPr>
            <p:ph type="sldNum" sz="quarter" idx="12"/>
          </p:nvPr>
        </p:nvSpPr>
        <p:spPr/>
        <p:txBody>
          <a:bodyPr/>
          <a:lstStyle/>
          <a:p>
            <a:fld id="{FE1B3154-47D9-4402-8EDB-E791933DC0B9}" type="slidenum">
              <a:rPr lang="nl-BE" smtClean="0"/>
              <a:pPr/>
              <a:t>53</a:t>
            </a:fld>
            <a:endParaRPr lang="nl-BE"/>
          </a:p>
        </p:txBody>
      </p:sp>
      <p:sp>
        <p:nvSpPr>
          <p:cNvPr id="9" name="TextBox 8">
            <a:extLst>
              <a:ext uri="{FF2B5EF4-FFF2-40B4-BE49-F238E27FC236}">
                <a16:creationId xmlns:a16="http://schemas.microsoft.com/office/drawing/2014/main" id="{4DF4CAF0-D429-44DA-BB69-825852D84D34}"/>
              </a:ext>
            </a:extLst>
          </p:cNvPr>
          <p:cNvSpPr txBox="1"/>
          <p:nvPr/>
        </p:nvSpPr>
        <p:spPr>
          <a:xfrm>
            <a:off x="917028" y="3851945"/>
            <a:ext cx="9235965" cy="400110"/>
          </a:xfrm>
          <a:prstGeom prst="rect">
            <a:avLst/>
          </a:prstGeom>
          <a:noFill/>
          <a:ln>
            <a:solidFill>
              <a:schemeClr val="accent1"/>
            </a:solidFill>
          </a:ln>
        </p:spPr>
        <p:txBody>
          <a:bodyPr wrap="square">
            <a:spAutoFit/>
          </a:bodyPr>
          <a:lstStyle/>
          <a:p>
            <a:r>
              <a:rPr lang="en-US" sz="2000" b="0" i="0" err="1">
                <a:solidFill>
                  <a:srgbClr val="4D4D4C"/>
                </a:solidFill>
                <a:effectLst/>
                <a:latin typeface="Monaco"/>
              </a:rPr>
              <a:t>df_movies</a:t>
            </a:r>
            <a:r>
              <a:rPr lang="en-US" sz="2000" b="0" i="0">
                <a:solidFill>
                  <a:srgbClr val="FFDE57"/>
                </a:solidFill>
                <a:effectLst/>
                <a:latin typeface="Monaco"/>
              </a:rPr>
              <a:t>[</a:t>
            </a:r>
            <a:r>
              <a:rPr lang="en-US" sz="2000" b="0" i="0">
                <a:solidFill>
                  <a:srgbClr val="C00000"/>
                </a:solidFill>
                <a:effectLst/>
                <a:latin typeface="Monaco"/>
              </a:rPr>
              <a:t>(</a:t>
            </a:r>
            <a:r>
              <a:rPr lang="en-US" sz="2000" b="0" i="0" err="1">
                <a:solidFill>
                  <a:srgbClr val="4D4D4C"/>
                </a:solidFill>
                <a:effectLst/>
                <a:latin typeface="Monaco"/>
              </a:rPr>
              <a:t>df_movies</a:t>
            </a:r>
            <a:r>
              <a:rPr lang="en-US" sz="2000" b="0" i="0">
                <a:solidFill>
                  <a:srgbClr val="4D4D4C"/>
                </a:solidFill>
                <a:effectLst/>
                <a:latin typeface="Monaco"/>
              </a:rPr>
              <a:t>[</a:t>
            </a:r>
            <a:r>
              <a:rPr lang="en-US" sz="2000" b="0" i="0">
                <a:solidFill>
                  <a:srgbClr val="718C00"/>
                </a:solidFill>
                <a:effectLst/>
                <a:latin typeface="Monaco"/>
              </a:rPr>
              <a:t>'director'</a:t>
            </a:r>
            <a:r>
              <a:rPr lang="en-US" sz="2000" b="0" i="0">
                <a:solidFill>
                  <a:srgbClr val="4D4D4C"/>
                </a:solidFill>
                <a:effectLst/>
                <a:latin typeface="Monaco"/>
              </a:rPr>
              <a:t>] </a:t>
            </a:r>
            <a:r>
              <a:rPr lang="en-US" sz="2000" b="0" i="0">
                <a:solidFill>
                  <a:srgbClr val="3E999F"/>
                </a:solidFill>
                <a:effectLst/>
                <a:latin typeface="Monaco"/>
              </a:rPr>
              <a:t>==</a:t>
            </a:r>
            <a:r>
              <a:rPr lang="en-US" sz="2000" b="0" i="0">
                <a:solidFill>
                  <a:srgbClr val="4D4D4C"/>
                </a:solidFill>
                <a:effectLst/>
                <a:latin typeface="Monaco"/>
              </a:rPr>
              <a:t> </a:t>
            </a:r>
            <a:r>
              <a:rPr lang="en-US" sz="2000" b="0" i="0">
                <a:solidFill>
                  <a:srgbClr val="718C00"/>
                </a:solidFill>
                <a:effectLst/>
                <a:latin typeface="Monaco"/>
              </a:rPr>
              <a:t>'Ridley Scott'</a:t>
            </a:r>
            <a:r>
              <a:rPr lang="en-US" sz="2000" b="0" i="0">
                <a:solidFill>
                  <a:srgbClr val="C00000"/>
                </a:solidFill>
                <a:effectLst/>
                <a:latin typeface="Monaco"/>
              </a:rPr>
              <a:t>)</a:t>
            </a:r>
            <a:r>
              <a:rPr lang="en-US" sz="2000" b="0" i="0">
                <a:solidFill>
                  <a:srgbClr val="4D4D4C"/>
                </a:solidFill>
                <a:effectLst/>
                <a:latin typeface="Monaco"/>
              </a:rPr>
              <a:t> &amp; </a:t>
            </a:r>
            <a:r>
              <a:rPr lang="en-US" sz="2000" b="0" i="0">
                <a:solidFill>
                  <a:srgbClr val="C00000"/>
                </a:solidFill>
                <a:effectLst/>
                <a:latin typeface="Monaco"/>
              </a:rPr>
              <a:t>(</a:t>
            </a:r>
            <a:r>
              <a:rPr lang="en-US" sz="2000" b="0" i="0" err="1">
                <a:solidFill>
                  <a:srgbClr val="4D4D4C"/>
                </a:solidFill>
                <a:effectLst/>
                <a:latin typeface="Monaco"/>
              </a:rPr>
              <a:t>df_movies</a:t>
            </a:r>
            <a:r>
              <a:rPr lang="en-US" sz="2000" b="0" i="0">
                <a:solidFill>
                  <a:srgbClr val="4D4D4C"/>
                </a:solidFill>
                <a:effectLst/>
                <a:latin typeface="Monaco"/>
              </a:rPr>
              <a:t>[</a:t>
            </a:r>
            <a:r>
              <a:rPr lang="en-US" sz="2000" b="0" i="0">
                <a:solidFill>
                  <a:srgbClr val="718C00"/>
                </a:solidFill>
                <a:effectLst/>
                <a:latin typeface="Monaco"/>
              </a:rPr>
              <a:t>'rating'</a:t>
            </a:r>
            <a:r>
              <a:rPr lang="en-US" sz="2000" b="0" i="0">
                <a:solidFill>
                  <a:srgbClr val="4D4D4C"/>
                </a:solidFill>
                <a:effectLst/>
                <a:latin typeface="Monaco"/>
              </a:rPr>
              <a:t>] </a:t>
            </a:r>
            <a:r>
              <a:rPr lang="en-US" sz="2000">
                <a:solidFill>
                  <a:srgbClr val="3E999F"/>
                </a:solidFill>
                <a:latin typeface="Monaco"/>
              </a:rPr>
              <a:t>&gt;</a:t>
            </a:r>
            <a:r>
              <a:rPr lang="en-US" sz="2000" b="0" i="0">
                <a:solidFill>
                  <a:srgbClr val="3E999F"/>
                </a:solidFill>
                <a:effectLst/>
                <a:latin typeface="Monaco"/>
              </a:rPr>
              <a:t> </a:t>
            </a:r>
            <a:r>
              <a:rPr lang="en-US" sz="2000" b="0" i="0">
                <a:solidFill>
                  <a:schemeClr val="bg2">
                    <a:lumMod val="50000"/>
                  </a:schemeClr>
                </a:solidFill>
                <a:effectLst/>
                <a:latin typeface="Monaco"/>
              </a:rPr>
              <a:t>7.0</a:t>
            </a:r>
            <a:r>
              <a:rPr lang="en-US" sz="2000" b="0" i="0">
                <a:solidFill>
                  <a:srgbClr val="4D4D4C"/>
                </a:solidFill>
                <a:effectLst/>
                <a:latin typeface="Monaco"/>
              </a:rPr>
              <a:t> </a:t>
            </a:r>
            <a:r>
              <a:rPr lang="en-US" sz="2000" b="0" i="0">
                <a:solidFill>
                  <a:srgbClr val="C00000"/>
                </a:solidFill>
                <a:effectLst/>
                <a:latin typeface="Monaco"/>
              </a:rPr>
              <a:t>) </a:t>
            </a:r>
            <a:r>
              <a:rPr lang="en-US" sz="2000" b="0" i="0">
                <a:solidFill>
                  <a:srgbClr val="FFDE57"/>
                </a:solidFill>
                <a:effectLst/>
                <a:latin typeface="Monaco"/>
              </a:rPr>
              <a:t>]</a:t>
            </a:r>
            <a:endParaRPr lang="en-US" sz="2000">
              <a:solidFill>
                <a:srgbClr val="FFDE57"/>
              </a:solidFill>
            </a:endParaRPr>
          </a:p>
        </p:txBody>
      </p:sp>
      <p:pic>
        <p:nvPicPr>
          <p:cNvPr id="13" name="Picture 12">
            <a:extLst>
              <a:ext uri="{FF2B5EF4-FFF2-40B4-BE49-F238E27FC236}">
                <a16:creationId xmlns:a16="http://schemas.microsoft.com/office/drawing/2014/main" id="{7447B5A4-C366-4161-B6BC-870C62452F81}"/>
              </a:ext>
            </a:extLst>
          </p:cNvPr>
          <p:cNvPicPr>
            <a:picLocks noChangeAspect="1"/>
          </p:cNvPicPr>
          <p:nvPr/>
        </p:nvPicPr>
        <p:blipFill>
          <a:blip r:embed="rId2"/>
          <a:stretch>
            <a:fillRect/>
          </a:stretch>
        </p:blipFill>
        <p:spPr>
          <a:xfrm>
            <a:off x="917028" y="4615137"/>
            <a:ext cx="7123551" cy="1937969"/>
          </a:xfrm>
          <a:prstGeom prst="rect">
            <a:avLst/>
          </a:prstGeom>
        </p:spPr>
      </p:pic>
    </p:spTree>
    <p:extLst>
      <p:ext uri="{BB962C8B-B14F-4D97-AF65-F5344CB8AC3E}">
        <p14:creationId xmlns:p14="http://schemas.microsoft.com/office/powerpoint/2010/main" val="6026653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F419C-1927-4464-A5AC-A4CF356C48E8}"/>
              </a:ext>
            </a:extLst>
          </p:cNvPr>
          <p:cNvSpPr>
            <a:spLocks noGrp="1"/>
          </p:cNvSpPr>
          <p:nvPr>
            <p:ph type="title"/>
          </p:nvPr>
        </p:nvSpPr>
        <p:spPr/>
        <p:txBody>
          <a:bodyPr/>
          <a:lstStyle/>
          <a:p>
            <a:r>
              <a:rPr lang="en-US" noProof="0" dirty="0"/>
              <a:t>Conditional selections</a:t>
            </a:r>
          </a:p>
        </p:txBody>
      </p:sp>
      <p:sp>
        <p:nvSpPr>
          <p:cNvPr id="3" name="Content Placeholder 2">
            <a:extLst>
              <a:ext uri="{FF2B5EF4-FFF2-40B4-BE49-F238E27FC236}">
                <a16:creationId xmlns:a16="http://schemas.microsoft.com/office/drawing/2014/main" id="{BFC1C6C5-2FB8-4022-991D-D0205B92D35C}"/>
              </a:ext>
            </a:extLst>
          </p:cNvPr>
          <p:cNvSpPr>
            <a:spLocks noGrp="1"/>
          </p:cNvSpPr>
          <p:nvPr>
            <p:ph idx="1"/>
          </p:nvPr>
        </p:nvSpPr>
        <p:spPr/>
        <p:txBody>
          <a:bodyPr/>
          <a:lstStyle/>
          <a:p>
            <a:r>
              <a:rPr lang="en-US" noProof="0" dirty="0"/>
              <a:t>Frequently used in selection making is the </a:t>
            </a:r>
            <a:r>
              <a:rPr lang="en-US" b="1" i="1" noProof="0" dirty="0" err="1">
                <a:solidFill>
                  <a:srgbClr val="446785"/>
                </a:solidFill>
              </a:rPr>
              <a:t>isin</a:t>
            </a:r>
            <a:r>
              <a:rPr lang="en-US" b="1" i="1" noProof="0" dirty="0">
                <a:solidFill>
                  <a:srgbClr val="446785"/>
                </a:solidFill>
              </a:rPr>
              <a:t>() </a:t>
            </a:r>
            <a:r>
              <a:rPr lang="en-US" noProof="0" dirty="0"/>
              <a:t>method (~ OR)</a:t>
            </a:r>
          </a:p>
          <a:p>
            <a:r>
              <a:rPr lang="en-US" noProof="0" dirty="0"/>
              <a:t>E.g. movies directed by Ridley Scott OR James Gunn</a:t>
            </a:r>
          </a:p>
        </p:txBody>
      </p:sp>
      <p:sp>
        <p:nvSpPr>
          <p:cNvPr id="4" name="Slide Number Placeholder 3">
            <a:extLst>
              <a:ext uri="{FF2B5EF4-FFF2-40B4-BE49-F238E27FC236}">
                <a16:creationId xmlns:a16="http://schemas.microsoft.com/office/drawing/2014/main" id="{CC02BCA9-5667-4B91-B4FC-155BDD397F30}"/>
              </a:ext>
            </a:extLst>
          </p:cNvPr>
          <p:cNvSpPr>
            <a:spLocks noGrp="1"/>
          </p:cNvSpPr>
          <p:nvPr>
            <p:ph type="sldNum" sz="quarter" idx="12"/>
          </p:nvPr>
        </p:nvSpPr>
        <p:spPr/>
        <p:txBody>
          <a:bodyPr/>
          <a:lstStyle/>
          <a:p>
            <a:fld id="{FE1B3154-47D9-4402-8EDB-E791933DC0B9}" type="slidenum">
              <a:rPr lang="nl-BE" smtClean="0"/>
              <a:pPr/>
              <a:t>54</a:t>
            </a:fld>
            <a:endParaRPr lang="nl-BE"/>
          </a:p>
        </p:txBody>
      </p:sp>
      <p:pic>
        <p:nvPicPr>
          <p:cNvPr id="11" name="Picture 10">
            <a:extLst>
              <a:ext uri="{FF2B5EF4-FFF2-40B4-BE49-F238E27FC236}">
                <a16:creationId xmlns:a16="http://schemas.microsoft.com/office/drawing/2014/main" id="{BFCEF69A-1D42-4572-A72F-B5467BE4C886}"/>
              </a:ext>
            </a:extLst>
          </p:cNvPr>
          <p:cNvPicPr>
            <a:picLocks noChangeAspect="1"/>
          </p:cNvPicPr>
          <p:nvPr/>
        </p:nvPicPr>
        <p:blipFill>
          <a:blip r:embed="rId2"/>
          <a:stretch>
            <a:fillRect/>
          </a:stretch>
        </p:blipFill>
        <p:spPr>
          <a:xfrm>
            <a:off x="976641" y="3519487"/>
            <a:ext cx="7400925" cy="3019425"/>
          </a:xfrm>
          <a:prstGeom prst="rect">
            <a:avLst/>
          </a:prstGeom>
        </p:spPr>
      </p:pic>
      <p:sp>
        <p:nvSpPr>
          <p:cNvPr id="13" name="TextBox 12">
            <a:extLst>
              <a:ext uri="{FF2B5EF4-FFF2-40B4-BE49-F238E27FC236}">
                <a16:creationId xmlns:a16="http://schemas.microsoft.com/office/drawing/2014/main" id="{EE1C5763-CD10-4EAD-B7D4-9B98A5584436}"/>
              </a:ext>
            </a:extLst>
          </p:cNvPr>
          <p:cNvSpPr txBox="1"/>
          <p:nvPr/>
        </p:nvSpPr>
        <p:spPr>
          <a:xfrm>
            <a:off x="976641" y="2788206"/>
            <a:ext cx="8090337" cy="400110"/>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err="1"/>
              <a:t>df_movies</a:t>
            </a:r>
            <a:r>
              <a:rPr lang="en-US"/>
              <a:t>[</a:t>
            </a:r>
            <a:r>
              <a:rPr lang="en-US" err="1"/>
              <a:t>df_movies</a:t>
            </a:r>
            <a:r>
              <a:rPr lang="en-US"/>
              <a:t>[</a:t>
            </a:r>
            <a:r>
              <a:rPr lang="en-US">
                <a:solidFill>
                  <a:srgbClr val="718C00"/>
                </a:solidFill>
              </a:rPr>
              <a:t>'director'</a:t>
            </a:r>
            <a:r>
              <a:rPr lang="en-US"/>
              <a:t>].</a:t>
            </a:r>
            <a:r>
              <a:rPr lang="en-US" b="1" err="1">
                <a:solidFill>
                  <a:srgbClr val="446785"/>
                </a:solidFill>
              </a:rPr>
              <a:t>isin</a:t>
            </a:r>
            <a:r>
              <a:rPr lang="en-US">
                <a:solidFill>
                  <a:srgbClr val="446785"/>
                </a:solidFill>
              </a:rPr>
              <a:t>(</a:t>
            </a:r>
            <a:r>
              <a:rPr lang="en-US">
                <a:solidFill>
                  <a:schemeClr val="bg2">
                    <a:lumMod val="50000"/>
                  </a:schemeClr>
                </a:solidFill>
              </a:rPr>
              <a:t>[</a:t>
            </a:r>
            <a:r>
              <a:rPr lang="en-US">
                <a:solidFill>
                  <a:srgbClr val="718C00"/>
                </a:solidFill>
              </a:rPr>
              <a:t>'Ridley</a:t>
            </a:r>
            <a:r>
              <a:rPr lang="en-US">
                <a:solidFill>
                  <a:srgbClr val="92D050"/>
                </a:solidFill>
              </a:rPr>
              <a:t> </a:t>
            </a:r>
            <a:r>
              <a:rPr lang="en-US" err="1">
                <a:solidFill>
                  <a:srgbClr val="718C00"/>
                </a:solidFill>
              </a:rPr>
              <a:t>Scott'</a:t>
            </a:r>
            <a:r>
              <a:rPr lang="en-US" err="1">
                <a:solidFill>
                  <a:schemeClr val="tx1">
                    <a:lumMod val="50000"/>
                    <a:lumOff val="50000"/>
                  </a:schemeClr>
                </a:solidFill>
              </a:rPr>
              <a:t>,</a:t>
            </a:r>
            <a:r>
              <a:rPr lang="en-US" err="1">
                <a:solidFill>
                  <a:srgbClr val="718C00"/>
                </a:solidFill>
              </a:rPr>
              <a:t>'James</a:t>
            </a:r>
            <a:r>
              <a:rPr lang="en-US">
                <a:solidFill>
                  <a:srgbClr val="92D050"/>
                </a:solidFill>
              </a:rPr>
              <a:t> </a:t>
            </a:r>
            <a:r>
              <a:rPr lang="en-US">
                <a:solidFill>
                  <a:srgbClr val="718C00"/>
                </a:solidFill>
              </a:rPr>
              <a:t>Gunn'</a:t>
            </a:r>
            <a:r>
              <a:rPr lang="en-US"/>
              <a:t>] </a:t>
            </a:r>
            <a:r>
              <a:rPr lang="en-US">
                <a:solidFill>
                  <a:srgbClr val="446785"/>
                </a:solidFill>
              </a:rPr>
              <a:t>)</a:t>
            </a:r>
            <a:r>
              <a:rPr lang="en-US"/>
              <a:t>]</a:t>
            </a:r>
          </a:p>
        </p:txBody>
      </p:sp>
    </p:spTree>
    <p:extLst>
      <p:ext uri="{BB962C8B-B14F-4D97-AF65-F5344CB8AC3E}">
        <p14:creationId xmlns:p14="http://schemas.microsoft.com/office/powerpoint/2010/main" val="15624982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FD9C-3691-4BC2-34FA-B7CDFB0CA46D}"/>
              </a:ext>
            </a:extLst>
          </p:cNvPr>
          <p:cNvSpPr>
            <a:spLocks noGrp="1"/>
          </p:cNvSpPr>
          <p:nvPr>
            <p:ph type="title"/>
          </p:nvPr>
        </p:nvSpPr>
        <p:spPr/>
        <p:txBody>
          <a:bodyPr/>
          <a:lstStyle/>
          <a:p>
            <a:r>
              <a:rPr lang="en-US" noProof="0" dirty="0"/>
              <a:t>Sorting</a:t>
            </a:r>
          </a:p>
        </p:txBody>
      </p:sp>
      <p:sp>
        <p:nvSpPr>
          <p:cNvPr id="3" name="Content Placeholder 2">
            <a:extLst>
              <a:ext uri="{FF2B5EF4-FFF2-40B4-BE49-F238E27FC236}">
                <a16:creationId xmlns:a16="http://schemas.microsoft.com/office/drawing/2014/main" id="{F9CC2E10-76CC-3227-1E1D-B5AF2624A7C1}"/>
              </a:ext>
            </a:extLst>
          </p:cNvPr>
          <p:cNvSpPr>
            <a:spLocks noGrp="1"/>
          </p:cNvSpPr>
          <p:nvPr>
            <p:ph idx="1"/>
          </p:nvPr>
        </p:nvSpPr>
        <p:spPr/>
        <p:txBody>
          <a:bodyPr/>
          <a:lstStyle/>
          <a:p>
            <a:r>
              <a:rPr lang="en-US" noProof="0" dirty="0"/>
              <a:t>In case you want to sort the movies by director, you can use the method </a:t>
            </a:r>
            <a:r>
              <a:rPr lang="en-US" b="1" i="1" noProof="0" dirty="0" err="1">
                <a:solidFill>
                  <a:srgbClr val="446785"/>
                </a:solidFill>
              </a:rPr>
              <a:t>sort_values</a:t>
            </a:r>
            <a:r>
              <a:rPr lang="en-US" b="1" i="1" noProof="0" dirty="0">
                <a:solidFill>
                  <a:srgbClr val="446785"/>
                </a:solidFill>
              </a:rPr>
              <a:t>()</a:t>
            </a:r>
          </a:p>
          <a:p>
            <a:endParaRPr lang="en-US" sz="2000" noProof="0" dirty="0">
              <a:solidFill>
                <a:srgbClr val="718C00"/>
              </a:solidFill>
              <a:latin typeface="Monaco"/>
            </a:endParaRPr>
          </a:p>
        </p:txBody>
      </p:sp>
      <p:sp>
        <p:nvSpPr>
          <p:cNvPr id="4" name="Slide Number Placeholder 3">
            <a:extLst>
              <a:ext uri="{FF2B5EF4-FFF2-40B4-BE49-F238E27FC236}">
                <a16:creationId xmlns:a16="http://schemas.microsoft.com/office/drawing/2014/main" id="{00A37F97-9780-8A47-35D6-22FF775658F2}"/>
              </a:ext>
            </a:extLst>
          </p:cNvPr>
          <p:cNvSpPr>
            <a:spLocks noGrp="1"/>
          </p:cNvSpPr>
          <p:nvPr>
            <p:ph type="sldNum" sz="quarter" idx="12"/>
          </p:nvPr>
        </p:nvSpPr>
        <p:spPr/>
        <p:txBody>
          <a:bodyPr/>
          <a:lstStyle/>
          <a:p>
            <a:fld id="{FE1B3154-47D9-4402-8EDB-E791933DC0B9}" type="slidenum">
              <a:rPr lang="nl-BE" smtClean="0"/>
              <a:pPr/>
              <a:t>55</a:t>
            </a:fld>
            <a:endParaRPr lang="nl-BE"/>
          </a:p>
        </p:txBody>
      </p:sp>
      <p:sp>
        <p:nvSpPr>
          <p:cNvPr id="7" name="TextBox 6">
            <a:extLst>
              <a:ext uri="{FF2B5EF4-FFF2-40B4-BE49-F238E27FC236}">
                <a16:creationId xmlns:a16="http://schemas.microsoft.com/office/drawing/2014/main" id="{ACE0AF11-EBCA-14FB-85F0-37F9E760C7A5}"/>
              </a:ext>
            </a:extLst>
          </p:cNvPr>
          <p:cNvSpPr txBox="1"/>
          <p:nvPr/>
        </p:nvSpPr>
        <p:spPr>
          <a:xfrm>
            <a:off x="426721" y="2676446"/>
            <a:ext cx="11653520" cy="400110"/>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err="1"/>
              <a:t>df_movies</a:t>
            </a:r>
            <a:r>
              <a:rPr lang="en-US"/>
              <a:t>[</a:t>
            </a:r>
            <a:r>
              <a:rPr lang="en-US" err="1"/>
              <a:t>df_movies</a:t>
            </a:r>
            <a:r>
              <a:rPr lang="en-US"/>
              <a:t>[</a:t>
            </a:r>
            <a:r>
              <a:rPr lang="en-US">
                <a:solidFill>
                  <a:srgbClr val="718C00"/>
                </a:solidFill>
              </a:rPr>
              <a:t>'director'</a:t>
            </a:r>
            <a:r>
              <a:rPr lang="en-US"/>
              <a:t>].</a:t>
            </a:r>
            <a:r>
              <a:rPr lang="en-US" err="1">
                <a:solidFill>
                  <a:srgbClr val="446785"/>
                </a:solidFill>
              </a:rPr>
              <a:t>isin</a:t>
            </a:r>
            <a:r>
              <a:rPr lang="en-US">
                <a:solidFill>
                  <a:srgbClr val="446785"/>
                </a:solidFill>
              </a:rPr>
              <a:t>(</a:t>
            </a:r>
            <a:r>
              <a:rPr lang="en-US">
                <a:solidFill>
                  <a:schemeClr val="bg2">
                    <a:lumMod val="50000"/>
                  </a:schemeClr>
                </a:solidFill>
              </a:rPr>
              <a:t>[</a:t>
            </a:r>
            <a:r>
              <a:rPr lang="en-US">
                <a:solidFill>
                  <a:srgbClr val="718C00"/>
                </a:solidFill>
              </a:rPr>
              <a:t>'Ridley </a:t>
            </a:r>
            <a:r>
              <a:rPr lang="en-US" err="1">
                <a:solidFill>
                  <a:srgbClr val="718C00"/>
                </a:solidFill>
              </a:rPr>
              <a:t>Scott','James</a:t>
            </a:r>
            <a:r>
              <a:rPr lang="en-US">
                <a:solidFill>
                  <a:srgbClr val="718C00"/>
                </a:solidFill>
              </a:rPr>
              <a:t> Gunn'</a:t>
            </a:r>
            <a:r>
              <a:rPr lang="en-US"/>
              <a:t>] </a:t>
            </a:r>
            <a:r>
              <a:rPr lang="en-US">
                <a:solidFill>
                  <a:srgbClr val="446785"/>
                </a:solidFill>
              </a:rPr>
              <a:t>)</a:t>
            </a:r>
            <a:r>
              <a:rPr lang="en-US"/>
              <a:t>].</a:t>
            </a:r>
            <a:r>
              <a:rPr lang="en-US" b="1" err="1">
                <a:solidFill>
                  <a:srgbClr val="446785"/>
                </a:solidFill>
              </a:rPr>
              <a:t>sort_values</a:t>
            </a:r>
            <a:r>
              <a:rPr lang="en-US"/>
              <a:t>(by=</a:t>
            </a:r>
            <a:r>
              <a:rPr lang="en-US">
                <a:solidFill>
                  <a:srgbClr val="718C00"/>
                </a:solidFill>
              </a:rPr>
              <a:t>'</a:t>
            </a:r>
            <a:r>
              <a:rPr lang="en-US" err="1">
                <a:solidFill>
                  <a:srgbClr val="718C00"/>
                </a:solidFill>
              </a:rPr>
              <a:t>director'</a:t>
            </a:r>
            <a:r>
              <a:rPr lang="en-US" err="1"/>
              <a:t>,ascending</a:t>
            </a:r>
            <a:r>
              <a:rPr lang="en-US"/>
              <a:t>=False)</a:t>
            </a:r>
          </a:p>
        </p:txBody>
      </p:sp>
      <p:pic>
        <p:nvPicPr>
          <p:cNvPr id="9" name="Picture 8">
            <a:extLst>
              <a:ext uri="{FF2B5EF4-FFF2-40B4-BE49-F238E27FC236}">
                <a16:creationId xmlns:a16="http://schemas.microsoft.com/office/drawing/2014/main" id="{6A825796-3824-C001-4033-6008F1B5C7FE}"/>
              </a:ext>
            </a:extLst>
          </p:cNvPr>
          <p:cNvPicPr>
            <a:picLocks noChangeAspect="1"/>
          </p:cNvPicPr>
          <p:nvPr/>
        </p:nvPicPr>
        <p:blipFill>
          <a:blip r:embed="rId2"/>
          <a:stretch>
            <a:fillRect/>
          </a:stretch>
        </p:blipFill>
        <p:spPr>
          <a:xfrm>
            <a:off x="994345" y="3486361"/>
            <a:ext cx="6493576" cy="3006514"/>
          </a:xfrm>
          <a:prstGeom prst="rect">
            <a:avLst/>
          </a:prstGeom>
        </p:spPr>
      </p:pic>
      <p:sp>
        <p:nvSpPr>
          <p:cNvPr id="10" name="Right Brace 9">
            <a:extLst>
              <a:ext uri="{FF2B5EF4-FFF2-40B4-BE49-F238E27FC236}">
                <a16:creationId xmlns:a16="http://schemas.microsoft.com/office/drawing/2014/main" id="{1EC5CE20-CAAC-A0A9-D497-F62D79F7B557}"/>
              </a:ext>
            </a:extLst>
          </p:cNvPr>
          <p:cNvSpPr/>
          <p:nvPr/>
        </p:nvSpPr>
        <p:spPr>
          <a:xfrm>
            <a:off x="4726044" y="3438626"/>
            <a:ext cx="355600" cy="1390439"/>
          </a:xfrm>
          <a:prstGeom prst="rightBrace">
            <a:avLst>
              <a:gd name="adj1" fmla="val 8333"/>
              <a:gd name="adj2" fmla="val 5730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
        <p:nvSpPr>
          <p:cNvPr id="11" name="Right Brace 10">
            <a:extLst>
              <a:ext uri="{FF2B5EF4-FFF2-40B4-BE49-F238E27FC236}">
                <a16:creationId xmlns:a16="http://schemas.microsoft.com/office/drawing/2014/main" id="{57F8DC10-8330-4B3D-AEA0-5521D6F7A6F1}"/>
              </a:ext>
            </a:extLst>
          </p:cNvPr>
          <p:cNvSpPr/>
          <p:nvPr/>
        </p:nvSpPr>
        <p:spPr>
          <a:xfrm>
            <a:off x="4700644" y="5026715"/>
            <a:ext cx="355600" cy="139043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BE"/>
          </a:p>
        </p:txBody>
      </p:sp>
    </p:spTree>
    <p:extLst>
      <p:ext uri="{BB962C8B-B14F-4D97-AF65-F5344CB8AC3E}">
        <p14:creationId xmlns:p14="http://schemas.microsoft.com/office/powerpoint/2010/main" val="2499960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A73CD-1EFC-908C-22E2-831D9246788F}"/>
              </a:ext>
            </a:extLst>
          </p:cNvPr>
          <p:cNvSpPr>
            <a:spLocks noGrp="1"/>
          </p:cNvSpPr>
          <p:nvPr>
            <p:ph type="title"/>
          </p:nvPr>
        </p:nvSpPr>
        <p:spPr/>
        <p:txBody>
          <a:bodyPr>
            <a:normAutofit/>
          </a:bodyPr>
          <a:lstStyle/>
          <a:p>
            <a:r>
              <a:rPr lang="en-US" noProof="0" dirty="0"/>
              <a:t>Grouping</a:t>
            </a:r>
          </a:p>
        </p:txBody>
      </p:sp>
      <p:sp>
        <p:nvSpPr>
          <p:cNvPr id="4" name="Slide Number Placeholder 3">
            <a:extLst>
              <a:ext uri="{FF2B5EF4-FFF2-40B4-BE49-F238E27FC236}">
                <a16:creationId xmlns:a16="http://schemas.microsoft.com/office/drawing/2014/main" id="{F133A178-DF32-B3C2-5556-02C9782E94F4}"/>
              </a:ext>
            </a:extLst>
          </p:cNvPr>
          <p:cNvSpPr>
            <a:spLocks noGrp="1"/>
          </p:cNvSpPr>
          <p:nvPr>
            <p:ph type="sldNum" sz="quarter" idx="12"/>
          </p:nvPr>
        </p:nvSpPr>
        <p:spPr/>
        <p:txBody>
          <a:bodyPr/>
          <a:lstStyle/>
          <a:p>
            <a:fld id="{FE1B3154-47D9-4402-8EDB-E791933DC0B9}" type="slidenum">
              <a:rPr lang="nl-BE" smtClean="0"/>
              <a:pPr/>
              <a:t>56</a:t>
            </a:fld>
            <a:endParaRPr lang="nl-BE"/>
          </a:p>
        </p:txBody>
      </p:sp>
      <p:sp>
        <p:nvSpPr>
          <p:cNvPr id="5" name="Content Placeholder 2">
            <a:extLst>
              <a:ext uri="{FF2B5EF4-FFF2-40B4-BE49-F238E27FC236}">
                <a16:creationId xmlns:a16="http://schemas.microsoft.com/office/drawing/2014/main" id="{D48898B0-2FC3-8D09-8506-FCA30B8D671B}"/>
              </a:ext>
            </a:extLst>
          </p:cNvPr>
          <p:cNvSpPr txBox="1">
            <a:spLocks/>
          </p:cNvSpPr>
          <p:nvPr/>
        </p:nvSpPr>
        <p:spPr>
          <a:xfrm>
            <a:off x="582705" y="1550894"/>
            <a:ext cx="11291048" cy="46260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ea typeface="+mn-lt"/>
                <a:cs typeface="+mn-lt"/>
              </a:rPr>
              <a:t>The output “movies directed by Ridley Scot” can also be retrieved by using the methods </a:t>
            </a:r>
            <a:r>
              <a:rPr lang="en-US" b="1" i="1" err="1">
                <a:solidFill>
                  <a:srgbClr val="446785"/>
                </a:solidFill>
                <a:ea typeface="+mn-lt"/>
                <a:cs typeface="+mn-lt"/>
              </a:rPr>
              <a:t>groupby</a:t>
            </a:r>
            <a:r>
              <a:rPr lang="en-US" b="1" i="1">
                <a:solidFill>
                  <a:srgbClr val="446785"/>
                </a:solidFill>
                <a:ea typeface="+mn-lt"/>
                <a:cs typeface="+mn-lt"/>
              </a:rPr>
              <a:t>() </a:t>
            </a:r>
            <a:r>
              <a:rPr lang="en-US">
                <a:ea typeface="+mn-lt"/>
                <a:cs typeface="+mn-lt"/>
              </a:rPr>
              <a:t>and </a:t>
            </a:r>
            <a:r>
              <a:rPr lang="en-US" b="1" i="1" err="1">
                <a:solidFill>
                  <a:srgbClr val="446785"/>
                </a:solidFill>
                <a:ea typeface="+mn-lt"/>
                <a:cs typeface="+mn-lt"/>
              </a:rPr>
              <a:t>get_group</a:t>
            </a:r>
            <a:r>
              <a:rPr lang="en-US" b="1" i="1">
                <a:solidFill>
                  <a:srgbClr val="446785"/>
                </a:solidFill>
                <a:ea typeface="+mn-lt"/>
                <a:cs typeface="+mn-lt"/>
              </a:rPr>
              <a:t>()</a:t>
            </a:r>
            <a:endParaRPr lang="en-US" b="1" i="1">
              <a:solidFill>
                <a:srgbClr val="446785"/>
              </a:solidFill>
              <a:cs typeface="Calibri"/>
            </a:endParaRPr>
          </a:p>
        </p:txBody>
      </p:sp>
      <p:sp>
        <p:nvSpPr>
          <p:cNvPr id="9" name="TextBox 8">
            <a:extLst>
              <a:ext uri="{FF2B5EF4-FFF2-40B4-BE49-F238E27FC236}">
                <a16:creationId xmlns:a16="http://schemas.microsoft.com/office/drawing/2014/main" id="{1C74DA67-0355-FA5E-43BF-8BBBEBBEEDAD}"/>
              </a:ext>
            </a:extLst>
          </p:cNvPr>
          <p:cNvSpPr txBox="1"/>
          <p:nvPr/>
        </p:nvSpPr>
        <p:spPr>
          <a:xfrm>
            <a:off x="920398" y="2619514"/>
            <a:ext cx="8210155" cy="707886"/>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a:t>grouped = </a:t>
            </a:r>
            <a:r>
              <a:rPr lang="en-US" err="1"/>
              <a:t>df_movies.</a:t>
            </a:r>
            <a:r>
              <a:rPr lang="en-US" b="1" err="1">
                <a:solidFill>
                  <a:srgbClr val="446785"/>
                </a:solidFill>
              </a:rPr>
              <a:t>groupby</a:t>
            </a:r>
            <a:r>
              <a:rPr lang="en-US"/>
              <a:t>(</a:t>
            </a:r>
            <a:r>
              <a:rPr lang="en-US">
                <a:solidFill>
                  <a:srgbClr val="718C00"/>
                </a:solidFill>
              </a:rPr>
              <a:t>'director'</a:t>
            </a:r>
            <a:r>
              <a:rPr lang="en-US"/>
              <a:t>)</a:t>
            </a:r>
          </a:p>
          <a:p>
            <a:r>
              <a:rPr lang="en-US" err="1"/>
              <a:t>grouped.</a:t>
            </a:r>
            <a:r>
              <a:rPr lang="en-US" b="1" err="1">
                <a:solidFill>
                  <a:srgbClr val="446785"/>
                </a:solidFill>
              </a:rPr>
              <a:t>get_group</a:t>
            </a:r>
            <a:r>
              <a:rPr lang="en-US"/>
              <a:t>(</a:t>
            </a:r>
            <a:r>
              <a:rPr lang="en-US">
                <a:solidFill>
                  <a:srgbClr val="718C00"/>
                </a:solidFill>
              </a:rPr>
              <a:t>'Ridley Scott'</a:t>
            </a:r>
            <a:r>
              <a:rPr lang="en-US"/>
              <a:t>)</a:t>
            </a:r>
          </a:p>
        </p:txBody>
      </p:sp>
      <p:pic>
        <p:nvPicPr>
          <p:cNvPr id="11" name="Picture 10">
            <a:extLst>
              <a:ext uri="{FF2B5EF4-FFF2-40B4-BE49-F238E27FC236}">
                <a16:creationId xmlns:a16="http://schemas.microsoft.com/office/drawing/2014/main" id="{304A60B2-722B-302F-4798-0F1F01C0DE7B}"/>
              </a:ext>
            </a:extLst>
          </p:cNvPr>
          <p:cNvPicPr>
            <a:picLocks noChangeAspect="1"/>
          </p:cNvPicPr>
          <p:nvPr/>
        </p:nvPicPr>
        <p:blipFill>
          <a:blip r:embed="rId2"/>
          <a:stretch>
            <a:fillRect/>
          </a:stretch>
        </p:blipFill>
        <p:spPr>
          <a:xfrm>
            <a:off x="920398" y="3671937"/>
            <a:ext cx="4982745" cy="2837998"/>
          </a:xfrm>
          <a:prstGeom prst="rect">
            <a:avLst/>
          </a:prstGeom>
        </p:spPr>
      </p:pic>
    </p:spTree>
    <p:extLst>
      <p:ext uri="{BB962C8B-B14F-4D97-AF65-F5344CB8AC3E}">
        <p14:creationId xmlns:p14="http://schemas.microsoft.com/office/powerpoint/2010/main" val="6536514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F9CD-EB90-DDFC-6DD0-8B2375335D44}"/>
              </a:ext>
            </a:extLst>
          </p:cNvPr>
          <p:cNvSpPr>
            <a:spLocks noGrp="1"/>
          </p:cNvSpPr>
          <p:nvPr>
            <p:ph type="title"/>
          </p:nvPr>
        </p:nvSpPr>
        <p:spPr/>
        <p:txBody>
          <a:bodyPr/>
          <a:lstStyle/>
          <a:p>
            <a:r>
              <a:rPr lang="en-US" noProof="0" dirty="0"/>
              <a:t>Counting</a:t>
            </a:r>
          </a:p>
        </p:txBody>
      </p:sp>
      <p:sp>
        <p:nvSpPr>
          <p:cNvPr id="3" name="Content Placeholder 2">
            <a:extLst>
              <a:ext uri="{FF2B5EF4-FFF2-40B4-BE49-F238E27FC236}">
                <a16:creationId xmlns:a16="http://schemas.microsoft.com/office/drawing/2014/main" id="{F62183F3-4EB4-89FB-77CD-8C77370F0F08}"/>
              </a:ext>
            </a:extLst>
          </p:cNvPr>
          <p:cNvSpPr>
            <a:spLocks noGrp="1"/>
          </p:cNvSpPr>
          <p:nvPr>
            <p:ph idx="1"/>
          </p:nvPr>
        </p:nvSpPr>
        <p:spPr/>
        <p:txBody>
          <a:bodyPr vert="horz" lIns="91440" tIns="45720" rIns="91440" bIns="45720" rtlCol="0" anchor="t">
            <a:normAutofit/>
          </a:bodyPr>
          <a:lstStyle/>
          <a:p>
            <a:r>
              <a:rPr lang="en-US" noProof="0" dirty="0"/>
              <a:t>To retrieve the number of movies directed by Ridley Scot, just use the function</a:t>
            </a:r>
            <a:r>
              <a:rPr lang="en-US" b="1" i="1" noProof="0" dirty="0">
                <a:solidFill>
                  <a:srgbClr val="446785"/>
                </a:solidFill>
              </a:rPr>
              <a:t> </a:t>
            </a:r>
            <a:r>
              <a:rPr lang="en-US" i="1" noProof="0" dirty="0" err="1">
                <a:solidFill>
                  <a:schemeClr val="accent2">
                    <a:lumMod val="75000"/>
                  </a:schemeClr>
                </a:solidFill>
              </a:rPr>
              <a:t>len</a:t>
            </a:r>
            <a:r>
              <a:rPr lang="en-US" i="1" noProof="0" dirty="0">
                <a:solidFill>
                  <a:schemeClr val="accent2">
                    <a:lumMod val="75000"/>
                  </a:schemeClr>
                </a:solidFill>
              </a:rPr>
              <a:t>()</a:t>
            </a:r>
          </a:p>
          <a:p>
            <a:endParaRPr lang="en-US" i="1" noProof="0" dirty="0">
              <a:solidFill>
                <a:schemeClr val="accent2">
                  <a:lumMod val="75000"/>
                </a:schemeClr>
              </a:solidFill>
            </a:endParaRPr>
          </a:p>
          <a:p>
            <a:endParaRPr lang="en-US" i="1" noProof="0" dirty="0">
              <a:solidFill>
                <a:schemeClr val="accent2">
                  <a:lumMod val="75000"/>
                </a:schemeClr>
              </a:solidFill>
            </a:endParaRPr>
          </a:p>
          <a:p>
            <a:r>
              <a:rPr lang="en-US" noProof="0" dirty="0"/>
              <a:t>To retrieve the number of movies directed per director, use the method </a:t>
            </a:r>
            <a:r>
              <a:rPr lang="en-US" b="1" i="1" noProof="0" dirty="0">
                <a:solidFill>
                  <a:srgbClr val="446785"/>
                </a:solidFill>
              </a:rPr>
              <a:t>size()</a:t>
            </a:r>
          </a:p>
          <a:p>
            <a:endParaRPr lang="en-US" i="1" noProof="0" dirty="0">
              <a:solidFill>
                <a:schemeClr val="accent2">
                  <a:lumMod val="75000"/>
                </a:schemeClr>
              </a:solidFill>
            </a:endParaRPr>
          </a:p>
        </p:txBody>
      </p:sp>
      <p:sp>
        <p:nvSpPr>
          <p:cNvPr id="4" name="Slide Number Placeholder 3">
            <a:extLst>
              <a:ext uri="{FF2B5EF4-FFF2-40B4-BE49-F238E27FC236}">
                <a16:creationId xmlns:a16="http://schemas.microsoft.com/office/drawing/2014/main" id="{86ED9420-6C50-F881-2C54-76060D1A123A}"/>
              </a:ext>
            </a:extLst>
          </p:cNvPr>
          <p:cNvSpPr>
            <a:spLocks noGrp="1"/>
          </p:cNvSpPr>
          <p:nvPr>
            <p:ph type="sldNum" sz="quarter" idx="12"/>
          </p:nvPr>
        </p:nvSpPr>
        <p:spPr/>
        <p:txBody>
          <a:bodyPr/>
          <a:lstStyle/>
          <a:p>
            <a:fld id="{FE1B3154-47D9-4402-8EDB-E791933DC0B9}" type="slidenum">
              <a:rPr lang="nl-BE" smtClean="0"/>
              <a:pPr/>
              <a:t>57</a:t>
            </a:fld>
            <a:endParaRPr lang="nl-BE"/>
          </a:p>
        </p:txBody>
      </p:sp>
      <p:sp>
        <p:nvSpPr>
          <p:cNvPr id="5" name="TextBox 4">
            <a:extLst>
              <a:ext uri="{FF2B5EF4-FFF2-40B4-BE49-F238E27FC236}">
                <a16:creationId xmlns:a16="http://schemas.microsoft.com/office/drawing/2014/main" id="{C2682182-3D7E-686A-4060-7E6CD7EF8001}"/>
              </a:ext>
            </a:extLst>
          </p:cNvPr>
          <p:cNvSpPr txBox="1"/>
          <p:nvPr/>
        </p:nvSpPr>
        <p:spPr>
          <a:xfrm>
            <a:off x="920399" y="2619514"/>
            <a:ext cx="4586322" cy="707886"/>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a:t>grouped = </a:t>
            </a:r>
            <a:r>
              <a:rPr lang="en-US" err="1"/>
              <a:t>df_movies.</a:t>
            </a:r>
            <a:r>
              <a:rPr lang="en-US" b="1" err="1">
                <a:solidFill>
                  <a:srgbClr val="446785"/>
                </a:solidFill>
              </a:rPr>
              <a:t>groupby</a:t>
            </a:r>
            <a:r>
              <a:rPr lang="en-US"/>
              <a:t>(</a:t>
            </a:r>
            <a:r>
              <a:rPr lang="en-US">
                <a:solidFill>
                  <a:srgbClr val="718C00"/>
                </a:solidFill>
              </a:rPr>
              <a:t>'director'</a:t>
            </a:r>
            <a:r>
              <a:rPr lang="en-US"/>
              <a:t>)</a:t>
            </a:r>
          </a:p>
          <a:p>
            <a:r>
              <a:rPr lang="en-US" err="1">
                <a:solidFill>
                  <a:schemeClr val="accent2">
                    <a:lumMod val="75000"/>
                  </a:schemeClr>
                </a:solidFill>
              </a:rPr>
              <a:t>len</a:t>
            </a:r>
            <a:r>
              <a:rPr lang="en-US"/>
              <a:t>(</a:t>
            </a:r>
            <a:r>
              <a:rPr lang="en-US" err="1"/>
              <a:t>grouped.</a:t>
            </a:r>
            <a:r>
              <a:rPr lang="en-US" b="1" err="1">
                <a:solidFill>
                  <a:srgbClr val="446785"/>
                </a:solidFill>
              </a:rPr>
              <a:t>get_group</a:t>
            </a:r>
            <a:r>
              <a:rPr lang="en-US"/>
              <a:t>(</a:t>
            </a:r>
            <a:r>
              <a:rPr lang="en-US">
                <a:solidFill>
                  <a:srgbClr val="718C00"/>
                </a:solidFill>
              </a:rPr>
              <a:t>'Ridley Scott’</a:t>
            </a:r>
            <a:r>
              <a:rPr lang="en-US"/>
              <a:t>))</a:t>
            </a:r>
          </a:p>
        </p:txBody>
      </p:sp>
      <p:sp>
        <p:nvSpPr>
          <p:cNvPr id="6" name="TextBox 5">
            <a:extLst>
              <a:ext uri="{FF2B5EF4-FFF2-40B4-BE49-F238E27FC236}">
                <a16:creationId xmlns:a16="http://schemas.microsoft.com/office/drawing/2014/main" id="{AF4F119D-C934-0770-D27A-B6895D47C39F}"/>
              </a:ext>
            </a:extLst>
          </p:cNvPr>
          <p:cNvSpPr txBox="1"/>
          <p:nvPr/>
        </p:nvSpPr>
        <p:spPr>
          <a:xfrm>
            <a:off x="920399" y="4352071"/>
            <a:ext cx="7339681" cy="400110"/>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err="1"/>
              <a:t>df_movies</a:t>
            </a:r>
            <a:r>
              <a:rPr lang="en-US" b="0" err="1">
                <a:solidFill>
                  <a:srgbClr val="3B3B3B"/>
                </a:solidFill>
                <a:effectLst/>
              </a:rPr>
              <a:t>.</a:t>
            </a:r>
            <a:r>
              <a:rPr lang="en-US" b="1" err="1">
                <a:solidFill>
                  <a:srgbClr val="446785"/>
                </a:solidFill>
              </a:rPr>
              <a:t>groupby</a:t>
            </a:r>
            <a:r>
              <a:rPr lang="en-US" b="0">
                <a:solidFill>
                  <a:srgbClr val="3B3B3B"/>
                </a:solidFill>
                <a:effectLst/>
              </a:rPr>
              <a:t>(</a:t>
            </a:r>
            <a:r>
              <a:rPr lang="en-US">
                <a:solidFill>
                  <a:srgbClr val="718C00"/>
                </a:solidFill>
              </a:rPr>
              <a:t>'director'</a:t>
            </a:r>
            <a:r>
              <a:rPr lang="en-US" b="0">
                <a:solidFill>
                  <a:srgbClr val="3B3B3B"/>
                </a:solidFill>
                <a:effectLst/>
              </a:rPr>
              <a:t>).</a:t>
            </a:r>
            <a:r>
              <a:rPr lang="en-US" b="1">
                <a:solidFill>
                  <a:srgbClr val="446785"/>
                </a:solidFill>
                <a:effectLst/>
              </a:rPr>
              <a:t>size</a:t>
            </a:r>
            <a:r>
              <a:rPr lang="en-US" b="0">
                <a:solidFill>
                  <a:srgbClr val="3B3B3B"/>
                </a:solidFill>
                <a:effectLst/>
              </a:rPr>
              <a:t>().</a:t>
            </a:r>
            <a:r>
              <a:rPr lang="en-US" b="1" err="1">
                <a:solidFill>
                  <a:srgbClr val="446785"/>
                </a:solidFill>
                <a:effectLst/>
              </a:rPr>
              <a:t>sort_values</a:t>
            </a:r>
            <a:r>
              <a:rPr lang="en-US" b="0">
                <a:solidFill>
                  <a:srgbClr val="3B3B3B"/>
                </a:solidFill>
                <a:effectLst/>
              </a:rPr>
              <a:t>(</a:t>
            </a:r>
            <a:r>
              <a:rPr lang="en-US"/>
              <a:t>ascending=False</a:t>
            </a:r>
            <a:r>
              <a:rPr lang="en-US" b="0">
                <a:solidFill>
                  <a:srgbClr val="3B3B3B"/>
                </a:solidFill>
                <a:effectLst/>
              </a:rPr>
              <a:t>)</a:t>
            </a:r>
          </a:p>
        </p:txBody>
      </p:sp>
      <p:pic>
        <p:nvPicPr>
          <p:cNvPr id="9" name="Picture 8">
            <a:extLst>
              <a:ext uri="{FF2B5EF4-FFF2-40B4-BE49-F238E27FC236}">
                <a16:creationId xmlns:a16="http://schemas.microsoft.com/office/drawing/2014/main" id="{6456CCAB-3A3C-ED71-A6A1-B58D2CA064A8}"/>
              </a:ext>
            </a:extLst>
          </p:cNvPr>
          <p:cNvPicPr>
            <a:picLocks noChangeAspect="1"/>
          </p:cNvPicPr>
          <p:nvPr/>
        </p:nvPicPr>
        <p:blipFill>
          <a:blip r:embed="rId2"/>
          <a:stretch>
            <a:fillRect/>
          </a:stretch>
        </p:blipFill>
        <p:spPr>
          <a:xfrm>
            <a:off x="8710424" y="4034256"/>
            <a:ext cx="2286265" cy="2545699"/>
          </a:xfrm>
          <a:prstGeom prst="rect">
            <a:avLst/>
          </a:prstGeom>
        </p:spPr>
      </p:pic>
      <p:pic>
        <p:nvPicPr>
          <p:cNvPr id="11" name="Picture 10">
            <a:extLst>
              <a:ext uri="{FF2B5EF4-FFF2-40B4-BE49-F238E27FC236}">
                <a16:creationId xmlns:a16="http://schemas.microsoft.com/office/drawing/2014/main" id="{35FCEB0E-F087-F76A-C03E-352C8D40D9D0}"/>
              </a:ext>
            </a:extLst>
          </p:cNvPr>
          <p:cNvPicPr>
            <a:picLocks noChangeAspect="1"/>
          </p:cNvPicPr>
          <p:nvPr/>
        </p:nvPicPr>
        <p:blipFill>
          <a:blip r:embed="rId3"/>
          <a:stretch>
            <a:fillRect/>
          </a:stretch>
        </p:blipFill>
        <p:spPr>
          <a:xfrm>
            <a:off x="5968253" y="2927294"/>
            <a:ext cx="485843" cy="400106"/>
          </a:xfrm>
          <a:prstGeom prst="rect">
            <a:avLst/>
          </a:prstGeom>
        </p:spPr>
      </p:pic>
    </p:spTree>
    <p:extLst>
      <p:ext uri="{BB962C8B-B14F-4D97-AF65-F5344CB8AC3E}">
        <p14:creationId xmlns:p14="http://schemas.microsoft.com/office/powerpoint/2010/main" val="41108601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2F9CD-EB90-DDFC-6DD0-8B2375335D44}"/>
              </a:ext>
            </a:extLst>
          </p:cNvPr>
          <p:cNvSpPr>
            <a:spLocks noGrp="1"/>
          </p:cNvSpPr>
          <p:nvPr>
            <p:ph type="title"/>
          </p:nvPr>
        </p:nvSpPr>
        <p:spPr/>
        <p:txBody>
          <a:bodyPr/>
          <a:lstStyle/>
          <a:p>
            <a:r>
              <a:rPr lang="en-US" noProof="0" dirty="0"/>
              <a:t>Counting</a:t>
            </a:r>
          </a:p>
        </p:txBody>
      </p:sp>
      <p:sp>
        <p:nvSpPr>
          <p:cNvPr id="3" name="Content Placeholder 2">
            <a:extLst>
              <a:ext uri="{FF2B5EF4-FFF2-40B4-BE49-F238E27FC236}">
                <a16:creationId xmlns:a16="http://schemas.microsoft.com/office/drawing/2014/main" id="{F62183F3-4EB4-89FB-77CD-8C77370F0F08}"/>
              </a:ext>
            </a:extLst>
          </p:cNvPr>
          <p:cNvSpPr>
            <a:spLocks noGrp="1"/>
          </p:cNvSpPr>
          <p:nvPr>
            <p:ph idx="1"/>
          </p:nvPr>
        </p:nvSpPr>
        <p:spPr/>
        <p:txBody>
          <a:bodyPr vert="horz" lIns="91440" tIns="45720" rIns="91440" bIns="45720" rtlCol="0" anchor="t">
            <a:normAutofit/>
          </a:bodyPr>
          <a:lstStyle/>
          <a:p>
            <a:r>
              <a:rPr lang="en-US" noProof="0" dirty="0"/>
              <a:t>To count the number of movies directed by each director, you can immediately - without grouping - use the method </a:t>
            </a:r>
            <a:r>
              <a:rPr lang="en-US" b="1" i="1" noProof="0" dirty="0" err="1">
                <a:solidFill>
                  <a:srgbClr val="446785"/>
                </a:solidFill>
              </a:rPr>
              <a:t>value_counts</a:t>
            </a:r>
            <a:r>
              <a:rPr lang="en-US" b="1" i="1" noProof="0" dirty="0">
                <a:solidFill>
                  <a:srgbClr val="446785"/>
                </a:solidFill>
              </a:rPr>
              <a:t>()</a:t>
            </a:r>
          </a:p>
          <a:p>
            <a:endParaRPr lang="en-US" i="1" noProof="0" dirty="0">
              <a:solidFill>
                <a:schemeClr val="accent2">
                  <a:lumMod val="75000"/>
                </a:schemeClr>
              </a:solidFill>
            </a:endParaRPr>
          </a:p>
        </p:txBody>
      </p:sp>
      <p:sp>
        <p:nvSpPr>
          <p:cNvPr id="4" name="Slide Number Placeholder 3">
            <a:extLst>
              <a:ext uri="{FF2B5EF4-FFF2-40B4-BE49-F238E27FC236}">
                <a16:creationId xmlns:a16="http://schemas.microsoft.com/office/drawing/2014/main" id="{86ED9420-6C50-F881-2C54-76060D1A123A}"/>
              </a:ext>
            </a:extLst>
          </p:cNvPr>
          <p:cNvSpPr>
            <a:spLocks noGrp="1"/>
          </p:cNvSpPr>
          <p:nvPr>
            <p:ph type="sldNum" sz="quarter" idx="12"/>
          </p:nvPr>
        </p:nvSpPr>
        <p:spPr/>
        <p:txBody>
          <a:bodyPr/>
          <a:lstStyle/>
          <a:p>
            <a:fld id="{FE1B3154-47D9-4402-8EDB-E791933DC0B9}" type="slidenum">
              <a:rPr lang="nl-BE" smtClean="0"/>
              <a:pPr/>
              <a:t>58</a:t>
            </a:fld>
            <a:endParaRPr lang="nl-BE"/>
          </a:p>
        </p:txBody>
      </p:sp>
      <p:sp>
        <p:nvSpPr>
          <p:cNvPr id="6" name="TextBox 5">
            <a:extLst>
              <a:ext uri="{FF2B5EF4-FFF2-40B4-BE49-F238E27FC236}">
                <a16:creationId xmlns:a16="http://schemas.microsoft.com/office/drawing/2014/main" id="{AF4F119D-C934-0770-D27A-B6895D47C39F}"/>
              </a:ext>
            </a:extLst>
          </p:cNvPr>
          <p:cNvSpPr txBox="1"/>
          <p:nvPr/>
        </p:nvSpPr>
        <p:spPr>
          <a:xfrm>
            <a:off x="859438" y="2755180"/>
            <a:ext cx="4586322" cy="400110"/>
          </a:xfrm>
          <a:prstGeom prst="rect">
            <a:avLst/>
          </a:prstGeom>
          <a:noFill/>
          <a:ln>
            <a:solidFill>
              <a:schemeClr val="accent1"/>
            </a:solidFill>
          </a:ln>
        </p:spPr>
        <p:txBody>
          <a:bodyPr wrap="square">
            <a:spAutoFit/>
          </a:bodyPr>
          <a:lstStyle>
            <a:defPPr>
              <a:defRPr lang="nl-BE"/>
            </a:defPPr>
            <a:lvl1pPr>
              <a:defRPr sz="2000" b="0" i="0">
                <a:solidFill>
                  <a:srgbClr val="4D4D4C"/>
                </a:solidFill>
                <a:effectLst/>
                <a:latin typeface="Monaco"/>
              </a:defRPr>
            </a:lvl1pPr>
          </a:lstStyle>
          <a:p>
            <a:r>
              <a:rPr lang="en-US" err="1"/>
              <a:t>df_movies</a:t>
            </a:r>
            <a:r>
              <a:rPr lang="en-US"/>
              <a:t>[</a:t>
            </a:r>
            <a:r>
              <a:rPr lang="en-US">
                <a:solidFill>
                  <a:srgbClr val="718C00"/>
                </a:solidFill>
              </a:rPr>
              <a:t>'director’].</a:t>
            </a:r>
            <a:r>
              <a:rPr lang="en-US" b="1" err="1">
                <a:solidFill>
                  <a:srgbClr val="446785"/>
                </a:solidFill>
              </a:rPr>
              <a:t>value_counts</a:t>
            </a:r>
            <a:r>
              <a:rPr lang="en-US" b="1">
                <a:solidFill>
                  <a:srgbClr val="446785"/>
                </a:solidFill>
              </a:rPr>
              <a:t>()</a:t>
            </a:r>
          </a:p>
        </p:txBody>
      </p:sp>
      <p:pic>
        <p:nvPicPr>
          <p:cNvPr id="9" name="Picture 8">
            <a:extLst>
              <a:ext uri="{FF2B5EF4-FFF2-40B4-BE49-F238E27FC236}">
                <a16:creationId xmlns:a16="http://schemas.microsoft.com/office/drawing/2014/main" id="{6456CCAB-3A3C-ED71-A6A1-B58D2CA064A8}"/>
              </a:ext>
            </a:extLst>
          </p:cNvPr>
          <p:cNvPicPr>
            <a:picLocks noChangeAspect="1"/>
          </p:cNvPicPr>
          <p:nvPr/>
        </p:nvPicPr>
        <p:blipFill>
          <a:blip r:embed="rId2"/>
          <a:stretch>
            <a:fillRect/>
          </a:stretch>
        </p:blipFill>
        <p:spPr>
          <a:xfrm>
            <a:off x="5753122" y="2761407"/>
            <a:ext cx="2286265" cy="2545699"/>
          </a:xfrm>
          <a:prstGeom prst="rect">
            <a:avLst/>
          </a:prstGeom>
        </p:spPr>
      </p:pic>
    </p:spTree>
    <p:extLst>
      <p:ext uri="{BB962C8B-B14F-4D97-AF65-F5344CB8AC3E}">
        <p14:creationId xmlns:p14="http://schemas.microsoft.com/office/powerpoint/2010/main" val="3130900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444198-B78E-2C79-6A76-755308FCA980}"/>
              </a:ext>
            </a:extLst>
          </p:cNvPr>
          <p:cNvSpPr>
            <a:spLocks noGrp="1"/>
          </p:cNvSpPr>
          <p:nvPr>
            <p:ph type="ctrTitle"/>
          </p:nvPr>
        </p:nvSpPr>
        <p:spPr>
          <a:xfrm>
            <a:off x="1883664" y="3433481"/>
            <a:ext cx="9886995" cy="890839"/>
          </a:xfrm>
        </p:spPr>
        <p:txBody>
          <a:bodyPr>
            <a:normAutofit fontScale="90000"/>
          </a:bodyPr>
          <a:lstStyle/>
          <a:p>
            <a:r>
              <a:rPr lang="en-US" noProof="0" dirty="0"/>
              <a:t>Pandas – Cleaning a dataset using an example</a:t>
            </a:r>
          </a:p>
        </p:txBody>
      </p:sp>
      <p:sp>
        <p:nvSpPr>
          <p:cNvPr id="4" name="Slide Number Placeholder 3">
            <a:extLst>
              <a:ext uri="{FF2B5EF4-FFF2-40B4-BE49-F238E27FC236}">
                <a16:creationId xmlns:a16="http://schemas.microsoft.com/office/drawing/2014/main" id="{536899E8-F28E-10B4-2805-5D76FB8760C5}"/>
              </a:ext>
            </a:extLst>
          </p:cNvPr>
          <p:cNvSpPr>
            <a:spLocks noGrp="1"/>
          </p:cNvSpPr>
          <p:nvPr>
            <p:ph type="sldNum" sz="quarter" idx="12"/>
          </p:nvPr>
        </p:nvSpPr>
        <p:spPr/>
        <p:txBody>
          <a:bodyPr/>
          <a:lstStyle/>
          <a:p>
            <a:fld id="{FE1B3154-47D9-4402-8EDB-E791933DC0B9}" type="slidenum">
              <a:rPr lang="nl-BE" smtClean="0"/>
              <a:pPr/>
              <a:t>59</a:t>
            </a:fld>
            <a:endParaRPr lang="nl-BE"/>
          </a:p>
        </p:txBody>
      </p:sp>
    </p:spTree>
    <p:extLst>
      <p:ext uri="{BB962C8B-B14F-4D97-AF65-F5344CB8AC3E}">
        <p14:creationId xmlns:p14="http://schemas.microsoft.com/office/powerpoint/2010/main" val="11736658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3D9CC-68CB-C4A5-6294-BCF2A128CE67}"/>
              </a:ext>
            </a:extLst>
          </p:cNvPr>
          <p:cNvSpPr>
            <a:spLocks noGrp="1"/>
          </p:cNvSpPr>
          <p:nvPr>
            <p:ph type="title"/>
          </p:nvPr>
        </p:nvSpPr>
        <p:spPr/>
        <p:txBody>
          <a:bodyPr/>
          <a:lstStyle/>
          <a:p>
            <a:r>
              <a:rPr lang="en-US" noProof="0" dirty="0"/>
              <a:t>Cleaning a dataset</a:t>
            </a:r>
          </a:p>
        </p:txBody>
      </p:sp>
      <p:sp>
        <p:nvSpPr>
          <p:cNvPr id="3" name="Content Placeholder 2">
            <a:extLst>
              <a:ext uri="{FF2B5EF4-FFF2-40B4-BE49-F238E27FC236}">
                <a16:creationId xmlns:a16="http://schemas.microsoft.com/office/drawing/2014/main" id="{A9415526-2BC6-75F8-F819-1578A2C1F074}"/>
              </a:ext>
            </a:extLst>
          </p:cNvPr>
          <p:cNvSpPr>
            <a:spLocks noGrp="1"/>
          </p:cNvSpPr>
          <p:nvPr>
            <p:ph idx="1"/>
          </p:nvPr>
        </p:nvSpPr>
        <p:spPr/>
        <p:txBody>
          <a:bodyPr/>
          <a:lstStyle/>
          <a:p>
            <a:r>
              <a:rPr lang="en-US" noProof="0" dirty="0"/>
              <a:t>Open the </a:t>
            </a:r>
            <a:r>
              <a:rPr lang="en-US" noProof="0" dirty="0" err="1"/>
              <a:t>cars_cleaning</a:t>
            </a:r>
            <a:r>
              <a:rPr lang="en-US" noProof="0" dirty="0"/>
              <a:t> notebook</a:t>
            </a:r>
          </a:p>
          <a:p>
            <a:pPr lvl="1"/>
            <a:r>
              <a:rPr lang="en-US" noProof="0" dirty="0"/>
              <a:t>Part 1 contains a detailed description of the opening and cleaning of some random dataset</a:t>
            </a:r>
          </a:p>
          <a:p>
            <a:pPr lvl="1"/>
            <a:r>
              <a:rPr lang="en-US" noProof="0" dirty="0"/>
              <a:t>We’ll go over the highlights in the following slides.</a:t>
            </a:r>
          </a:p>
          <a:p>
            <a:endParaRPr lang="en-US" noProof="0" dirty="0"/>
          </a:p>
        </p:txBody>
      </p:sp>
      <p:sp>
        <p:nvSpPr>
          <p:cNvPr id="4" name="Slide Number Placeholder 3">
            <a:extLst>
              <a:ext uri="{FF2B5EF4-FFF2-40B4-BE49-F238E27FC236}">
                <a16:creationId xmlns:a16="http://schemas.microsoft.com/office/drawing/2014/main" id="{5C1996A2-5733-BCEE-543E-35CF64C45D2A}"/>
              </a:ext>
            </a:extLst>
          </p:cNvPr>
          <p:cNvSpPr>
            <a:spLocks noGrp="1"/>
          </p:cNvSpPr>
          <p:nvPr>
            <p:ph type="sldNum" sz="quarter" idx="12"/>
          </p:nvPr>
        </p:nvSpPr>
        <p:spPr/>
        <p:txBody>
          <a:bodyPr/>
          <a:lstStyle/>
          <a:p>
            <a:fld id="{FE1B3154-47D9-4402-8EDB-E791933DC0B9}" type="slidenum">
              <a:rPr lang="nl-BE" smtClean="0"/>
              <a:pPr/>
              <a:t>60</a:t>
            </a:fld>
            <a:endParaRPr lang="nl-BE"/>
          </a:p>
        </p:txBody>
      </p:sp>
    </p:spTree>
    <p:extLst>
      <p:ext uri="{BB962C8B-B14F-4D97-AF65-F5344CB8AC3E}">
        <p14:creationId xmlns:p14="http://schemas.microsoft.com/office/powerpoint/2010/main" val="123487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3B7E-F2C8-7BF2-EFBE-544710A3034B}"/>
              </a:ext>
            </a:extLst>
          </p:cNvPr>
          <p:cNvSpPr>
            <a:spLocks noGrp="1"/>
          </p:cNvSpPr>
          <p:nvPr>
            <p:ph type="title"/>
          </p:nvPr>
        </p:nvSpPr>
        <p:spPr/>
        <p:txBody>
          <a:bodyPr/>
          <a:lstStyle/>
          <a:p>
            <a:r>
              <a:rPr lang="en-US" noProof="0" dirty="0"/>
              <a:t>Create a calculated column</a:t>
            </a:r>
          </a:p>
        </p:txBody>
      </p:sp>
      <p:sp>
        <p:nvSpPr>
          <p:cNvPr id="3" name="Content Placeholder 2">
            <a:extLst>
              <a:ext uri="{FF2B5EF4-FFF2-40B4-BE49-F238E27FC236}">
                <a16:creationId xmlns:a16="http://schemas.microsoft.com/office/drawing/2014/main" id="{8DA82AA6-F82B-8AD9-1015-E9B1DA172AB3}"/>
              </a:ext>
            </a:extLst>
          </p:cNvPr>
          <p:cNvSpPr>
            <a:spLocks noGrp="1"/>
          </p:cNvSpPr>
          <p:nvPr>
            <p:ph idx="1"/>
          </p:nvPr>
        </p:nvSpPr>
        <p:spPr/>
        <p:txBody>
          <a:bodyPr>
            <a:normAutofit lnSpcReduction="10000"/>
          </a:bodyPr>
          <a:lstStyle/>
          <a:p>
            <a:r>
              <a:rPr lang="en-US" noProof="0" dirty="0"/>
              <a:t>The cars dataset has mileage in miles per gallon, not in liters per 100 km</a:t>
            </a:r>
          </a:p>
          <a:p>
            <a:r>
              <a:rPr lang="en-US" noProof="0" dirty="0"/>
              <a:t>We can create a new column!</a:t>
            </a:r>
          </a:p>
          <a:p>
            <a:endParaRPr lang="en-US" noProof="0" dirty="0"/>
          </a:p>
          <a:p>
            <a:endParaRPr lang="en-US" noProof="0" dirty="0"/>
          </a:p>
          <a:p>
            <a:endParaRPr lang="en-US" noProof="0" dirty="0"/>
          </a:p>
          <a:p>
            <a:r>
              <a:rPr lang="en-US" noProof="0" dirty="0"/>
              <a:t>The formula is something you know (or lookup)</a:t>
            </a:r>
          </a:p>
          <a:p>
            <a:r>
              <a:rPr lang="en-US" noProof="0" dirty="0"/>
              <a:t>Note how we used a list comprehension</a:t>
            </a:r>
          </a:p>
          <a:p>
            <a:pPr lvl="1"/>
            <a:r>
              <a:rPr lang="en-US" noProof="0" dirty="0"/>
              <a:t>By going over a column we created a list of the same number of rows as the </a:t>
            </a:r>
            <a:r>
              <a:rPr lang="en-US" noProof="0" dirty="0" err="1"/>
              <a:t>dataframe</a:t>
            </a:r>
            <a:endParaRPr lang="en-US" noProof="0" dirty="0"/>
          </a:p>
          <a:p>
            <a:pPr lvl="1"/>
            <a:r>
              <a:rPr lang="en-US" noProof="0" dirty="0"/>
              <a:t>This ensures the data is stored nicely</a:t>
            </a:r>
          </a:p>
        </p:txBody>
      </p:sp>
      <p:sp>
        <p:nvSpPr>
          <p:cNvPr id="4" name="Slide Number Placeholder 3">
            <a:extLst>
              <a:ext uri="{FF2B5EF4-FFF2-40B4-BE49-F238E27FC236}">
                <a16:creationId xmlns:a16="http://schemas.microsoft.com/office/drawing/2014/main" id="{2A82A76B-FF0B-1E2C-3FD3-2889A38AE618}"/>
              </a:ext>
            </a:extLst>
          </p:cNvPr>
          <p:cNvSpPr>
            <a:spLocks noGrp="1"/>
          </p:cNvSpPr>
          <p:nvPr>
            <p:ph type="sldNum" sz="quarter" idx="12"/>
          </p:nvPr>
        </p:nvSpPr>
        <p:spPr/>
        <p:txBody>
          <a:bodyPr/>
          <a:lstStyle/>
          <a:p>
            <a:fld id="{FE1B3154-47D9-4402-8EDB-E791933DC0B9}" type="slidenum">
              <a:rPr lang="nl-BE" smtClean="0"/>
              <a:pPr/>
              <a:t>61</a:t>
            </a:fld>
            <a:endParaRPr lang="nl-BE"/>
          </a:p>
        </p:txBody>
      </p:sp>
      <p:pic>
        <p:nvPicPr>
          <p:cNvPr id="6" name="Picture 5">
            <a:extLst>
              <a:ext uri="{FF2B5EF4-FFF2-40B4-BE49-F238E27FC236}">
                <a16:creationId xmlns:a16="http://schemas.microsoft.com/office/drawing/2014/main" id="{81F2BC17-610D-CD97-ECAA-90BCF7440926}"/>
              </a:ext>
            </a:extLst>
          </p:cNvPr>
          <p:cNvPicPr>
            <a:picLocks noChangeAspect="1"/>
          </p:cNvPicPr>
          <p:nvPr/>
        </p:nvPicPr>
        <p:blipFill>
          <a:blip r:embed="rId2"/>
          <a:stretch>
            <a:fillRect/>
          </a:stretch>
        </p:blipFill>
        <p:spPr>
          <a:xfrm>
            <a:off x="1044965" y="2716094"/>
            <a:ext cx="10102069" cy="893380"/>
          </a:xfrm>
          <a:prstGeom prst="rect">
            <a:avLst/>
          </a:prstGeom>
        </p:spPr>
      </p:pic>
    </p:spTree>
    <p:extLst>
      <p:ext uri="{BB962C8B-B14F-4D97-AF65-F5344CB8AC3E}">
        <p14:creationId xmlns:p14="http://schemas.microsoft.com/office/powerpoint/2010/main" val="25430469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708B-9252-CF25-348C-CEC82E1AFA58}"/>
              </a:ext>
            </a:extLst>
          </p:cNvPr>
          <p:cNvSpPr>
            <a:spLocks noGrp="1"/>
          </p:cNvSpPr>
          <p:nvPr>
            <p:ph type="title"/>
          </p:nvPr>
        </p:nvSpPr>
        <p:spPr/>
        <p:txBody>
          <a:bodyPr/>
          <a:lstStyle/>
          <a:p>
            <a:r>
              <a:rPr lang="en-US" noProof="0" dirty="0"/>
              <a:t>Categorical versus numerical variables</a:t>
            </a:r>
          </a:p>
        </p:txBody>
      </p:sp>
      <p:sp>
        <p:nvSpPr>
          <p:cNvPr id="3" name="Content Placeholder 2">
            <a:extLst>
              <a:ext uri="{FF2B5EF4-FFF2-40B4-BE49-F238E27FC236}">
                <a16:creationId xmlns:a16="http://schemas.microsoft.com/office/drawing/2014/main" id="{BEB08B83-2DBE-A27A-50C1-F5B92E80E02A}"/>
              </a:ext>
            </a:extLst>
          </p:cNvPr>
          <p:cNvSpPr>
            <a:spLocks noGrp="1"/>
          </p:cNvSpPr>
          <p:nvPr>
            <p:ph idx="1"/>
          </p:nvPr>
        </p:nvSpPr>
        <p:spPr/>
        <p:txBody>
          <a:bodyPr>
            <a:normAutofit lnSpcReduction="10000"/>
          </a:bodyPr>
          <a:lstStyle/>
          <a:p>
            <a:r>
              <a:rPr lang="en-US" noProof="0" dirty="0"/>
              <a:t>A </a:t>
            </a:r>
            <a:r>
              <a:rPr lang="en-US" b="1" noProof="0" dirty="0">
                <a:solidFill>
                  <a:srgbClr val="446785"/>
                </a:solidFill>
              </a:rPr>
              <a:t>categorical</a:t>
            </a:r>
            <a:r>
              <a:rPr lang="en-US" noProof="0" dirty="0"/>
              <a:t> variable can have a finite number of values:</a:t>
            </a:r>
          </a:p>
          <a:p>
            <a:pPr lvl="1"/>
            <a:r>
              <a:rPr lang="en-US" noProof="0" dirty="0"/>
              <a:t>T-shirt sizes, places of embarkment for titanic, gender, …</a:t>
            </a:r>
          </a:p>
          <a:p>
            <a:r>
              <a:rPr lang="en-US" noProof="0" dirty="0"/>
              <a:t>There are 2 types of categorical variables</a:t>
            </a:r>
          </a:p>
          <a:p>
            <a:pPr lvl="1"/>
            <a:r>
              <a:rPr lang="en-US" noProof="0" dirty="0"/>
              <a:t>Ordinal (ordered) 		“S/M/L/XL/XXL”</a:t>
            </a:r>
          </a:p>
          <a:p>
            <a:pPr lvl="1"/>
            <a:r>
              <a:rPr lang="en-US" noProof="0" dirty="0"/>
              <a:t>Nominal (unordered) 		“Male/Female”</a:t>
            </a:r>
          </a:p>
          <a:p>
            <a:endParaRPr lang="en-US" noProof="0" dirty="0"/>
          </a:p>
          <a:p>
            <a:r>
              <a:rPr lang="en-US" noProof="0" dirty="0"/>
              <a:t>A </a:t>
            </a:r>
            <a:r>
              <a:rPr lang="en-US" b="1" noProof="0" dirty="0">
                <a:solidFill>
                  <a:srgbClr val="446785"/>
                </a:solidFill>
              </a:rPr>
              <a:t>numerical</a:t>
            </a:r>
            <a:r>
              <a:rPr lang="en-US" noProof="0" dirty="0"/>
              <a:t> variable can have any q</a:t>
            </a:r>
            <a:r>
              <a:rPr lang="en-US" sz="2800" noProof="0" dirty="0"/>
              <a:t>uantitative</a:t>
            </a:r>
            <a:r>
              <a:rPr lang="en-US" noProof="0" dirty="0"/>
              <a:t> value:</a:t>
            </a:r>
          </a:p>
          <a:p>
            <a:pPr lvl="1"/>
            <a:r>
              <a:rPr lang="en-US" noProof="0" dirty="0"/>
              <a:t>Height, weight, number of bikes you own, …</a:t>
            </a:r>
          </a:p>
          <a:p>
            <a:r>
              <a:rPr lang="en-US" noProof="0" dirty="0"/>
              <a:t>There are 2 types of numerical variables</a:t>
            </a:r>
          </a:p>
          <a:p>
            <a:pPr lvl="1"/>
            <a:r>
              <a:rPr lang="en-US" noProof="0" dirty="0"/>
              <a:t>Discrete (finite number of possible values) 		: number of bikes</a:t>
            </a:r>
          </a:p>
          <a:p>
            <a:pPr lvl="1"/>
            <a:r>
              <a:rPr lang="en-US" noProof="0" dirty="0"/>
              <a:t>Continuous (infinite number of decimal values)	: height, weight</a:t>
            </a:r>
          </a:p>
          <a:p>
            <a:pPr lvl="1"/>
            <a:endParaRPr lang="en-US" noProof="0" dirty="0"/>
          </a:p>
        </p:txBody>
      </p:sp>
      <p:sp>
        <p:nvSpPr>
          <p:cNvPr id="4" name="Slide Number Placeholder 3">
            <a:extLst>
              <a:ext uri="{FF2B5EF4-FFF2-40B4-BE49-F238E27FC236}">
                <a16:creationId xmlns:a16="http://schemas.microsoft.com/office/drawing/2014/main" id="{92F75114-7A30-8DEB-35B4-D34C0DB2D27C}"/>
              </a:ext>
            </a:extLst>
          </p:cNvPr>
          <p:cNvSpPr>
            <a:spLocks noGrp="1"/>
          </p:cNvSpPr>
          <p:nvPr>
            <p:ph type="sldNum" sz="quarter" idx="12"/>
          </p:nvPr>
        </p:nvSpPr>
        <p:spPr/>
        <p:txBody>
          <a:bodyPr/>
          <a:lstStyle/>
          <a:p>
            <a:fld id="{FE1B3154-47D9-4402-8EDB-E791933DC0B9}" type="slidenum">
              <a:rPr lang="nl-BE" smtClean="0"/>
              <a:pPr/>
              <a:t>62</a:t>
            </a:fld>
            <a:endParaRPr lang="nl-BE"/>
          </a:p>
        </p:txBody>
      </p:sp>
    </p:spTree>
    <p:extLst>
      <p:ext uri="{BB962C8B-B14F-4D97-AF65-F5344CB8AC3E}">
        <p14:creationId xmlns:p14="http://schemas.microsoft.com/office/powerpoint/2010/main" val="22918374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E7D4F-012E-F77A-8ABB-D8F6A6BA2DFC}"/>
              </a:ext>
            </a:extLst>
          </p:cNvPr>
          <p:cNvSpPr>
            <a:spLocks noGrp="1"/>
          </p:cNvSpPr>
          <p:nvPr>
            <p:ph type="title"/>
          </p:nvPr>
        </p:nvSpPr>
        <p:spPr/>
        <p:txBody>
          <a:bodyPr/>
          <a:lstStyle/>
          <a:p>
            <a:r>
              <a:rPr lang="en-US" noProof="0" dirty="0"/>
              <a:t>Categorical versus numerical variables</a:t>
            </a:r>
          </a:p>
        </p:txBody>
      </p:sp>
      <p:sp>
        <p:nvSpPr>
          <p:cNvPr id="3" name="Content Placeholder 2">
            <a:extLst>
              <a:ext uri="{FF2B5EF4-FFF2-40B4-BE49-F238E27FC236}">
                <a16:creationId xmlns:a16="http://schemas.microsoft.com/office/drawing/2014/main" id="{EBA3D1E8-3767-B556-2FEA-C63C262741F0}"/>
              </a:ext>
            </a:extLst>
          </p:cNvPr>
          <p:cNvSpPr>
            <a:spLocks noGrp="1"/>
          </p:cNvSpPr>
          <p:nvPr>
            <p:ph idx="1"/>
          </p:nvPr>
        </p:nvSpPr>
        <p:spPr/>
        <p:txBody>
          <a:bodyPr/>
          <a:lstStyle/>
          <a:p>
            <a:r>
              <a:rPr lang="en-US" noProof="0" dirty="0"/>
              <a:t>Let’s say “age” is in the database</a:t>
            </a:r>
          </a:p>
          <a:p>
            <a:endParaRPr lang="en-US" noProof="0" dirty="0"/>
          </a:p>
          <a:p>
            <a:r>
              <a:rPr lang="en-US" noProof="0" dirty="0"/>
              <a:t>Is a continuous numerical field if: You store the age as number with digits behind the comma (1,675; 3,54; 43,33453; …)</a:t>
            </a:r>
          </a:p>
          <a:p>
            <a:r>
              <a:rPr lang="en-US" noProof="0" dirty="0"/>
              <a:t>Is a discrete numerical field if: You store it as an age (1, 3, 43, …)</a:t>
            </a:r>
          </a:p>
          <a:p>
            <a:r>
              <a:rPr lang="en-US" noProof="0" dirty="0"/>
              <a:t>Is an ordered categorical field if: You can only have a limited number of ages, like kids in a kindergarten class (2, 3 or 4, but nothing else)</a:t>
            </a:r>
          </a:p>
          <a:p>
            <a:r>
              <a:rPr lang="en-US" noProof="0" dirty="0"/>
              <a:t>Is never an unordered categorical field.</a:t>
            </a:r>
          </a:p>
        </p:txBody>
      </p:sp>
      <p:sp>
        <p:nvSpPr>
          <p:cNvPr id="4" name="Slide Number Placeholder 3">
            <a:extLst>
              <a:ext uri="{FF2B5EF4-FFF2-40B4-BE49-F238E27FC236}">
                <a16:creationId xmlns:a16="http://schemas.microsoft.com/office/drawing/2014/main" id="{C5C718B4-F273-C036-FCF5-4CD8D7562495}"/>
              </a:ext>
            </a:extLst>
          </p:cNvPr>
          <p:cNvSpPr>
            <a:spLocks noGrp="1"/>
          </p:cNvSpPr>
          <p:nvPr>
            <p:ph type="sldNum" sz="quarter" idx="12"/>
          </p:nvPr>
        </p:nvSpPr>
        <p:spPr/>
        <p:txBody>
          <a:bodyPr/>
          <a:lstStyle/>
          <a:p>
            <a:fld id="{FE1B3154-47D9-4402-8EDB-E791933DC0B9}" type="slidenum">
              <a:rPr lang="nl-BE" smtClean="0"/>
              <a:pPr/>
              <a:t>63</a:t>
            </a:fld>
            <a:endParaRPr lang="nl-BE"/>
          </a:p>
        </p:txBody>
      </p:sp>
    </p:spTree>
    <p:extLst>
      <p:ext uri="{BB962C8B-B14F-4D97-AF65-F5344CB8AC3E}">
        <p14:creationId xmlns:p14="http://schemas.microsoft.com/office/powerpoint/2010/main" val="19967544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C2AF-6E17-3206-B41E-F6B7CE3D6FCA}"/>
              </a:ext>
            </a:extLst>
          </p:cNvPr>
          <p:cNvSpPr>
            <a:spLocks noGrp="1"/>
          </p:cNvSpPr>
          <p:nvPr>
            <p:ph type="title"/>
          </p:nvPr>
        </p:nvSpPr>
        <p:spPr/>
        <p:txBody>
          <a:bodyPr/>
          <a:lstStyle/>
          <a:p>
            <a:r>
              <a:rPr lang="en-US" noProof="0" dirty="0"/>
              <a:t>Categorical variables</a:t>
            </a:r>
          </a:p>
        </p:txBody>
      </p:sp>
      <p:sp>
        <p:nvSpPr>
          <p:cNvPr id="3" name="Content Placeholder 2">
            <a:extLst>
              <a:ext uri="{FF2B5EF4-FFF2-40B4-BE49-F238E27FC236}">
                <a16:creationId xmlns:a16="http://schemas.microsoft.com/office/drawing/2014/main" id="{5111722E-6A4F-A017-E3A0-194EDD1BA70B}"/>
              </a:ext>
            </a:extLst>
          </p:cNvPr>
          <p:cNvSpPr>
            <a:spLocks noGrp="1"/>
          </p:cNvSpPr>
          <p:nvPr>
            <p:ph idx="1"/>
          </p:nvPr>
        </p:nvSpPr>
        <p:spPr/>
        <p:txBody>
          <a:bodyPr/>
          <a:lstStyle/>
          <a:p>
            <a:r>
              <a:rPr lang="en-US" noProof="0" dirty="0"/>
              <a:t>Why is this important?</a:t>
            </a:r>
          </a:p>
          <a:p>
            <a:r>
              <a:rPr lang="en-US" noProof="0" dirty="0"/>
              <a:t>If you have categorical data and you tell pandas, pandas will take it into account when creating graphs</a:t>
            </a:r>
          </a:p>
          <a:p>
            <a:r>
              <a:rPr lang="en-US" noProof="0" dirty="0"/>
              <a:t>How then?</a:t>
            </a:r>
          </a:p>
          <a:p>
            <a:pPr lvl="1"/>
            <a:r>
              <a:rPr lang="en-US" noProof="0" dirty="0"/>
              <a:t>Unordered:</a:t>
            </a:r>
          </a:p>
          <a:p>
            <a:pPr lvl="1"/>
            <a:endParaRPr lang="en-US" noProof="0" dirty="0"/>
          </a:p>
          <a:p>
            <a:pPr lvl="1"/>
            <a:endParaRPr lang="en-US" noProof="0" dirty="0"/>
          </a:p>
          <a:p>
            <a:pPr lvl="1"/>
            <a:r>
              <a:rPr lang="en-US" noProof="0" dirty="0"/>
              <a:t>Ordered:</a:t>
            </a:r>
          </a:p>
        </p:txBody>
      </p:sp>
      <p:sp>
        <p:nvSpPr>
          <p:cNvPr id="4" name="Slide Number Placeholder 3">
            <a:extLst>
              <a:ext uri="{FF2B5EF4-FFF2-40B4-BE49-F238E27FC236}">
                <a16:creationId xmlns:a16="http://schemas.microsoft.com/office/drawing/2014/main" id="{5C3B8E08-AF52-7CAA-86D9-CF84F9797C87}"/>
              </a:ext>
            </a:extLst>
          </p:cNvPr>
          <p:cNvSpPr>
            <a:spLocks noGrp="1"/>
          </p:cNvSpPr>
          <p:nvPr>
            <p:ph type="sldNum" sz="quarter" idx="12"/>
          </p:nvPr>
        </p:nvSpPr>
        <p:spPr/>
        <p:txBody>
          <a:bodyPr/>
          <a:lstStyle/>
          <a:p>
            <a:fld id="{FE1B3154-47D9-4402-8EDB-E791933DC0B9}" type="slidenum">
              <a:rPr lang="nl-BE" smtClean="0"/>
              <a:pPr/>
              <a:t>64</a:t>
            </a:fld>
            <a:endParaRPr lang="nl-BE"/>
          </a:p>
        </p:txBody>
      </p:sp>
      <p:pic>
        <p:nvPicPr>
          <p:cNvPr id="6" name="Picture 5">
            <a:extLst>
              <a:ext uri="{FF2B5EF4-FFF2-40B4-BE49-F238E27FC236}">
                <a16:creationId xmlns:a16="http://schemas.microsoft.com/office/drawing/2014/main" id="{3ACEDD5B-653A-BB24-2549-9BD8D7215744}"/>
              </a:ext>
            </a:extLst>
          </p:cNvPr>
          <p:cNvPicPr>
            <a:picLocks noChangeAspect="1"/>
          </p:cNvPicPr>
          <p:nvPr/>
        </p:nvPicPr>
        <p:blipFill>
          <a:blip r:embed="rId2"/>
          <a:stretch>
            <a:fillRect/>
          </a:stretch>
        </p:blipFill>
        <p:spPr>
          <a:xfrm>
            <a:off x="1821898" y="3931975"/>
            <a:ext cx="5600462" cy="601841"/>
          </a:xfrm>
          <a:prstGeom prst="rect">
            <a:avLst/>
          </a:prstGeom>
        </p:spPr>
      </p:pic>
      <p:pic>
        <p:nvPicPr>
          <p:cNvPr id="8" name="Picture 7">
            <a:extLst>
              <a:ext uri="{FF2B5EF4-FFF2-40B4-BE49-F238E27FC236}">
                <a16:creationId xmlns:a16="http://schemas.microsoft.com/office/drawing/2014/main" id="{C877C4DC-FCAA-739A-4962-47DE46EFD4F6}"/>
              </a:ext>
            </a:extLst>
          </p:cNvPr>
          <p:cNvPicPr>
            <a:picLocks noChangeAspect="1"/>
          </p:cNvPicPr>
          <p:nvPr/>
        </p:nvPicPr>
        <p:blipFill>
          <a:blip r:embed="rId3"/>
          <a:stretch>
            <a:fillRect/>
          </a:stretch>
        </p:blipFill>
        <p:spPr>
          <a:xfrm>
            <a:off x="1654695" y="5256948"/>
            <a:ext cx="9954600" cy="1185769"/>
          </a:xfrm>
          <a:prstGeom prst="rect">
            <a:avLst/>
          </a:prstGeom>
        </p:spPr>
      </p:pic>
    </p:spTree>
    <p:extLst>
      <p:ext uri="{BB962C8B-B14F-4D97-AF65-F5344CB8AC3E}">
        <p14:creationId xmlns:p14="http://schemas.microsoft.com/office/powerpoint/2010/main" val="31448076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C1EC7-C8AB-D6DE-E2A6-459B948214D0}"/>
              </a:ext>
            </a:extLst>
          </p:cNvPr>
          <p:cNvSpPr>
            <a:spLocks noGrp="1"/>
          </p:cNvSpPr>
          <p:nvPr>
            <p:ph type="title"/>
          </p:nvPr>
        </p:nvSpPr>
        <p:spPr/>
        <p:txBody>
          <a:bodyPr/>
          <a:lstStyle/>
          <a:p>
            <a:r>
              <a:rPr lang="en-US" noProof="0" dirty="0"/>
              <a:t>Cars notebook</a:t>
            </a:r>
          </a:p>
        </p:txBody>
      </p:sp>
      <p:sp>
        <p:nvSpPr>
          <p:cNvPr id="3" name="Content Placeholder 2">
            <a:extLst>
              <a:ext uri="{FF2B5EF4-FFF2-40B4-BE49-F238E27FC236}">
                <a16:creationId xmlns:a16="http://schemas.microsoft.com/office/drawing/2014/main" id="{3AC868F2-B105-A529-15C6-94075E395F1D}"/>
              </a:ext>
            </a:extLst>
          </p:cNvPr>
          <p:cNvSpPr>
            <a:spLocks noGrp="1"/>
          </p:cNvSpPr>
          <p:nvPr>
            <p:ph idx="1"/>
          </p:nvPr>
        </p:nvSpPr>
        <p:spPr/>
        <p:txBody>
          <a:bodyPr/>
          <a:lstStyle/>
          <a:p>
            <a:r>
              <a:rPr lang="en-US" noProof="0" dirty="0"/>
              <a:t>Part 2 of the notebook is about selections and aggregations.</a:t>
            </a:r>
          </a:p>
          <a:p>
            <a:r>
              <a:rPr lang="en-US" noProof="0" dirty="0"/>
              <a:t>Make sure you understand the basics well.</a:t>
            </a:r>
          </a:p>
        </p:txBody>
      </p:sp>
      <p:sp>
        <p:nvSpPr>
          <p:cNvPr id="4" name="Slide Number Placeholder 3">
            <a:extLst>
              <a:ext uri="{FF2B5EF4-FFF2-40B4-BE49-F238E27FC236}">
                <a16:creationId xmlns:a16="http://schemas.microsoft.com/office/drawing/2014/main" id="{F24B2F87-E94E-55D4-AC86-A45C0B1DE34F}"/>
              </a:ext>
            </a:extLst>
          </p:cNvPr>
          <p:cNvSpPr>
            <a:spLocks noGrp="1"/>
          </p:cNvSpPr>
          <p:nvPr>
            <p:ph type="sldNum" sz="quarter" idx="12"/>
          </p:nvPr>
        </p:nvSpPr>
        <p:spPr/>
        <p:txBody>
          <a:bodyPr/>
          <a:lstStyle/>
          <a:p>
            <a:fld id="{FE1B3154-47D9-4402-8EDB-E791933DC0B9}" type="slidenum">
              <a:rPr lang="nl-BE" smtClean="0"/>
              <a:pPr/>
              <a:t>65</a:t>
            </a:fld>
            <a:endParaRPr lang="nl-BE"/>
          </a:p>
        </p:txBody>
      </p:sp>
    </p:spTree>
    <p:extLst>
      <p:ext uri="{BB962C8B-B14F-4D97-AF65-F5344CB8AC3E}">
        <p14:creationId xmlns:p14="http://schemas.microsoft.com/office/powerpoint/2010/main" val="36457152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76A8-BB3A-4F52-8036-E3335B73AC04}"/>
              </a:ext>
            </a:extLst>
          </p:cNvPr>
          <p:cNvSpPr>
            <a:spLocks noGrp="1"/>
          </p:cNvSpPr>
          <p:nvPr>
            <p:ph type="title"/>
          </p:nvPr>
        </p:nvSpPr>
        <p:spPr/>
        <p:txBody>
          <a:bodyPr/>
          <a:lstStyle/>
          <a:p>
            <a:r>
              <a:rPr lang="en-US" noProof="0" dirty="0"/>
              <a:t>Exercises</a:t>
            </a:r>
          </a:p>
        </p:txBody>
      </p:sp>
      <p:sp>
        <p:nvSpPr>
          <p:cNvPr id="3" name="Content Placeholder 2">
            <a:extLst>
              <a:ext uri="{FF2B5EF4-FFF2-40B4-BE49-F238E27FC236}">
                <a16:creationId xmlns:a16="http://schemas.microsoft.com/office/drawing/2014/main" id="{2C6A6ADC-2DDC-4104-A5AD-0A9D4AE61F39}"/>
              </a:ext>
            </a:extLst>
          </p:cNvPr>
          <p:cNvSpPr>
            <a:spLocks noGrp="1"/>
          </p:cNvSpPr>
          <p:nvPr>
            <p:ph idx="1"/>
          </p:nvPr>
        </p:nvSpPr>
        <p:spPr/>
        <p:txBody>
          <a:bodyPr/>
          <a:lstStyle/>
          <a:p>
            <a:r>
              <a:rPr lang="en-US" noProof="0" dirty="0"/>
              <a:t>Kaggle course Pandas: </a:t>
            </a:r>
            <a:r>
              <a:rPr lang="en-US" noProof="0" dirty="0">
                <a:hlinkClick r:id="rId2"/>
              </a:rPr>
              <a:t>https://www.kaggle.com/learn/pandas</a:t>
            </a:r>
            <a:endParaRPr lang="en-US" noProof="0" dirty="0"/>
          </a:p>
          <a:p>
            <a:r>
              <a:rPr lang="en-US" noProof="0" dirty="0"/>
              <a:t>Make the exercises from lessons 1 - 2 - 4 – 5</a:t>
            </a:r>
          </a:p>
          <a:p>
            <a:endParaRPr lang="en-US" noProof="0" dirty="0"/>
          </a:p>
          <a:p>
            <a:endParaRPr lang="en-US" noProof="0" dirty="0"/>
          </a:p>
          <a:p>
            <a:endParaRPr lang="en-US" noProof="0" dirty="0"/>
          </a:p>
          <a:p>
            <a:endParaRPr lang="en-US" noProof="0" dirty="0"/>
          </a:p>
          <a:p>
            <a:endParaRPr lang="en-US" noProof="0" dirty="0"/>
          </a:p>
          <a:p>
            <a:r>
              <a:rPr lang="en-US" noProof="0" dirty="0"/>
              <a:t>Notebook Flights</a:t>
            </a:r>
          </a:p>
          <a:p>
            <a:endParaRPr lang="en-US" noProof="0" dirty="0"/>
          </a:p>
        </p:txBody>
      </p:sp>
      <p:sp>
        <p:nvSpPr>
          <p:cNvPr id="4" name="Slide Number Placeholder 3">
            <a:extLst>
              <a:ext uri="{FF2B5EF4-FFF2-40B4-BE49-F238E27FC236}">
                <a16:creationId xmlns:a16="http://schemas.microsoft.com/office/drawing/2014/main" id="{6E2A16AA-F26B-4DF3-BFF2-83BAB62A60BE}"/>
              </a:ext>
            </a:extLst>
          </p:cNvPr>
          <p:cNvSpPr>
            <a:spLocks noGrp="1"/>
          </p:cNvSpPr>
          <p:nvPr>
            <p:ph type="sldNum" sz="quarter" idx="12"/>
          </p:nvPr>
        </p:nvSpPr>
        <p:spPr/>
        <p:txBody>
          <a:bodyPr/>
          <a:lstStyle/>
          <a:p>
            <a:fld id="{FE1B3154-47D9-4402-8EDB-E791933DC0B9}" type="slidenum">
              <a:rPr lang="nl-BE" smtClean="0"/>
              <a:pPr/>
              <a:t>66</a:t>
            </a:fld>
            <a:endParaRPr lang="nl-BE"/>
          </a:p>
        </p:txBody>
      </p:sp>
      <p:pic>
        <p:nvPicPr>
          <p:cNvPr id="6" name="Picture 5">
            <a:extLst>
              <a:ext uri="{FF2B5EF4-FFF2-40B4-BE49-F238E27FC236}">
                <a16:creationId xmlns:a16="http://schemas.microsoft.com/office/drawing/2014/main" id="{295A9479-F646-42B8-B752-8925B8082C3D}"/>
              </a:ext>
            </a:extLst>
          </p:cNvPr>
          <p:cNvPicPr>
            <a:picLocks noChangeAspect="1"/>
          </p:cNvPicPr>
          <p:nvPr/>
        </p:nvPicPr>
        <p:blipFill>
          <a:blip r:embed="rId3"/>
          <a:stretch>
            <a:fillRect/>
          </a:stretch>
        </p:blipFill>
        <p:spPr>
          <a:xfrm>
            <a:off x="700807" y="2641237"/>
            <a:ext cx="4572000" cy="1981200"/>
          </a:xfrm>
          <a:prstGeom prst="rect">
            <a:avLst/>
          </a:prstGeom>
        </p:spPr>
      </p:pic>
      <p:pic>
        <p:nvPicPr>
          <p:cNvPr id="7" name="Picture 6">
            <a:extLst>
              <a:ext uri="{FF2B5EF4-FFF2-40B4-BE49-F238E27FC236}">
                <a16:creationId xmlns:a16="http://schemas.microsoft.com/office/drawing/2014/main" id="{0B35773F-2AA3-FF4F-DCE1-862E1DEC4FCC}"/>
              </a:ext>
            </a:extLst>
          </p:cNvPr>
          <p:cNvPicPr>
            <a:picLocks noChangeAspect="1"/>
          </p:cNvPicPr>
          <p:nvPr/>
        </p:nvPicPr>
        <p:blipFill rotWithShape="1">
          <a:blip r:embed="rId4"/>
          <a:srcRect r="24886"/>
          <a:stretch/>
        </p:blipFill>
        <p:spPr>
          <a:xfrm>
            <a:off x="5790297" y="3180403"/>
            <a:ext cx="4001953" cy="1367050"/>
          </a:xfrm>
          <a:prstGeom prst="rect">
            <a:avLst/>
          </a:prstGeom>
        </p:spPr>
      </p:pic>
    </p:spTree>
    <p:extLst>
      <p:ext uri="{BB962C8B-B14F-4D97-AF65-F5344CB8AC3E}">
        <p14:creationId xmlns:p14="http://schemas.microsoft.com/office/powerpoint/2010/main" val="33622007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57A88-6EE0-4D6A-B54F-6A5D327F0283}"/>
              </a:ext>
            </a:extLst>
          </p:cNvPr>
          <p:cNvSpPr>
            <a:spLocks noGrp="1"/>
          </p:cNvSpPr>
          <p:nvPr>
            <p:ph type="title"/>
          </p:nvPr>
        </p:nvSpPr>
        <p:spPr/>
        <p:txBody>
          <a:bodyPr/>
          <a:lstStyle/>
          <a:p>
            <a:r>
              <a:rPr lang="en-US" noProof="0" dirty="0"/>
              <a:t>Resources</a:t>
            </a:r>
          </a:p>
        </p:txBody>
      </p:sp>
      <p:sp>
        <p:nvSpPr>
          <p:cNvPr id="3" name="Content Placeholder 2">
            <a:extLst>
              <a:ext uri="{FF2B5EF4-FFF2-40B4-BE49-F238E27FC236}">
                <a16:creationId xmlns:a16="http://schemas.microsoft.com/office/drawing/2014/main" id="{34E34E83-D259-4521-A0D2-7C37F8FC7666}"/>
              </a:ext>
            </a:extLst>
          </p:cNvPr>
          <p:cNvSpPr>
            <a:spLocks noGrp="1"/>
          </p:cNvSpPr>
          <p:nvPr>
            <p:ph idx="1"/>
          </p:nvPr>
        </p:nvSpPr>
        <p:spPr/>
        <p:txBody>
          <a:bodyPr/>
          <a:lstStyle/>
          <a:p>
            <a:r>
              <a:rPr lang="en-US" noProof="0" dirty="0">
                <a:hlinkClick r:id="rId2"/>
              </a:rPr>
              <a:t>https://www.learndatasci.com/tutorials/python-pandas-tutorial-complete-introduction-for-beginners/</a:t>
            </a:r>
            <a:endParaRPr lang="en-US" noProof="0" dirty="0"/>
          </a:p>
          <a:p>
            <a:r>
              <a:rPr lang="en-US" noProof="0" dirty="0">
                <a:hlinkClick r:id="rId3"/>
              </a:rPr>
              <a:t>https://pandas.pydata.org/Pandas_Cheat_Sheet.pdf</a:t>
            </a:r>
            <a:endParaRPr lang="en-US" noProof="0" dirty="0"/>
          </a:p>
          <a:p>
            <a:endParaRPr lang="en-US" noProof="0" dirty="0"/>
          </a:p>
        </p:txBody>
      </p:sp>
      <p:sp>
        <p:nvSpPr>
          <p:cNvPr id="4" name="Slide Number Placeholder 3">
            <a:extLst>
              <a:ext uri="{FF2B5EF4-FFF2-40B4-BE49-F238E27FC236}">
                <a16:creationId xmlns:a16="http://schemas.microsoft.com/office/drawing/2014/main" id="{AFCD3F63-3505-471D-92CE-3EEB7E1EA43A}"/>
              </a:ext>
            </a:extLst>
          </p:cNvPr>
          <p:cNvSpPr>
            <a:spLocks noGrp="1"/>
          </p:cNvSpPr>
          <p:nvPr>
            <p:ph type="sldNum" sz="quarter" idx="12"/>
          </p:nvPr>
        </p:nvSpPr>
        <p:spPr/>
        <p:txBody>
          <a:bodyPr/>
          <a:lstStyle/>
          <a:p>
            <a:fld id="{FE1B3154-47D9-4402-8EDB-E791933DC0B9}" type="slidenum">
              <a:rPr lang="nl-BE" smtClean="0"/>
              <a:pPr/>
              <a:t>67</a:t>
            </a:fld>
            <a:endParaRPr lang="nl-BE"/>
          </a:p>
        </p:txBody>
      </p:sp>
    </p:spTree>
    <p:extLst>
      <p:ext uri="{BB962C8B-B14F-4D97-AF65-F5344CB8AC3E}">
        <p14:creationId xmlns:p14="http://schemas.microsoft.com/office/powerpoint/2010/main" val="646479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5220</Words>
  <Application>Microsoft Office PowerPoint</Application>
  <PresentationFormat>Widescreen</PresentationFormat>
  <Paragraphs>789</Paragraphs>
  <Slides>67</Slides>
  <Notes>12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67</vt:i4>
      </vt:variant>
    </vt:vector>
  </HeadingPairs>
  <TitlesOfParts>
    <vt:vector size="80" baseType="lpstr">
      <vt:lpstr>Arial</vt:lpstr>
      <vt:lpstr>Calibri</vt:lpstr>
      <vt:lpstr>Cambria</vt:lpstr>
      <vt:lpstr>Consolas</vt:lpstr>
      <vt:lpstr>Courier New</vt:lpstr>
      <vt:lpstr>Inter</vt:lpstr>
      <vt:lpstr>kepler-std-subhead</vt:lpstr>
      <vt:lpstr>Monaco</vt:lpstr>
      <vt:lpstr>proxima-nova</vt:lpstr>
      <vt:lpstr>Studio-Feixen-Sans</vt:lpstr>
      <vt:lpstr>Verdana</vt:lpstr>
      <vt:lpstr>Wingdings</vt:lpstr>
      <vt:lpstr>Kantoorthema</vt:lpstr>
      <vt:lpstr>Chapter 5 – Intro Pandas </vt:lpstr>
      <vt:lpstr>Overview</vt:lpstr>
      <vt:lpstr>PowerPoint Presentation</vt:lpstr>
      <vt:lpstr>PowerPoint Presentation</vt:lpstr>
      <vt:lpstr>Install and import pandas</vt:lpstr>
      <vt:lpstr>About dirty data</vt:lpstr>
      <vt:lpstr>Same data, different formats</vt:lpstr>
      <vt:lpstr>3 rules for data files</vt:lpstr>
      <vt:lpstr>Does each variable have its own column?</vt:lpstr>
      <vt:lpstr>Each variable must have its own column</vt:lpstr>
      <vt:lpstr>Does each observation have its own row?</vt:lpstr>
      <vt:lpstr>Each observation must have its own row</vt:lpstr>
      <vt:lpstr>Does each value have its own cell?</vt:lpstr>
      <vt:lpstr>Each value must have its own cell</vt:lpstr>
      <vt:lpstr>Pandas – Data Structures</vt:lpstr>
      <vt:lpstr>Core components of pandas: Series &amp; DataFrame</vt:lpstr>
      <vt:lpstr>Creating DataFrames from scratch</vt:lpstr>
      <vt:lpstr>Creating DataFrames from scratch</vt:lpstr>
      <vt:lpstr>Creating DataFrames from scratch</vt:lpstr>
      <vt:lpstr>Reset index</vt:lpstr>
      <vt:lpstr>Pandas – Extracting and assigning data </vt:lpstr>
      <vt:lpstr>Extracting data</vt:lpstr>
      <vt:lpstr>Extracting data</vt:lpstr>
      <vt:lpstr>Extracting data</vt:lpstr>
      <vt:lpstr>Extracting data</vt:lpstr>
      <vt:lpstr>Extracting data</vt:lpstr>
      <vt:lpstr>Assigning data</vt:lpstr>
      <vt:lpstr>Pandas – Read and write data</vt:lpstr>
      <vt:lpstr>Read and Write</vt:lpstr>
      <vt:lpstr>Reading data from CSVs</vt:lpstr>
      <vt:lpstr>Reading data from JSON</vt:lpstr>
      <vt:lpstr>Reading data from databases</vt:lpstr>
      <vt:lpstr>Reading data from databases</vt:lpstr>
      <vt:lpstr>Storing DataFrame in CSV, JSON or Excel</vt:lpstr>
      <vt:lpstr>Pandas – DataFrame basic operations</vt:lpstr>
      <vt:lpstr>Basic DataFrame operations</vt:lpstr>
      <vt:lpstr>set_option("display.max_...")</vt:lpstr>
      <vt:lpstr>Getting info about the data</vt:lpstr>
      <vt:lpstr>Getting info about the data</vt:lpstr>
      <vt:lpstr>Getting info about the data</vt:lpstr>
      <vt:lpstr>Column names cleanup</vt:lpstr>
      <vt:lpstr>Column names cleanup</vt:lpstr>
      <vt:lpstr>Pandas – Missing values</vt:lpstr>
      <vt:lpstr>Missing values</vt:lpstr>
      <vt:lpstr>Missing values</vt:lpstr>
      <vt:lpstr>Missing values: remove rows or columns</vt:lpstr>
      <vt:lpstr>What's with this axis=1 parameter?</vt:lpstr>
      <vt:lpstr>Missing values: imputation</vt:lpstr>
      <vt:lpstr>Missing values: imputation</vt:lpstr>
      <vt:lpstr>Missing values: imputation</vt:lpstr>
      <vt:lpstr>Pandas – Data manipulation techniques Conditional Selection  Sorting  Grouping Counting </vt:lpstr>
      <vt:lpstr>Conditional selections</vt:lpstr>
      <vt:lpstr>Conditional selections</vt:lpstr>
      <vt:lpstr>Conditional selections</vt:lpstr>
      <vt:lpstr>Sorting</vt:lpstr>
      <vt:lpstr>Grouping</vt:lpstr>
      <vt:lpstr>Counting</vt:lpstr>
      <vt:lpstr>Counting</vt:lpstr>
      <vt:lpstr>Pandas – Cleaning a dataset using an example</vt:lpstr>
      <vt:lpstr>Cleaning a dataset</vt:lpstr>
      <vt:lpstr>Create a calculated column</vt:lpstr>
      <vt:lpstr>Categorical versus numerical variables</vt:lpstr>
      <vt:lpstr>Categorical versus numerical variables</vt:lpstr>
      <vt:lpstr>Categorical variables</vt:lpstr>
      <vt:lpstr>Cars notebook</vt:lpstr>
      <vt:lpstr>Exercises</vt:lpstr>
      <vt:lpstr>Resources</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Ellen Torfs</cp:lastModifiedBy>
  <cp:revision>2</cp:revision>
  <dcterms:created xsi:type="dcterms:W3CDTF">2018-02-21T07:41:18Z</dcterms:created>
  <dcterms:modified xsi:type="dcterms:W3CDTF">2025-09-01T08:10:40Z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2023-11-21T12:27:29Z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9dcac160-b78c-47da-878e-d99a17ad5bb2</vt:lpwstr>
  </property>
  <property fmtid="{D5CDD505-2E9C-101B-9397-08002B2CF9AE}" pid="8" name="MSIP_Label_c337be75-dfbb-4261-9834-ac247c7dde13_ContentBits">
    <vt:lpwstr>0</vt:lpwstr>
  </property>
</Properties>
</file>