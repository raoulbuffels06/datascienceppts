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56" r:id="rId2"/>
    <p:sldId id="306" r:id="rId3"/>
    <p:sldId id="277" r:id="rId4"/>
    <p:sldId id="320" r:id="rId5"/>
    <p:sldId id="323" r:id="rId6"/>
    <p:sldId id="321" r:id="rId7"/>
    <p:sldId id="318" r:id="rId8"/>
    <p:sldId id="324" r:id="rId9"/>
    <p:sldId id="325" r:id="rId10"/>
    <p:sldId id="319" r:id="rId11"/>
    <p:sldId id="278" r:id="rId12"/>
    <p:sldId id="326" r:id="rId13"/>
    <p:sldId id="327" r:id="rId14"/>
    <p:sldId id="328" r:id="rId15"/>
    <p:sldId id="279" r:id="rId16"/>
    <p:sldId id="299" r:id="rId17"/>
    <p:sldId id="329" r:id="rId18"/>
    <p:sldId id="280" r:id="rId19"/>
    <p:sldId id="281" r:id="rId20"/>
    <p:sldId id="330" r:id="rId21"/>
    <p:sldId id="282" r:id="rId22"/>
    <p:sldId id="283" r:id="rId23"/>
    <p:sldId id="284" r:id="rId24"/>
    <p:sldId id="285" r:id="rId25"/>
    <p:sldId id="286" r:id="rId26"/>
    <p:sldId id="287" r:id="rId27"/>
    <p:sldId id="288" r:id="rId28"/>
    <p:sldId id="289" r:id="rId29"/>
    <p:sldId id="304" r:id="rId30"/>
  </p:sldIdLst>
  <p:sldSz cx="12192000" cy="6858000"/>
  <p:notesSz cx="6858000" cy="9144000"/>
  <p:custDataLst>
    <p:tags r:id="rId33"/>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FD6E7B6-E204-41D1-AA4E-B4C847D98520}">
          <p14:sldIdLst>
            <p14:sldId id="256"/>
          </p14:sldIdLst>
        </p14:section>
        <p14:section name="Regex" id="{BD5C228A-788B-4CBD-BC38-D90EFB8F85AE}">
          <p14:sldIdLst>
            <p14:sldId id="306"/>
            <p14:sldId id="277"/>
            <p14:sldId id="320"/>
            <p14:sldId id="323"/>
            <p14:sldId id="321"/>
            <p14:sldId id="318"/>
            <p14:sldId id="324"/>
            <p14:sldId id="325"/>
            <p14:sldId id="319"/>
            <p14:sldId id="278"/>
            <p14:sldId id="326"/>
            <p14:sldId id="327"/>
            <p14:sldId id="328"/>
            <p14:sldId id="279"/>
            <p14:sldId id="299"/>
            <p14:sldId id="329"/>
            <p14:sldId id="280"/>
            <p14:sldId id="281"/>
          </p14:sldIdLst>
        </p14:section>
        <p14:section name="Regex in Python" id="{C0B9310B-897D-4185-B364-F00C07854D31}">
          <p14:sldIdLst>
            <p14:sldId id="330"/>
            <p14:sldId id="282"/>
            <p14:sldId id="283"/>
            <p14:sldId id="284"/>
            <p14:sldId id="285"/>
            <p14:sldId id="286"/>
            <p14:sldId id="287"/>
            <p14:sldId id="288"/>
            <p14:sldId id="289"/>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84B6"/>
    <a:srgbClr val="446785"/>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1107" autoAdjust="0"/>
  </p:normalViewPr>
  <p:slideViewPr>
    <p:cSldViewPr snapToGrid="0">
      <p:cViewPr varScale="1">
        <p:scale>
          <a:sx n="54" d="100"/>
          <a:sy n="54" d="100"/>
        </p:scale>
        <p:origin x="1675" y="62"/>
      </p:cViewPr>
      <p:guideLst/>
    </p:cSldViewPr>
  </p:slideViewPr>
  <p:outlineViewPr>
    <p:cViewPr>
      <p:scale>
        <a:sx n="33" d="100"/>
        <a:sy n="33" d="100"/>
      </p:scale>
      <p:origin x="0" y="-159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Torfs" userId="c6aa1e10-4a12-4511-8c7c-135720d4f277" providerId="ADAL" clId="{962DD252-1FB5-4C39-A2A5-BF03781CA22A}"/>
    <pc:docChg chg="undo custSel modSld">
      <pc:chgData name="Ellen Torfs" userId="c6aa1e10-4a12-4511-8c7c-135720d4f277" providerId="ADAL" clId="{962DD252-1FB5-4C39-A2A5-BF03781CA22A}" dt="2024-09-30T09:08:47.268" v="988" actId="20577"/>
      <pc:docMkLst>
        <pc:docMk/>
      </pc:docMkLst>
      <pc:sldChg chg="modSp mod">
        <pc:chgData name="Ellen Torfs" userId="c6aa1e10-4a12-4511-8c7c-135720d4f277" providerId="ADAL" clId="{962DD252-1FB5-4C39-A2A5-BF03781CA22A}" dt="2024-09-09T18:42:06.996" v="352" actId="1076"/>
        <pc:sldMkLst>
          <pc:docMk/>
          <pc:sldMk cId="2748883490" sldId="280"/>
        </pc:sldMkLst>
      </pc:sldChg>
      <pc:sldChg chg="modSp mod">
        <pc:chgData name="Ellen Torfs" userId="c6aa1e10-4a12-4511-8c7c-135720d4f277" providerId="ADAL" clId="{962DD252-1FB5-4C39-A2A5-BF03781CA22A}" dt="2024-09-09T18:42:46.837" v="355" actId="1076"/>
        <pc:sldMkLst>
          <pc:docMk/>
          <pc:sldMk cId="2734980451" sldId="281"/>
        </pc:sldMkLst>
      </pc:sldChg>
      <pc:sldChg chg="modSp mod">
        <pc:chgData name="Ellen Torfs" userId="c6aa1e10-4a12-4511-8c7c-135720d4f277" providerId="ADAL" clId="{962DD252-1FB5-4C39-A2A5-BF03781CA22A}" dt="2024-09-09T18:44:55.176" v="363" actId="1076"/>
        <pc:sldMkLst>
          <pc:docMk/>
          <pc:sldMk cId="1074626655" sldId="283"/>
        </pc:sldMkLst>
      </pc:sldChg>
      <pc:sldChg chg="modSp mod modNotesTx">
        <pc:chgData name="Ellen Torfs" userId="c6aa1e10-4a12-4511-8c7c-135720d4f277" providerId="ADAL" clId="{962DD252-1FB5-4C39-A2A5-BF03781CA22A}" dt="2024-09-09T18:53:15.884" v="630" actId="20577"/>
        <pc:sldMkLst>
          <pc:docMk/>
          <pc:sldMk cId="2277808380" sldId="284"/>
        </pc:sldMkLst>
      </pc:sldChg>
      <pc:sldChg chg="modSp mod modNotesTx">
        <pc:chgData name="Ellen Torfs" userId="c6aa1e10-4a12-4511-8c7c-135720d4f277" providerId="ADAL" clId="{962DD252-1FB5-4C39-A2A5-BF03781CA22A}" dt="2024-09-09T18:55:29.767" v="660" actId="20577"/>
        <pc:sldMkLst>
          <pc:docMk/>
          <pc:sldMk cId="3629993010" sldId="285"/>
        </pc:sldMkLst>
      </pc:sldChg>
      <pc:sldChg chg="modNotesTx">
        <pc:chgData name="Ellen Torfs" userId="c6aa1e10-4a12-4511-8c7c-135720d4f277" providerId="ADAL" clId="{962DD252-1FB5-4C39-A2A5-BF03781CA22A}" dt="2024-09-30T09:08:47.268" v="988" actId="20577"/>
        <pc:sldMkLst>
          <pc:docMk/>
          <pc:sldMk cId="239136191" sldId="287"/>
        </pc:sldMkLst>
      </pc:sldChg>
      <pc:sldChg chg="modSp mod">
        <pc:chgData name="Ellen Torfs" userId="c6aa1e10-4a12-4511-8c7c-135720d4f277" providerId="ADAL" clId="{962DD252-1FB5-4C39-A2A5-BF03781CA22A}" dt="2024-09-09T18:58:28.507" v="665" actId="20577"/>
        <pc:sldMkLst>
          <pc:docMk/>
          <pc:sldMk cId="1834726198" sldId="288"/>
        </pc:sldMkLst>
      </pc:sldChg>
      <pc:sldChg chg="modSp mod">
        <pc:chgData name="Ellen Torfs" userId="c6aa1e10-4a12-4511-8c7c-135720d4f277" providerId="ADAL" clId="{962DD252-1FB5-4C39-A2A5-BF03781CA22A}" dt="2024-09-09T18:31:09.429" v="89" actId="20577"/>
        <pc:sldMkLst>
          <pc:docMk/>
          <pc:sldMk cId="3236704207" sldId="299"/>
        </pc:sldMkLst>
      </pc:sldChg>
      <pc:sldChg chg="modSp mod modNotesTx">
        <pc:chgData name="Ellen Torfs" userId="c6aa1e10-4a12-4511-8c7c-135720d4f277" providerId="ADAL" clId="{962DD252-1FB5-4C39-A2A5-BF03781CA22A}" dt="2024-09-30T08:46:35.897" v="697"/>
        <pc:sldMkLst>
          <pc:docMk/>
          <pc:sldMk cId="3562660653" sldId="320"/>
        </pc:sldMkLst>
      </pc:sldChg>
      <pc:sldChg chg="modNotesTx">
        <pc:chgData name="Ellen Torfs" userId="c6aa1e10-4a12-4511-8c7c-135720d4f277" providerId="ADAL" clId="{962DD252-1FB5-4C39-A2A5-BF03781CA22A}" dt="2024-09-30T08:46:59.447" v="698" actId="6549"/>
        <pc:sldMkLst>
          <pc:docMk/>
          <pc:sldMk cId="2868390512" sldId="321"/>
        </pc:sldMkLst>
      </pc:sldChg>
      <pc:sldChg chg="modSp mod">
        <pc:chgData name="Ellen Torfs" userId="c6aa1e10-4a12-4511-8c7c-135720d4f277" providerId="ADAL" clId="{962DD252-1FB5-4C39-A2A5-BF03781CA22A}" dt="2024-09-30T08:51:54.838" v="702" actId="20577"/>
        <pc:sldMkLst>
          <pc:docMk/>
          <pc:sldMk cId="1820604165" sldId="326"/>
        </pc:sldMkLst>
      </pc:sldChg>
      <pc:sldChg chg="modSp mod">
        <pc:chgData name="Ellen Torfs" userId="c6aa1e10-4a12-4511-8c7c-135720d4f277" providerId="ADAL" clId="{962DD252-1FB5-4C39-A2A5-BF03781CA22A}" dt="2024-09-09T18:24:19.933" v="4" actId="20577"/>
        <pc:sldMkLst>
          <pc:docMk/>
          <pc:sldMk cId="3283971235" sldId="327"/>
        </pc:sldMkLst>
      </pc:sldChg>
      <pc:sldChg chg="modSp mod">
        <pc:chgData name="Ellen Torfs" userId="c6aa1e10-4a12-4511-8c7c-135720d4f277" providerId="ADAL" clId="{962DD252-1FB5-4C39-A2A5-BF03781CA22A}" dt="2024-09-09T18:28:20.646" v="58" actId="20577"/>
        <pc:sldMkLst>
          <pc:docMk/>
          <pc:sldMk cId="2064606120" sldId="328"/>
        </pc:sldMkLst>
      </pc:sldChg>
      <pc:sldChg chg="modSp mod modNotesTx">
        <pc:chgData name="Ellen Torfs" userId="c6aa1e10-4a12-4511-8c7c-135720d4f277" providerId="ADAL" clId="{962DD252-1FB5-4C39-A2A5-BF03781CA22A}" dt="2024-09-30T08:58:05.284" v="931" actId="20577"/>
        <pc:sldMkLst>
          <pc:docMk/>
          <pc:sldMk cId="3461233738" sldId="329"/>
        </pc:sldMkLst>
      </pc:sldChg>
    </pc:docChg>
  </pc:docChgLst>
  <pc:docChgLst>
    <pc:chgData name="Jochen Mariën" userId="a4f8d9ed-3895-4365-b2d5-9432cb8a20d4" providerId="ADAL" clId="{9A1EDD4E-9EEF-4A8A-94AB-4C3A2EF3F86E}"/>
    <pc:docChg chg="modSld">
      <pc:chgData name="Jochen Mariën" userId="a4f8d9ed-3895-4365-b2d5-9432cb8a20d4" providerId="ADAL" clId="{9A1EDD4E-9EEF-4A8A-94AB-4C3A2EF3F86E}" dt="2024-09-26T08:42:06.204" v="2" actId="20577"/>
      <pc:docMkLst>
        <pc:docMk/>
      </pc:docMkLst>
      <pc:sldChg chg="modNotesTx">
        <pc:chgData name="Jochen Mariën" userId="a4f8d9ed-3895-4365-b2d5-9432cb8a20d4" providerId="ADAL" clId="{9A1EDD4E-9EEF-4A8A-94AB-4C3A2EF3F86E}" dt="2024-09-26T08:37:07.864" v="1" actId="20577"/>
        <pc:sldMkLst>
          <pc:docMk/>
          <pc:sldMk cId="1489970394" sldId="325"/>
        </pc:sldMkLst>
      </pc:sldChg>
      <pc:sldChg chg="modSp mod">
        <pc:chgData name="Jochen Mariën" userId="a4f8d9ed-3895-4365-b2d5-9432cb8a20d4" providerId="ADAL" clId="{9A1EDD4E-9EEF-4A8A-94AB-4C3A2EF3F86E}" dt="2024-09-26T08:42:06.204" v="2" actId="20577"/>
        <pc:sldMkLst>
          <pc:docMk/>
          <pc:sldMk cId="2064606120" sldId="328"/>
        </pc:sldMkLst>
      </pc:sldChg>
    </pc:docChg>
  </pc:docChgLst>
  <pc:docChgLst>
    <pc:chgData name="Stef Van Wolputte" userId="53954008-e772-4081-b24d-77d1e8f1f00e" providerId="ADAL" clId="{7A2AC7CD-44E2-4D34-9096-26963F796D6D}"/>
    <pc:docChg chg="undo custSel addSld delSld modSld sldOrd addSection delSection modSection">
      <pc:chgData name="Stef Van Wolputte" userId="53954008-e772-4081-b24d-77d1e8f1f00e" providerId="ADAL" clId="{7A2AC7CD-44E2-4D34-9096-26963F796D6D}" dt="2024-08-22T09:43:25.221" v="1399" actId="14100"/>
      <pc:docMkLst>
        <pc:docMk/>
      </pc:docMkLst>
      <pc:sldChg chg="modSp mod">
        <pc:chgData name="Stef Van Wolputte" userId="53954008-e772-4081-b24d-77d1e8f1f00e" providerId="ADAL" clId="{7A2AC7CD-44E2-4D34-9096-26963F796D6D}" dt="2024-08-22T09:13:12.527" v="1278" actId="20577"/>
        <pc:sldMkLst>
          <pc:docMk/>
          <pc:sldMk cId="54334544" sldId="256"/>
        </pc:sldMkLst>
      </pc:sldChg>
      <pc:sldChg chg="addSp delSp modSp mod modNotesTx">
        <pc:chgData name="Stef Van Wolputte" userId="53954008-e772-4081-b24d-77d1e8f1f00e" providerId="ADAL" clId="{7A2AC7CD-44E2-4D34-9096-26963F796D6D}" dt="2024-08-22T07:54:55.995" v="93" actId="20577"/>
        <pc:sldMkLst>
          <pc:docMk/>
          <pc:sldMk cId="130218401" sldId="277"/>
        </pc:sldMkLst>
      </pc:sldChg>
      <pc:sldChg chg="addSp delSp modSp mod ord">
        <pc:chgData name="Stef Van Wolputte" userId="53954008-e772-4081-b24d-77d1e8f1f00e" providerId="ADAL" clId="{7A2AC7CD-44E2-4D34-9096-26963F796D6D}" dt="2024-08-22T09:42:51.669" v="1397" actId="1076"/>
        <pc:sldMkLst>
          <pc:docMk/>
          <pc:sldMk cId="830234529" sldId="279"/>
        </pc:sldMkLst>
      </pc:sldChg>
      <pc:sldChg chg="modSp mod">
        <pc:chgData name="Stef Van Wolputte" userId="53954008-e772-4081-b24d-77d1e8f1f00e" providerId="ADAL" clId="{7A2AC7CD-44E2-4D34-9096-26963F796D6D}" dt="2024-08-22T09:09:26.127" v="1212" actId="20577"/>
        <pc:sldMkLst>
          <pc:docMk/>
          <pc:sldMk cId="2748883490" sldId="280"/>
        </pc:sldMkLst>
      </pc:sldChg>
      <pc:sldChg chg="modSp mod">
        <pc:chgData name="Stef Van Wolputte" userId="53954008-e772-4081-b24d-77d1e8f1f00e" providerId="ADAL" clId="{7A2AC7CD-44E2-4D34-9096-26963F796D6D}" dt="2024-08-22T09:43:25.221" v="1399" actId="14100"/>
        <pc:sldMkLst>
          <pc:docMk/>
          <pc:sldMk cId="2734980451" sldId="281"/>
        </pc:sldMkLst>
      </pc:sldChg>
      <pc:sldChg chg="addSp modSp mod">
        <pc:chgData name="Stef Van Wolputte" userId="53954008-e772-4081-b24d-77d1e8f1f00e" providerId="ADAL" clId="{7A2AC7CD-44E2-4D34-9096-26963F796D6D}" dt="2024-08-22T09:07:50.237" v="1188" actId="20577"/>
        <pc:sldMkLst>
          <pc:docMk/>
          <pc:sldMk cId="3236704207" sldId="299"/>
        </pc:sldMkLst>
      </pc:sldChg>
      <pc:sldChg chg="del">
        <pc:chgData name="Stef Van Wolputte" userId="53954008-e772-4081-b24d-77d1e8f1f00e" providerId="ADAL" clId="{7A2AC7CD-44E2-4D34-9096-26963F796D6D}" dt="2024-08-22T09:11:26.489" v="1216" actId="47"/>
        <pc:sldMkLst>
          <pc:docMk/>
          <pc:sldMk cId="161991169" sldId="300"/>
        </pc:sldMkLst>
      </pc:sldChg>
      <pc:sldChg chg="del">
        <pc:chgData name="Stef Van Wolputte" userId="53954008-e772-4081-b24d-77d1e8f1f00e" providerId="ADAL" clId="{7A2AC7CD-44E2-4D34-9096-26963F796D6D}" dt="2024-08-22T09:11:26.489" v="1216" actId="47"/>
        <pc:sldMkLst>
          <pc:docMk/>
          <pc:sldMk cId="1751045476" sldId="301"/>
        </pc:sldMkLst>
      </pc:sldChg>
      <pc:sldChg chg="del">
        <pc:chgData name="Stef Van Wolputte" userId="53954008-e772-4081-b24d-77d1e8f1f00e" providerId="ADAL" clId="{7A2AC7CD-44E2-4D34-9096-26963F796D6D}" dt="2024-08-22T09:11:26.489" v="1216" actId="47"/>
        <pc:sldMkLst>
          <pc:docMk/>
          <pc:sldMk cId="4266504895" sldId="302"/>
        </pc:sldMkLst>
      </pc:sldChg>
      <pc:sldChg chg="modSp mod">
        <pc:chgData name="Stef Van Wolputte" userId="53954008-e772-4081-b24d-77d1e8f1f00e" providerId="ADAL" clId="{7A2AC7CD-44E2-4D34-9096-26963F796D6D}" dt="2024-08-22T09:40:34.790" v="1348"/>
        <pc:sldMkLst>
          <pc:docMk/>
          <pc:sldMk cId="3152460498" sldId="306"/>
        </pc:sldMkLst>
      </pc:sldChg>
      <pc:sldChg chg="del">
        <pc:chgData name="Stef Van Wolputte" userId="53954008-e772-4081-b24d-77d1e8f1f00e" providerId="ADAL" clId="{7A2AC7CD-44E2-4D34-9096-26963F796D6D}" dt="2024-08-22T09:11:26.489" v="1216" actId="47"/>
        <pc:sldMkLst>
          <pc:docMk/>
          <pc:sldMk cId="1862151431" sldId="307"/>
        </pc:sldMkLst>
      </pc:sldChg>
      <pc:sldChg chg="del">
        <pc:chgData name="Stef Van Wolputte" userId="53954008-e772-4081-b24d-77d1e8f1f00e" providerId="ADAL" clId="{7A2AC7CD-44E2-4D34-9096-26963F796D6D}" dt="2024-08-22T09:11:26.489" v="1216" actId="47"/>
        <pc:sldMkLst>
          <pc:docMk/>
          <pc:sldMk cId="3792113471" sldId="308"/>
        </pc:sldMkLst>
      </pc:sldChg>
      <pc:sldChg chg="del">
        <pc:chgData name="Stef Van Wolputte" userId="53954008-e772-4081-b24d-77d1e8f1f00e" providerId="ADAL" clId="{7A2AC7CD-44E2-4D34-9096-26963F796D6D}" dt="2024-08-22T09:11:26.489" v="1216" actId="47"/>
        <pc:sldMkLst>
          <pc:docMk/>
          <pc:sldMk cId="3848145219" sldId="310"/>
        </pc:sldMkLst>
      </pc:sldChg>
      <pc:sldChg chg="del">
        <pc:chgData name="Stef Van Wolputte" userId="53954008-e772-4081-b24d-77d1e8f1f00e" providerId="ADAL" clId="{7A2AC7CD-44E2-4D34-9096-26963F796D6D}" dt="2024-08-22T09:11:26.489" v="1216" actId="47"/>
        <pc:sldMkLst>
          <pc:docMk/>
          <pc:sldMk cId="3379041861" sldId="311"/>
        </pc:sldMkLst>
      </pc:sldChg>
      <pc:sldChg chg="del">
        <pc:chgData name="Stef Van Wolputte" userId="53954008-e772-4081-b24d-77d1e8f1f00e" providerId="ADAL" clId="{7A2AC7CD-44E2-4D34-9096-26963F796D6D}" dt="2024-08-22T09:11:26.489" v="1216" actId="47"/>
        <pc:sldMkLst>
          <pc:docMk/>
          <pc:sldMk cId="2826001044" sldId="312"/>
        </pc:sldMkLst>
      </pc:sldChg>
      <pc:sldChg chg="del">
        <pc:chgData name="Stef Van Wolputte" userId="53954008-e772-4081-b24d-77d1e8f1f00e" providerId="ADAL" clId="{7A2AC7CD-44E2-4D34-9096-26963F796D6D}" dt="2024-08-22T09:11:26.489" v="1216" actId="47"/>
        <pc:sldMkLst>
          <pc:docMk/>
          <pc:sldMk cId="2073681666" sldId="313"/>
        </pc:sldMkLst>
      </pc:sldChg>
      <pc:sldChg chg="del">
        <pc:chgData name="Stef Van Wolputte" userId="53954008-e772-4081-b24d-77d1e8f1f00e" providerId="ADAL" clId="{7A2AC7CD-44E2-4D34-9096-26963F796D6D}" dt="2024-08-22T09:11:26.489" v="1216" actId="47"/>
        <pc:sldMkLst>
          <pc:docMk/>
          <pc:sldMk cId="271763312" sldId="314"/>
        </pc:sldMkLst>
      </pc:sldChg>
      <pc:sldChg chg="del">
        <pc:chgData name="Stef Van Wolputte" userId="53954008-e772-4081-b24d-77d1e8f1f00e" providerId="ADAL" clId="{7A2AC7CD-44E2-4D34-9096-26963F796D6D}" dt="2024-08-22T09:11:26.489" v="1216" actId="47"/>
        <pc:sldMkLst>
          <pc:docMk/>
          <pc:sldMk cId="194391660" sldId="315"/>
        </pc:sldMkLst>
      </pc:sldChg>
      <pc:sldChg chg="del">
        <pc:chgData name="Stef Van Wolputte" userId="53954008-e772-4081-b24d-77d1e8f1f00e" providerId="ADAL" clId="{7A2AC7CD-44E2-4D34-9096-26963F796D6D}" dt="2024-08-22T09:11:26.489" v="1216" actId="47"/>
        <pc:sldMkLst>
          <pc:docMk/>
          <pc:sldMk cId="1184211273" sldId="316"/>
        </pc:sldMkLst>
      </pc:sldChg>
      <pc:sldChg chg="del">
        <pc:chgData name="Stef Van Wolputte" userId="53954008-e772-4081-b24d-77d1e8f1f00e" providerId="ADAL" clId="{7A2AC7CD-44E2-4D34-9096-26963F796D6D}" dt="2024-08-22T09:11:26.489" v="1216" actId="47"/>
        <pc:sldMkLst>
          <pc:docMk/>
          <pc:sldMk cId="727164595" sldId="317"/>
        </pc:sldMkLst>
      </pc:sldChg>
      <pc:sldChg chg="addSp delSp modSp add mod modNotesTx">
        <pc:chgData name="Stef Van Wolputte" userId="53954008-e772-4081-b24d-77d1e8f1f00e" providerId="ADAL" clId="{7A2AC7CD-44E2-4D34-9096-26963F796D6D}" dt="2024-08-22T09:16:47.716" v="1337" actId="1076"/>
        <pc:sldMkLst>
          <pc:docMk/>
          <pc:sldMk cId="2712851192" sldId="318"/>
        </pc:sldMkLst>
      </pc:sldChg>
      <pc:sldChg chg="delSp modSp add mod">
        <pc:chgData name="Stef Van Wolputte" userId="53954008-e772-4081-b24d-77d1e8f1f00e" providerId="ADAL" clId="{7A2AC7CD-44E2-4D34-9096-26963F796D6D}" dt="2024-08-22T09:17:16.249" v="1340" actId="6549"/>
        <pc:sldMkLst>
          <pc:docMk/>
          <pc:sldMk cId="1127463469" sldId="319"/>
        </pc:sldMkLst>
      </pc:sldChg>
      <pc:sldChg chg="addSp delSp modSp add mod ord">
        <pc:chgData name="Stef Van Wolputte" userId="53954008-e772-4081-b24d-77d1e8f1f00e" providerId="ADAL" clId="{7A2AC7CD-44E2-4D34-9096-26963F796D6D}" dt="2024-08-22T09:41:37.995" v="1378" actId="1076"/>
        <pc:sldMkLst>
          <pc:docMk/>
          <pc:sldMk cId="3562660653" sldId="320"/>
        </pc:sldMkLst>
      </pc:sldChg>
      <pc:sldChg chg="addSp delSp modSp add mod">
        <pc:chgData name="Stef Van Wolputte" userId="53954008-e772-4081-b24d-77d1e8f1f00e" providerId="ADAL" clId="{7A2AC7CD-44E2-4D34-9096-26963F796D6D}" dt="2024-08-22T09:14:54.693" v="1284" actId="27636"/>
        <pc:sldMkLst>
          <pc:docMk/>
          <pc:sldMk cId="2868390512" sldId="321"/>
        </pc:sldMkLst>
      </pc:sldChg>
      <pc:sldChg chg="addSp delSp modSp add del mod">
        <pc:chgData name="Stef Van Wolputte" userId="53954008-e772-4081-b24d-77d1e8f1f00e" providerId="ADAL" clId="{7A2AC7CD-44E2-4D34-9096-26963F796D6D}" dt="2024-08-22T08:22:45.398" v="385" actId="2696"/>
        <pc:sldMkLst>
          <pc:docMk/>
          <pc:sldMk cId="2783020318" sldId="322"/>
        </pc:sldMkLst>
      </pc:sldChg>
      <pc:sldChg chg="addSp delSp modSp add mod">
        <pc:chgData name="Stef Van Wolputte" userId="53954008-e772-4081-b24d-77d1e8f1f00e" providerId="ADAL" clId="{7A2AC7CD-44E2-4D34-9096-26963F796D6D}" dt="2024-08-22T09:14:49.966" v="1282" actId="27636"/>
        <pc:sldMkLst>
          <pc:docMk/>
          <pc:sldMk cId="3517108417" sldId="323"/>
        </pc:sldMkLst>
      </pc:sldChg>
      <pc:sldChg chg="modSp add mod">
        <pc:chgData name="Stef Van Wolputte" userId="53954008-e772-4081-b24d-77d1e8f1f00e" providerId="ADAL" clId="{7A2AC7CD-44E2-4D34-9096-26963F796D6D}" dt="2024-08-22T09:16:50.670" v="1338" actId="1076"/>
        <pc:sldMkLst>
          <pc:docMk/>
          <pc:sldMk cId="1447710387" sldId="324"/>
        </pc:sldMkLst>
      </pc:sldChg>
      <pc:sldChg chg="addSp delSp modSp add mod modAnim">
        <pc:chgData name="Stef Van Wolputte" userId="53954008-e772-4081-b24d-77d1e8f1f00e" providerId="ADAL" clId="{7A2AC7CD-44E2-4D34-9096-26963F796D6D}" dt="2024-08-22T08:26:40.606" v="410" actId="1076"/>
        <pc:sldMkLst>
          <pc:docMk/>
          <pc:sldMk cId="1489970394" sldId="325"/>
        </pc:sldMkLst>
      </pc:sldChg>
      <pc:sldChg chg="addSp delSp modSp add mod modNotesTx">
        <pc:chgData name="Stef Van Wolputte" userId="53954008-e772-4081-b24d-77d1e8f1f00e" providerId="ADAL" clId="{7A2AC7CD-44E2-4D34-9096-26963F796D6D}" dt="2024-08-22T09:01:00.928" v="999"/>
        <pc:sldMkLst>
          <pc:docMk/>
          <pc:sldMk cId="1820604165" sldId="326"/>
        </pc:sldMkLst>
      </pc:sldChg>
      <pc:sldChg chg="addSp delSp modSp add mod modNotesTx">
        <pc:chgData name="Stef Van Wolputte" userId="53954008-e772-4081-b24d-77d1e8f1f00e" providerId="ADAL" clId="{7A2AC7CD-44E2-4D34-9096-26963F796D6D}" dt="2024-08-22T09:01:04.490" v="1000"/>
        <pc:sldMkLst>
          <pc:docMk/>
          <pc:sldMk cId="3283971235" sldId="327"/>
        </pc:sldMkLst>
      </pc:sldChg>
      <pc:sldChg chg="addSp delSp modSp add mod modNotesTx">
        <pc:chgData name="Stef Van Wolputte" userId="53954008-e772-4081-b24d-77d1e8f1f00e" providerId="ADAL" clId="{7A2AC7CD-44E2-4D34-9096-26963F796D6D}" dt="2024-08-22T09:01:07.149" v="1001"/>
        <pc:sldMkLst>
          <pc:docMk/>
          <pc:sldMk cId="2064606120" sldId="328"/>
        </pc:sldMkLst>
      </pc:sldChg>
      <pc:sldChg chg="modSp add mod">
        <pc:chgData name="Stef Van Wolputte" userId="53954008-e772-4081-b24d-77d1e8f1f00e" providerId="ADAL" clId="{7A2AC7CD-44E2-4D34-9096-26963F796D6D}" dt="2024-08-22T09:09:44.480" v="1215" actId="20577"/>
        <pc:sldMkLst>
          <pc:docMk/>
          <pc:sldMk cId="3461233738" sldId="329"/>
        </pc:sldMkLst>
      </pc:sldChg>
      <pc:sldChg chg="addSp delSp modSp new mod modClrScheme chgLayout">
        <pc:chgData name="Stef Van Wolputte" userId="53954008-e772-4081-b24d-77d1e8f1f00e" providerId="ADAL" clId="{7A2AC7CD-44E2-4D34-9096-26963F796D6D}" dt="2024-08-22T09:12:17.172" v="1243" actId="478"/>
        <pc:sldMkLst>
          <pc:docMk/>
          <pc:sldMk cId="3172013864" sldId="330"/>
        </pc:sldMkLst>
      </pc:sldChg>
    </pc:docChg>
  </pc:docChgLst>
  <pc:docChgLst>
    <pc:chgData name="Jochen Mariën" userId="a4f8d9ed-3895-4365-b2d5-9432cb8a20d4" providerId="ADAL" clId="{356E6382-9B20-433D-9953-01900B9EF39A}"/>
    <pc:docChg chg="modSld">
      <pc:chgData name="Jochen Mariën" userId="a4f8d9ed-3895-4365-b2d5-9432cb8a20d4" providerId="ADAL" clId="{356E6382-9B20-433D-9953-01900B9EF39A}" dt="2025-09-16T12:10:21.760" v="0" actId="20577"/>
      <pc:docMkLst>
        <pc:docMk/>
      </pc:docMkLst>
      <pc:sldChg chg="modSp mod">
        <pc:chgData name="Jochen Mariën" userId="a4f8d9ed-3895-4365-b2d5-9432cb8a20d4" providerId="ADAL" clId="{356E6382-9B20-433D-9953-01900B9EF39A}" dt="2025-09-16T12:10:21.760" v="0" actId="20577"/>
        <pc:sldMkLst>
          <pc:docMk/>
          <pc:sldMk cId="1127463469" sldId="319"/>
        </pc:sldMkLst>
        <pc:spChg chg="mod">
          <ac:chgData name="Jochen Mariën" userId="a4f8d9ed-3895-4365-b2d5-9432cb8a20d4" providerId="ADAL" clId="{356E6382-9B20-433D-9953-01900B9EF39A}" dt="2025-09-16T12:10:21.760" v="0" actId="20577"/>
          <ac:spMkLst>
            <pc:docMk/>
            <pc:sldMk cId="1127463469" sldId="319"/>
            <ac:spMk id="3" creationId="{CE123ACB-DD68-4388-B607-763D7883FFC8}"/>
          </ac:spMkLst>
        </pc:spChg>
      </pc:sldChg>
    </pc:docChg>
  </pc:docChgLst>
  <pc:docChgLst>
    <pc:chgData name="Ellen Torfs" userId="c6aa1e10-4a12-4511-8c7c-135720d4f277" providerId="ADAL" clId="{E6232D60-E4EC-4714-B16B-3971D7744C0B}"/>
    <pc:docChg chg="modSld">
      <pc:chgData name="Ellen Torfs" userId="c6aa1e10-4a12-4511-8c7c-135720d4f277" providerId="ADAL" clId="{E6232D60-E4EC-4714-B16B-3971D7744C0B}" dt="2025-09-21T13:08:08.100" v="8" actId="20577"/>
      <pc:docMkLst>
        <pc:docMk/>
      </pc:docMkLst>
      <pc:sldChg chg="modSp mod">
        <pc:chgData name="Ellen Torfs" userId="c6aa1e10-4a12-4511-8c7c-135720d4f277" providerId="ADAL" clId="{E6232D60-E4EC-4714-B16B-3971D7744C0B}" dt="2025-09-21T13:08:08.100" v="8" actId="20577"/>
        <pc:sldMkLst>
          <pc:docMk/>
          <pc:sldMk cId="54334544" sldId="256"/>
        </pc:sldMkLst>
        <pc:spChg chg="mod">
          <ac:chgData name="Ellen Torfs" userId="c6aa1e10-4a12-4511-8c7c-135720d4f277" providerId="ADAL" clId="{E6232D60-E4EC-4714-B16B-3971D7744C0B}" dt="2025-09-21T13:08:08.100" v="8" actId="20577"/>
          <ac:spMkLst>
            <pc:docMk/>
            <pc:sldMk cId="54334544" sldId="256"/>
            <ac:spMk id="3" creationId="{00000000-0000-0000-0000-000000000000}"/>
          </ac:spMkLst>
        </pc:spChg>
      </pc:sldChg>
    </pc:docChg>
  </pc:docChgLst>
  <pc:docChgLst>
    <pc:chgData name="Stef Van Wolputte" userId="53954008-e772-4081-b24d-77d1e8f1f00e" providerId="ADAL" clId="{9B08DBDF-C98A-4D6F-880D-44ED45664269}"/>
    <pc:docChg chg="modSld">
      <pc:chgData name="Stef Van Wolputte" userId="53954008-e772-4081-b24d-77d1e8f1f00e" providerId="ADAL" clId="{9B08DBDF-C98A-4D6F-880D-44ED45664269}" dt="2024-09-23T09:28:25.032" v="3" actId="6549"/>
      <pc:docMkLst>
        <pc:docMk/>
      </pc:docMkLst>
      <pc:sldChg chg="modSp mod">
        <pc:chgData name="Stef Van Wolputte" userId="53954008-e772-4081-b24d-77d1e8f1f00e" providerId="ADAL" clId="{9B08DBDF-C98A-4D6F-880D-44ED45664269}" dt="2024-09-23T09:28:25.032" v="3" actId="6549"/>
        <pc:sldMkLst>
          <pc:docMk/>
          <pc:sldMk cId="3461233738" sldId="32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21/09/2025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21/09/2025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Traffic_light" TargetMode="External"/><Relationship Id="rId3" Type="http://schemas.openxmlformats.org/officeDocument/2006/relationships/hyperlink" Target="https://en.wikipedia.org/wiki/Abstract_machine" TargetMode="External"/><Relationship Id="rId7" Type="http://schemas.openxmlformats.org/officeDocument/2006/relationships/hyperlink" Target="https://en.wikipedia.org/wiki/Elevator"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Vending_machine" TargetMode="External"/><Relationship Id="rId5" Type="http://schemas.openxmlformats.org/officeDocument/2006/relationships/hyperlink" Target="https://en.wikipedia.org/wiki/Input_(computer_science)" TargetMode="External"/><Relationship Id="rId4" Type="http://schemas.openxmlformats.org/officeDocument/2006/relationships/hyperlink" Target="https://en.wikipedia.org/wiki/State_(computer_science)" TargetMode="External"/><Relationship Id="rId9" Type="http://schemas.openxmlformats.org/officeDocument/2006/relationships/hyperlink" Target="https://en.wikipedia.org/wiki/Combination_lock"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https://coderpad.io/blog/development/the-complete-guide-to-regular-expressions-regex/</a:t>
            </a: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3</a:t>
            </a:fld>
            <a:endParaRPr lang="nl-BE"/>
          </a:p>
        </p:txBody>
      </p:sp>
    </p:spTree>
    <p:extLst>
      <p:ext uri="{BB962C8B-B14F-4D97-AF65-F5344CB8AC3E}">
        <p14:creationId xmlns:p14="http://schemas.microsoft.com/office/powerpoint/2010/main" val="8765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A finite state machine is an </a:t>
            </a:r>
            <a:r>
              <a:rPr lang="en-US" b="0" i="0" u="none" strike="noStrike" dirty="0">
                <a:effectLst/>
                <a:latin typeface="Arial" panose="020B0604020202020204" pitchFamily="34" charset="0"/>
                <a:hlinkClick r:id="rId3" tooltip="Abstract machine"/>
              </a:rPr>
              <a:t>abstract machine</a:t>
            </a:r>
            <a:r>
              <a:rPr lang="en-US" b="0" i="0" dirty="0">
                <a:solidFill>
                  <a:srgbClr val="202122"/>
                </a:solidFill>
                <a:effectLst/>
                <a:latin typeface="Arial" panose="020B0604020202020204" pitchFamily="34" charset="0"/>
              </a:rPr>
              <a:t> that can be in exactly one of a finite number of </a:t>
            </a:r>
            <a:r>
              <a:rPr lang="en-US" b="0" i="1" u="none" strike="noStrike" dirty="0">
                <a:solidFill>
                  <a:srgbClr val="202122"/>
                </a:solidFill>
                <a:effectLst/>
                <a:latin typeface="Arial" panose="020B0604020202020204" pitchFamily="34" charset="0"/>
                <a:hlinkClick r:id="rId4" tooltip="State (computer science)"/>
              </a:rPr>
              <a:t>states</a:t>
            </a:r>
            <a:r>
              <a:rPr lang="en-US" b="0" i="0" dirty="0">
                <a:solidFill>
                  <a:srgbClr val="202122"/>
                </a:solidFill>
                <a:effectLst/>
                <a:latin typeface="Arial" panose="020B0604020202020204" pitchFamily="34" charset="0"/>
              </a:rPr>
              <a:t> at any given time. The FSM can change from one state to another in response to some </a:t>
            </a:r>
            <a:r>
              <a:rPr lang="en-US" b="0" i="0" u="none" strike="noStrike" dirty="0">
                <a:effectLst/>
                <a:latin typeface="Arial" panose="020B0604020202020204" pitchFamily="34" charset="0"/>
                <a:hlinkClick r:id="rId5" tooltip="Input (computer science)"/>
              </a:rPr>
              <a:t>inputs</a:t>
            </a:r>
            <a:r>
              <a:rPr lang="en-US" b="0" i="0" dirty="0">
                <a:solidFill>
                  <a:srgbClr val="202122"/>
                </a:solidFill>
                <a:effectLst/>
                <a:latin typeface="Arial" panose="020B0604020202020204" pitchFamily="34" charset="0"/>
              </a:rPr>
              <a:t>; the change from one state to another is called a </a:t>
            </a:r>
            <a:r>
              <a:rPr lang="en-US" b="0" i="1" dirty="0">
                <a:solidFill>
                  <a:srgbClr val="202122"/>
                </a:solidFill>
                <a:effectLst/>
                <a:latin typeface="Arial" panose="020B0604020202020204" pitchFamily="34" charset="0"/>
              </a:rPr>
              <a:t>transition</a:t>
            </a:r>
            <a:r>
              <a:rPr lang="en-US" b="0" i="0" dirty="0">
                <a:solidFill>
                  <a:srgbClr val="202122"/>
                </a:solidFill>
                <a:effectLst/>
                <a:latin typeface="Arial" panose="020B0604020202020204" pitchFamily="34" charset="0"/>
              </a:rPr>
              <a:t>.</a:t>
            </a:r>
            <a:br>
              <a:rPr lang="en-US" b="0" i="0" dirty="0">
                <a:solidFill>
                  <a:srgbClr val="202122"/>
                </a:solidFill>
                <a:effectLst/>
                <a:latin typeface="Arial" panose="020B0604020202020204" pitchFamily="34" charset="0"/>
              </a:rPr>
            </a:br>
            <a:br>
              <a:rPr lang="en-US" b="0" i="0" dirty="0">
                <a:solidFill>
                  <a:srgbClr val="202122"/>
                </a:solidFill>
                <a:effectLst/>
                <a:latin typeface="Arial" panose="020B0604020202020204" pitchFamily="34" charset="0"/>
              </a:rPr>
            </a:br>
            <a:r>
              <a:rPr lang="en-US" b="0" i="0" dirty="0">
                <a:solidFill>
                  <a:srgbClr val="202122"/>
                </a:solidFill>
                <a:effectLst/>
                <a:latin typeface="Arial" panose="020B0604020202020204" pitchFamily="34" charset="0"/>
              </a:rPr>
              <a:t>Simple examples are: </a:t>
            </a:r>
            <a:r>
              <a:rPr lang="en-US" b="0" i="0" u="none" strike="noStrike" dirty="0">
                <a:effectLst/>
                <a:latin typeface="Arial" panose="020B0604020202020204" pitchFamily="34" charset="0"/>
                <a:hlinkClick r:id="rId6" tooltip="Vending machine"/>
              </a:rPr>
              <a:t>vending machines</a:t>
            </a:r>
            <a:r>
              <a:rPr lang="en-US" b="0" i="0" dirty="0">
                <a:solidFill>
                  <a:srgbClr val="202122"/>
                </a:solidFill>
                <a:effectLst/>
                <a:latin typeface="Arial" panose="020B0604020202020204" pitchFamily="34" charset="0"/>
              </a:rPr>
              <a:t>, which dispense products when the proper combination of coins is deposited; </a:t>
            </a:r>
            <a:r>
              <a:rPr lang="en-US" b="0" i="0" u="none" strike="noStrike" dirty="0">
                <a:effectLst/>
                <a:latin typeface="Arial" panose="020B0604020202020204" pitchFamily="34" charset="0"/>
                <a:hlinkClick r:id="rId7" tooltip="Elevator"/>
              </a:rPr>
              <a:t>elevators</a:t>
            </a:r>
            <a:r>
              <a:rPr lang="en-US" b="0" i="0" dirty="0">
                <a:solidFill>
                  <a:srgbClr val="202122"/>
                </a:solidFill>
                <a:effectLst/>
                <a:latin typeface="Arial" panose="020B0604020202020204" pitchFamily="34" charset="0"/>
              </a:rPr>
              <a:t>, whose sequence of stops is determined by the floors requested by riders; </a:t>
            </a:r>
            <a:r>
              <a:rPr lang="en-US" b="0" i="0" u="none" strike="noStrike" dirty="0">
                <a:effectLst/>
                <a:latin typeface="Arial" panose="020B0604020202020204" pitchFamily="34" charset="0"/>
                <a:hlinkClick r:id="rId8" tooltip="Traffic light"/>
              </a:rPr>
              <a:t>traffic lights</a:t>
            </a:r>
            <a:r>
              <a:rPr lang="en-US" b="0" i="0" dirty="0">
                <a:solidFill>
                  <a:srgbClr val="202122"/>
                </a:solidFill>
                <a:effectLst/>
                <a:latin typeface="Arial" panose="020B0604020202020204" pitchFamily="34" charset="0"/>
              </a:rPr>
              <a:t>, which change sequence when cars are waiting; </a:t>
            </a:r>
            <a:r>
              <a:rPr lang="en-US" b="0" i="0" u="none" strike="noStrike" dirty="0">
                <a:effectLst/>
                <a:latin typeface="Arial" panose="020B0604020202020204" pitchFamily="34" charset="0"/>
                <a:hlinkClick r:id="rId9" tooltip="Combination lock"/>
              </a:rPr>
              <a:t>combination locks</a:t>
            </a:r>
            <a:r>
              <a:rPr lang="en-US" b="0" i="0" dirty="0">
                <a:solidFill>
                  <a:srgbClr val="202122"/>
                </a:solidFill>
                <a:effectLst/>
                <a:latin typeface="Arial" panose="020B0604020202020204" pitchFamily="34" charset="0"/>
              </a:rPr>
              <a:t>, which require the input of a sequence of numbers in the proper order.</a:t>
            </a:r>
            <a:endParaRPr lang="en-US" dirty="0"/>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4</a:t>
            </a:fld>
            <a:endParaRPr lang="nl-BE"/>
          </a:p>
        </p:txBody>
      </p:sp>
    </p:spTree>
    <p:extLst>
      <p:ext uri="{BB962C8B-B14F-4D97-AF65-F5344CB8AC3E}">
        <p14:creationId xmlns:p14="http://schemas.microsoft.com/office/powerpoint/2010/main" val="309289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5</a:t>
            </a:fld>
            <a:endParaRPr lang="nl-BE"/>
          </a:p>
        </p:txBody>
      </p:sp>
    </p:spTree>
    <p:extLst>
      <p:ext uri="{BB962C8B-B14F-4D97-AF65-F5344CB8AC3E}">
        <p14:creationId xmlns:p14="http://schemas.microsoft.com/office/powerpoint/2010/main" val="99238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6</a:t>
            </a:fld>
            <a:endParaRPr lang="nl-BE"/>
          </a:p>
        </p:txBody>
      </p:sp>
    </p:spTree>
    <p:extLst>
      <p:ext uri="{BB962C8B-B14F-4D97-AF65-F5344CB8AC3E}">
        <p14:creationId xmlns:p14="http://schemas.microsoft.com/office/powerpoint/2010/main" val="2451675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7</a:t>
            </a:fld>
            <a:endParaRPr lang="nl-BE"/>
          </a:p>
        </p:txBody>
      </p:sp>
    </p:spTree>
    <p:extLst>
      <p:ext uri="{BB962C8B-B14F-4D97-AF65-F5344CB8AC3E}">
        <p14:creationId xmlns:p14="http://schemas.microsoft.com/office/powerpoint/2010/main" val="1758625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8</a:t>
            </a:fld>
            <a:endParaRPr lang="nl-BE"/>
          </a:p>
        </p:txBody>
      </p:sp>
    </p:spTree>
    <p:extLst>
      <p:ext uri="{BB962C8B-B14F-4D97-AF65-F5344CB8AC3E}">
        <p14:creationId xmlns:p14="http://schemas.microsoft.com/office/powerpoint/2010/main" val="191013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https://www.youtube.com/watch?v=528Jc3q86F8</a:t>
            </a: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9</a:t>
            </a:fld>
            <a:endParaRPr lang="nl-BE"/>
          </a:p>
        </p:txBody>
      </p:sp>
    </p:spTree>
    <p:extLst>
      <p:ext uri="{BB962C8B-B14F-4D97-AF65-F5344CB8AC3E}">
        <p14:creationId xmlns:p14="http://schemas.microsoft.com/office/powerpoint/2010/main" val="675973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This line is spoken by </a:t>
            </a:r>
            <a:r>
              <a:rPr lang="en-US" b="0" i="0" dirty="0" err="1">
                <a:solidFill>
                  <a:srgbClr val="202124"/>
                </a:solidFill>
                <a:effectLst/>
                <a:latin typeface="arial" panose="020B0604020202020204" pitchFamily="34" charset="0"/>
              </a:rPr>
              <a:t>Kesuke</a:t>
            </a:r>
            <a:r>
              <a:rPr lang="en-US" b="0" i="0" dirty="0">
                <a:solidFill>
                  <a:srgbClr val="202124"/>
                </a:solidFill>
                <a:effectLst/>
                <a:latin typeface="arial" panose="020B0604020202020204" pitchFamily="34" charset="0"/>
              </a:rPr>
              <a:t> Miyagi, played by Pat Morita, in the film The Karate Kid, directed by John G. Avildsen (1984)</a:t>
            </a:r>
            <a:br>
              <a:rPr lang="en-US" b="0" i="0" dirty="0">
                <a:solidFill>
                  <a:srgbClr val="202124"/>
                </a:solidFill>
                <a:effectLst/>
                <a:latin typeface="arial" panose="020B0604020202020204" pitchFamily="34" charset="0"/>
              </a:rPr>
            </a:br>
            <a:br>
              <a:rPr lang="en-US" b="0" i="0" dirty="0">
                <a:solidFill>
                  <a:srgbClr val="202124"/>
                </a:solidFill>
                <a:effectLst/>
                <a:latin typeface="arial" panose="020B0604020202020204" pitchFamily="34" charset="0"/>
              </a:rPr>
            </a:br>
            <a:r>
              <a:rPr lang="en-US" b="0" i="0" dirty="0">
                <a:solidFill>
                  <a:srgbClr val="333333"/>
                </a:solidFill>
                <a:effectLst/>
                <a:latin typeface="Gotham"/>
              </a:rPr>
              <a:t>Pat Morita was supposed to be teaching Mr. Macchio karate, but all summer the karate master had the kid just painting stuff and waxing his car. However, the painting and waxing techniques were secretly teaching his muscles karate moves, and when the karate lessons actually began, he found it relatively easy to learn. </a:t>
            </a:r>
            <a:r>
              <a:rPr lang="en-US" b="0" i="0">
                <a:solidFill>
                  <a:srgbClr val="333333"/>
                </a:solidFill>
                <a:effectLst/>
                <a:latin typeface="Gotham"/>
              </a:rPr>
              <a:t>"Wax on, wax off" was one of the stern instructions repeated at the beginning of the lessons.</a:t>
            </a:r>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10</a:t>
            </a:fld>
            <a:endParaRPr lang="nl-BE"/>
          </a:p>
        </p:txBody>
      </p:sp>
    </p:spTree>
    <p:extLst>
      <p:ext uri="{BB962C8B-B14F-4D97-AF65-F5344CB8AC3E}">
        <p14:creationId xmlns:p14="http://schemas.microsoft.com/office/powerpoint/2010/main" val="445803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https://stubru.be/stem/dezwaarstelijst/lijst</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11</a:t>
            </a:fld>
            <a:endParaRPr lang="nl-BE"/>
          </a:p>
        </p:txBody>
      </p:sp>
    </p:spTree>
    <p:extLst>
      <p:ext uri="{BB962C8B-B14F-4D97-AF65-F5344CB8AC3E}">
        <p14:creationId xmlns:p14="http://schemas.microsoft.com/office/powerpoint/2010/main" val="1053390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https://coderpad.io/blog/development/the-complete-guide-to-regular-expressions-regex/#pattern-collections</a:t>
            </a:r>
          </a:p>
        </p:txBody>
      </p:sp>
      <p:sp>
        <p:nvSpPr>
          <p:cNvPr id="4" name="Slide Number Placeholder 3"/>
          <p:cNvSpPr>
            <a:spLocks noGrp="1"/>
          </p:cNvSpPr>
          <p:nvPr>
            <p:ph type="sldNum" sz="quarter" idx="5"/>
          </p:nvPr>
        </p:nvSpPr>
        <p:spPr/>
        <p:txBody>
          <a:bodyPr/>
          <a:lstStyle/>
          <a:p>
            <a:fld id="{2F1A7F70-BA74-4B93-A504-6802F0D0CD34}" type="slidenum">
              <a:rPr lang="nl-BE" smtClean="0"/>
              <a:t>12</a:t>
            </a:fld>
            <a:endParaRPr lang="nl-BE"/>
          </a:p>
        </p:txBody>
      </p:sp>
    </p:spTree>
    <p:extLst>
      <p:ext uri="{BB962C8B-B14F-4D97-AF65-F5344CB8AC3E}">
        <p14:creationId xmlns:p14="http://schemas.microsoft.com/office/powerpoint/2010/main" val="3805891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https://coderpad.io/blog/development/the-complete-guide-to-regular-expressions-regex/#pattern-collections</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13</a:t>
            </a:fld>
            <a:endParaRPr lang="nl-BE"/>
          </a:p>
        </p:txBody>
      </p:sp>
    </p:spTree>
    <p:extLst>
      <p:ext uri="{BB962C8B-B14F-4D97-AF65-F5344CB8AC3E}">
        <p14:creationId xmlns:p14="http://schemas.microsoft.com/office/powerpoint/2010/main" val="739129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https://coderpad.io/blog/development/the-complete-guide-to-regular-expressions-regex/#pattern-collections</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14</a:t>
            </a:fld>
            <a:endParaRPr lang="nl-BE"/>
          </a:p>
        </p:txBody>
      </p:sp>
    </p:spTree>
    <p:extLst>
      <p:ext uri="{BB962C8B-B14F-4D97-AF65-F5344CB8AC3E}">
        <p14:creationId xmlns:p14="http://schemas.microsoft.com/office/powerpoint/2010/main" val="2460122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way overloaded, but it contains all you really need to know.</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15</a:t>
            </a:fld>
            <a:endParaRPr lang="nl-BE"/>
          </a:p>
        </p:txBody>
      </p:sp>
    </p:spTree>
    <p:extLst>
      <p:ext uri="{BB962C8B-B14F-4D97-AF65-F5344CB8AC3E}">
        <p14:creationId xmlns:p14="http://schemas.microsoft.com/office/powerpoint/2010/main" val="78930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1 character</a:t>
            </a:r>
            <a:br>
              <a:rPr lang="en-US"/>
            </a:br>
            <a:r>
              <a:rPr lang="en-US"/>
              <a:t>.* = zero or more characters</a:t>
            </a:r>
          </a:p>
          <a:p>
            <a:r>
              <a:rPr lang="en-US"/>
              <a:t>\1 = the same as the first group which was (.)</a:t>
            </a:r>
          </a:p>
        </p:txBody>
      </p:sp>
      <p:sp>
        <p:nvSpPr>
          <p:cNvPr id="4" name="Slide Number Placeholder 3"/>
          <p:cNvSpPr>
            <a:spLocks noGrp="1"/>
          </p:cNvSpPr>
          <p:nvPr>
            <p:ph type="sldNum" sz="quarter" idx="5"/>
          </p:nvPr>
        </p:nvSpPr>
        <p:spPr/>
        <p:txBody>
          <a:bodyPr/>
          <a:lstStyle/>
          <a:p>
            <a:fld id="{2F1A7F70-BA74-4B93-A504-6802F0D0CD34}" type="slidenum">
              <a:rPr lang="nl-BE" smtClean="0"/>
              <a:t>16</a:t>
            </a:fld>
            <a:endParaRPr lang="nl-BE"/>
          </a:p>
        </p:txBody>
      </p:sp>
    </p:spTree>
    <p:extLst>
      <p:ext uri="{BB962C8B-B14F-4D97-AF65-F5344CB8AC3E}">
        <p14:creationId xmlns:p14="http://schemas.microsoft.com/office/powerpoint/2010/main" val="2741127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that starts and ends with the same character:</a:t>
            </a:r>
          </a:p>
          <a:p>
            <a:r>
              <a:rPr lang="en-US" dirty="0"/>
              <a:t>(.) = 1 character</a:t>
            </a:r>
            <a:br>
              <a:rPr lang="en-US" dirty="0"/>
            </a:br>
            <a:r>
              <a:rPr lang="en-US" dirty="0"/>
              <a:t>.* = zero or more characters</a:t>
            </a:r>
          </a:p>
          <a:p>
            <a:r>
              <a:rPr lang="en-US" dirty="0"/>
              <a:t>\1 = the same as the first group which was (.)</a:t>
            </a:r>
          </a:p>
          <a:p>
            <a:endParaRPr lang="en-US" noProof="0" dirty="0"/>
          </a:p>
          <a:p>
            <a:endParaRPr lang="en-US" noProof="0" dirty="0"/>
          </a:p>
          <a:p>
            <a:r>
              <a:rPr lang="en-US" noProof="0" dirty="0"/>
              <a:t>Email address:  (an.andries@student.thomasmore.be/ jochen.marien@thomasmore.be)</a:t>
            </a:r>
            <a:br>
              <a:rPr lang="en-US" noProof="0" dirty="0"/>
            </a:br>
            <a:r>
              <a:rPr lang="en-US" noProof="0" dirty="0"/>
              <a:t>^ = start of string</a:t>
            </a:r>
          </a:p>
          <a:p>
            <a:r>
              <a:rPr lang="en-US" noProof="0" dirty="0"/>
              <a:t>+= at least 1 time</a:t>
            </a:r>
          </a:p>
          <a:p>
            <a:r>
              <a:rPr lang="en-US" noProof="0" dirty="0"/>
              <a:t>? = 0 or more  </a:t>
            </a:r>
          </a:p>
          <a:p>
            <a:r>
              <a:rPr lang="en-US" noProof="0" dirty="0"/>
              <a:t>{2,3}= 2 or 3 </a:t>
            </a:r>
          </a:p>
          <a:p>
            <a:r>
              <a:rPr lang="en-US" noProof="0" dirty="0"/>
              <a:t>$ = end of string</a:t>
            </a: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17</a:t>
            </a:fld>
            <a:endParaRPr lang="nl-BE"/>
          </a:p>
        </p:txBody>
      </p:sp>
    </p:spTree>
    <p:extLst>
      <p:ext uri="{BB962C8B-B14F-4D97-AF65-F5344CB8AC3E}">
        <p14:creationId xmlns:p14="http://schemas.microsoft.com/office/powerpoint/2010/main" val="755105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https://xkcd.com/208/</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19</a:t>
            </a:fld>
            <a:endParaRPr lang="nl-BE"/>
          </a:p>
        </p:txBody>
      </p:sp>
    </p:spTree>
    <p:extLst>
      <p:ext uri="{BB962C8B-B14F-4D97-AF65-F5344CB8AC3E}">
        <p14:creationId xmlns:p14="http://schemas.microsoft.com/office/powerpoint/2010/main" val="1003346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R-strings: Raw strings, used for regex because they don’t interpret the \ as a special character.</a:t>
            </a:r>
            <a:br>
              <a:rPr lang="en-US" dirty="0"/>
            </a:br>
            <a:br>
              <a:rPr lang="en-US" dirty="0"/>
            </a:br>
            <a:r>
              <a:rPr lang="en-US" b="0" i="0" dirty="0">
                <a:solidFill>
                  <a:srgbClr val="202124"/>
                </a:solidFill>
                <a:effectLst/>
                <a:latin typeface="arial" panose="020B0604020202020204" pitchFamily="34" charset="0"/>
              </a:rPr>
              <a:t>Python raw string treats backslash (\) as a literal character. This is useful when we want to have a string that contains backslash and don't want it to be treated as an escape character (\t or \n)</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22</a:t>
            </a:fld>
            <a:endParaRPr lang="nl-BE"/>
          </a:p>
        </p:txBody>
      </p:sp>
    </p:spTree>
    <p:extLst>
      <p:ext uri="{BB962C8B-B14F-4D97-AF65-F5344CB8AC3E}">
        <p14:creationId xmlns:p14="http://schemas.microsoft.com/office/powerpoint/2010/main" val="3255330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Index position of lion is [27,28,29,30] -&gt; </a:t>
            </a:r>
            <a:r>
              <a:rPr lang="en-US" dirty="0" err="1"/>
              <a:t>found.end</a:t>
            </a:r>
            <a:r>
              <a:rPr lang="en-US" dirty="0"/>
              <a:t>() 31 is not included!</a:t>
            </a:r>
            <a:br>
              <a:rPr lang="en-US" dirty="0"/>
            </a:br>
            <a:endParaRPr lang="en-US" dirty="0"/>
          </a:p>
          <a:p>
            <a:r>
              <a:rPr lang="en-US" dirty="0"/>
              <a:t>Also: lookup “Python shorthand if”</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23</a:t>
            </a:fld>
            <a:endParaRPr lang="nl-BE"/>
          </a:p>
        </p:txBody>
      </p:sp>
    </p:spTree>
    <p:extLst>
      <p:ext uri="{BB962C8B-B14F-4D97-AF65-F5344CB8AC3E}">
        <p14:creationId xmlns:p14="http://schemas.microsoft.com/office/powerpoint/2010/main" val="3408735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 zero or more</a:t>
            </a:r>
          </a:p>
        </p:txBody>
      </p:sp>
      <p:sp>
        <p:nvSpPr>
          <p:cNvPr id="4" name="Slide Number Placeholder 3"/>
          <p:cNvSpPr>
            <a:spLocks noGrp="1"/>
          </p:cNvSpPr>
          <p:nvPr>
            <p:ph type="sldNum" sz="quarter" idx="5"/>
          </p:nvPr>
        </p:nvSpPr>
        <p:spPr/>
        <p:txBody>
          <a:bodyPr/>
          <a:lstStyle/>
          <a:p>
            <a:fld id="{2F1A7F70-BA74-4B93-A504-6802F0D0CD34}" type="slidenum">
              <a:rPr lang="nl-BE" smtClean="0"/>
              <a:t>24</a:t>
            </a:fld>
            <a:endParaRPr lang="nl-BE"/>
          </a:p>
        </p:txBody>
      </p:sp>
    </p:spTree>
    <p:extLst>
      <p:ext uri="{BB962C8B-B14F-4D97-AF65-F5344CB8AC3E}">
        <p14:creationId xmlns:p14="http://schemas.microsoft.com/office/powerpoint/2010/main" val="2104215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 </a:t>
            </a:r>
            <a:r>
              <a:rPr lang="nl-BE" dirty="0" err="1"/>
              <a:t>refer</a:t>
            </a:r>
            <a:r>
              <a:rPr lang="nl-BE" dirty="0"/>
              <a:t> </a:t>
            </a:r>
            <a:r>
              <a:rPr lang="nl-BE" dirty="0" err="1"/>
              <a:t>to</a:t>
            </a:r>
            <a:r>
              <a:rPr lang="nl-BE" dirty="0"/>
              <a:t> a </a:t>
            </a:r>
            <a:r>
              <a:rPr lang="nl-BE" dirty="0" err="1"/>
              <a:t>group</a:t>
            </a:r>
            <a:r>
              <a:rPr lang="nl-BE" dirty="0"/>
              <a:t> – </a:t>
            </a:r>
            <a:r>
              <a:rPr lang="nl-BE" dirty="0" err="1"/>
              <a:t>so</a:t>
            </a:r>
            <a:r>
              <a:rPr lang="nl-BE" dirty="0"/>
              <a:t> </a:t>
            </a:r>
            <a:r>
              <a:rPr lang="nl-BE" dirty="0" err="1"/>
              <a:t>the</a:t>
            </a:r>
            <a:r>
              <a:rPr lang="nl-BE" dirty="0"/>
              <a:t> first </a:t>
            </a:r>
            <a:r>
              <a:rPr lang="nl-BE" dirty="0" err="1"/>
              <a:t>group</a:t>
            </a:r>
            <a:r>
              <a:rPr lang="nl-BE" dirty="0"/>
              <a:t> is </a:t>
            </a:r>
            <a:r>
              <a:rPr lang="nl-BE" dirty="0" err="1"/>
              <a:t>picked</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26</a:t>
            </a:fld>
            <a:endParaRPr lang="nl-BE"/>
          </a:p>
        </p:txBody>
      </p:sp>
    </p:spTree>
    <p:extLst>
      <p:ext uri="{BB962C8B-B14F-4D97-AF65-F5344CB8AC3E}">
        <p14:creationId xmlns:p14="http://schemas.microsoft.com/office/powerpoint/2010/main" val="2663512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Trick question:</a:t>
            </a:r>
          </a:p>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search</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r</a:t>
            </a:r>
            <a:r>
              <a:rPr lang="en-US" b="0">
                <a:solidFill>
                  <a:srgbClr val="811F3F"/>
                </a:solidFill>
                <a:effectLst/>
                <a:latin typeface="Consolas" panose="020B0609020204030204" pitchFamily="49" charset="0"/>
              </a:rPr>
              <a: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{1}</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a:solidFill>
                  <a:srgbClr val="800000"/>
                </a:solidFill>
                <a:effectLst/>
                <a:latin typeface="Consolas" panose="020B0609020204030204" pitchFamily="49" charset="0"/>
              </a:rPr>
              <a:t>\1</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t>
            </a:r>
            <a:r>
              <a:rPr lang="en-US" b="0" err="1">
                <a:solidFill>
                  <a:srgbClr val="A31515"/>
                </a:solidFill>
                <a:effectLst/>
                <a:latin typeface="Consolas" panose="020B0609020204030204" pitchFamily="49" charset="0"/>
              </a:rPr>
              <a:t>marieke</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a:p>
            <a:r>
              <a:rPr lang="en-US"/>
              <a:t>True or false? And why is that not a problem with the examples in the slide? </a:t>
            </a:r>
          </a:p>
          <a:p>
            <a:r>
              <a:rPr lang="en-US"/>
              <a:t>True (match op ‘eke’)</a:t>
            </a:r>
          </a:p>
          <a:p>
            <a:endParaRPr lang="en-US"/>
          </a:p>
          <a:p>
            <a:endParaRPr lang="en-US"/>
          </a:p>
          <a:p>
            <a:r>
              <a:rPr lang="en-US" b="0">
                <a:solidFill>
                  <a:srgbClr val="008000"/>
                </a:solidFill>
                <a:effectLst/>
                <a:latin typeface="Consolas" panose="020B0609020204030204" pitchFamily="49" charset="0"/>
              </a:rPr>
              <a:t># solution to make sure search starts with the first char</a:t>
            </a:r>
            <a:endParaRPr lang="en-US" b="0">
              <a:solidFill>
                <a:srgbClr val="000000"/>
              </a:solidFill>
              <a:effectLst/>
              <a:latin typeface="Consolas" panose="020B0609020204030204" pitchFamily="49" charset="0"/>
            </a:endParaRPr>
          </a:p>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search</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r</a:t>
            </a:r>
            <a:r>
              <a:rPr lang="en-US" b="0">
                <a:solidFill>
                  <a:srgbClr val="811F3F"/>
                </a:solidFill>
                <a:effectLst/>
                <a:latin typeface="Consolas" panose="020B0609020204030204" pitchFamily="49" charset="0"/>
              </a:rPr>
              <a:t>"</a:t>
            </a:r>
            <a:r>
              <a:rPr lang="en-US" b="1">
                <a:solidFill>
                  <a:srgbClr val="FF0000"/>
                </a:solidFill>
                <a:effectLst/>
                <a:latin typeface="Consolas" panose="020B0609020204030204" pitchFamily="49" charset="0"/>
              </a:rPr>
              <a: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{1}</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a:solidFill>
                  <a:srgbClr val="800000"/>
                </a:solidFill>
                <a:effectLst/>
                <a:latin typeface="Consolas" panose="020B0609020204030204" pitchFamily="49" charset="0"/>
              </a:rPr>
              <a:t>\1</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t>
            </a:r>
            <a:r>
              <a:rPr lang="en-US" b="0" err="1">
                <a:solidFill>
                  <a:srgbClr val="A31515"/>
                </a:solidFill>
                <a:effectLst/>
                <a:latin typeface="Consolas" panose="020B0609020204030204" pitchFamily="49" charset="0"/>
              </a:rPr>
              <a:t>marieke</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28</a:t>
            </a:fld>
            <a:endParaRPr lang="nl-BE"/>
          </a:p>
        </p:txBody>
      </p:sp>
    </p:spTree>
    <p:extLst>
      <p:ext uri="{BB962C8B-B14F-4D97-AF65-F5344CB8AC3E}">
        <p14:creationId xmlns:p14="http://schemas.microsoft.com/office/powerpoint/2010/main" val="2043009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21/09/2025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21/09/2025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21/09/2025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21/09/2025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21/09/2025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21/09/2025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21/09/2025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21/09/2025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21/09/2025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21/09/2025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21/09/2025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21/09/2025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Regular_expression#cite_note-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hyperlink" Target="https://en.wikipedia.org/wiki/String-searching_algorithm" TargetMode="External"/><Relationship Id="rId4" Type="http://schemas.openxmlformats.org/officeDocument/2006/relationships/hyperlink" Target="https://en.wikipedia.org/wiki/Pattern_matchin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528Jc3q86F8?feature=oembed" TargetMode="Externa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regex101.com/" TargetMode="External"/><Relationship Id="rId2" Type="http://schemas.openxmlformats.org/officeDocument/2006/relationships/hyperlink" Target="https://regexcrossword.co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python.org/3.10/library/re.html#match-object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eeksforgeeks.org/python-difference-iterable-iterato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Regex (in Python)</a:t>
            </a:r>
          </a:p>
        </p:txBody>
      </p:sp>
      <p:sp>
        <p:nvSpPr>
          <p:cNvPr id="3" name="Ondertitel 2"/>
          <p:cNvSpPr>
            <a:spLocks noGrp="1"/>
          </p:cNvSpPr>
          <p:nvPr>
            <p:ph type="subTitle" idx="1"/>
          </p:nvPr>
        </p:nvSpPr>
        <p:spPr/>
        <p:txBody>
          <a:bodyPr/>
          <a:lstStyle/>
          <a:p>
            <a:r>
              <a:rPr lang="en-US" noProof="0" dirty="0"/>
              <a:t>2025-2026</a:t>
            </a: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CF6EC-E9B4-4D3D-A2E4-534F87162BA6}"/>
              </a:ext>
            </a:extLst>
          </p:cNvPr>
          <p:cNvSpPr>
            <a:spLocks noGrp="1"/>
          </p:cNvSpPr>
          <p:nvPr>
            <p:ph type="title"/>
          </p:nvPr>
        </p:nvSpPr>
        <p:spPr/>
        <p:txBody>
          <a:bodyPr/>
          <a:lstStyle/>
          <a:p>
            <a:r>
              <a:rPr lang="en-US" noProof="0" dirty="0"/>
              <a:t>Regex - Regular expressions</a:t>
            </a:r>
          </a:p>
        </p:txBody>
      </p:sp>
      <p:sp>
        <p:nvSpPr>
          <p:cNvPr id="4" name="Slide Number Placeholder 3">
            <a:extLst>
              <a:ext uri="{FF2B5EF4-FFF2-40B4-BE49-F238E27FC236}">
                <a16:creationId xmlns:a16="http://schemas.microsoft.com/office/drawing/2014/main" id="{DF8642D3-E621-415D-B308-5A8DE8ACDA34}"/>
              </a:ext>
            </a:extLst>
          </p:cNvPr>
          <p:cNvSpPr>
            <a:spLocks noGrp="1"/>
          </p:cNvSpPr>
          <p:nvPr>
            <p:ph type="sldNum" sz="quarter" idx="12"/>
          </p:nvPr>
        </p:nvSpPr>
        <p:spPr/>
        <p:txBody>
          <a:bodyPr/>
          <a:lstStyle/>
          <a:p>
            <a:fld id="{B105FAA3-C3E4-40D0-B2B7-65B62F79F625}" type="slidenum">
              <a:rPr lang="nl-BE" smtClean="0"/>
              <a:t>2</a:t>
            </a:fld>
            <a:endParaRPr lang="nl-BE"/>
          </a:p>
        </p:txBody>
      </p:sp>
    </p:spTree>
    <p:extLst>
      <p:ext uri="{BB962C8B-B14F-4D97-AF65-F5344CB8AC3E}">
        <p14:creationId xmlns:p14="http://schemas.microsoft.com/office/powerpoint/2010/main" val="315246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en-US" noProof="0" dirty="0"/>
              <a:t>Regex</a:t>
            </a:r>
          </a:p>
        </p:txBody>
      </p:sp>
      <p:sp>
        <p:nvSpPr>
          <p:cNvPr id="3" name="Content Placeholder 2">
            <a:extLst>
              <a:ext uri="{FF2B5EF4-FFF2-40B4-BE49-F238E27FC236}">
                <a16:creationId xmlns:a16="http://schemas.microsoft.com/office/drawing/2014/main" id="{CE123ACB-DD68-4388-B607-763D7883FFC8}"/>
              </a:ext>
            </a:extLst>
          </p:cNvPr>
          <p:cNvSpPr>
            <a:spLocks noGrp="1"/>
          </p:cNvSpPr>
          <p:nvPr>
            <p:ph idx="1"/>
          </p:nvPr>
        </p:nvSpPr>
        <p:spPr>
          <a:xfrm>
            <a:off x="582705" y="1550894"/>
            <a:ext cx="9282655" cy="4626069"/>
          </a:xfrm>
        </p:spPr>
        <p:txBody>
          <a:bodyPr>
            <a:normAutofit/>
          </a:bodyPr>
          <a:lstStyle/>
          <a:p>
            <a:r>
              <a:rPr lang="en-US" noProof="0" dirty="0"/>
              <a:t>Regular expressions:</a:t>
            </a:r>
          </a:p>
          <a:p>
            <a:endParaRPr lang="en-US" noProof="0" dirty="0"/>
          </a:p>
          <a:p>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3</a:t>
            </a:fld>
            <a:endParaRPr lang="nl-BE"/>
          </a:p>
        </p:txBody>
      </p:sp>
      <p:sp>
        <p:nvSpPr>
          <p:cNvPr id="6" name="TextBox 5">
            <a:extLst>
              <a:ext uri="{FF2B5EF4-FFF2-40B4-BE49-F238E27FC236}">
                <a16:creationId xmlns:a16="http://schemas.microsoft.com/office/drawing/2014/main" id="{62930A5A-6CE0-4780-9B2D-B9CE3DA7FF11}"/>
              </a:ext>
            </a:extLst>
          </p:cNvPr>
          <p:cNvSpPr txBox="1"/>
          <p:nvPr/>
        </p:nvSpPr>
        <p:spPr>
          <a:xfrm>
            <a:off x="1188720" y="2146776"/>
            <a:ext cx="10165080" cy="1569660"/>
          </a:xfrm>
          <a:prstGeom prst="rect">
            <a:avLst/>
          </a:prstGeom>
          <a:noFill/>
        </p:spPr>
        <p:txBody>
          <a:bodyPr wrap="square">
            <a:spAutoFit/>
          </a:bodyPr>
          <a:lstStyle/>
          <a:p>
            <a:r>
              <a:rPr lang="en-US" sz="2400" dirty="0"/>
              <a:t>A </a:t>
            </a:r>
            <a:r>
              <a:rPr lang="en-US" sz="2400" b="1" dirty="0"/>
              <a:t>regular expression</a:t>
            </a:r>
            <a:r>
              <a:rPr lang="en-US" sz="2400" dirty="0"/>
              <a:t> (shortened as </a:t>
            </a:r>
            <a:r>
              <a:rPr lang="en-US" sz="2400" b="1" dirty="0"/>
              <a:t>regex</a:t>
            </a:r>
            <a:r>
              <a:rPr lang="en-US" sz="2400" dirty="0"/>
              <a:t> or </a:t>
            </a:r>
            <a:r>
              <a:rPr lang="en-US" sz="2400" b="1" dirty="0" err="1"/>
              <a:t>regexp</a:t>
            </a:r>
            <a:r>
              <a:rPr lang="en-US" sz="2400" dirty="0"/>
              <a:t>;</a:t>
            </a:r>
            <a:r>
              <a:rPr lang="en-US" sz="2400" baseline="30000" dirty="0">
                <a:hlinkClick r:id="rId3"/>
              </a:rPr>
              <a:t>[1]</a:t>
            </a:r>
            <a:r>
              <a:rPr lang="en-US" sz="2400" dirty="0"/>
              <a:t> also referred to as </a:t>
            </a:r>
            <a:r>
              <a:rPr lang="en-US" sz="2400" b="1" dirty="0"/>
              <a:t>rational expression</a:t>
            </a:r>
            <a:r>
              <a:rPr lang="en-US" sz="2400" dirty="0"/>
              <a:t>) is a sequence of characters that specifies a </a:t>
            </a:r>
            <a:r>
              <a:rPr lang="en-US" sz="2400" i="1" dirty="0">
                <a:hlinkClick r:id="rId4" tooltip="Pattern matching"/>
              </a:rPr>
              <a:t>search pattern</a:t>
            </a:r>
            <a:r>
              <a:rPr lang="en-US" sz="2400" dirty="0"/>
              <a:t> in text. Typically, such patterns are used by </a:t>
            </a:r>
            <a:r>
              <a:rPr lang="en-US" sz="2400" dirty="0">
                <a:hlinkClick r:id="rId5" tooltip="String-searching algorithm"/>
              </a:rPr>
              <a:t>string-searching algorithms</a:t>
            </a:r>
            <a:r>
              <a:rPr lang="en-US" sz="2400" dirty="0"/>
              <a:t> for "find" or "find and replace" operations on strings, or for input validation.</a:t>
            </a:r>
            <a:endParaRPr lang="en-BE" sz="2400" dirty="0"/>
          </a:p>
        </p:txBody>
      </p:sp>
      <p:pic>
        <p:nvPicPr>
          <p:cNvPr id="1026" name="Picture 2">
            <a:extLst>
              <a:ext uri="{FF2B5EF4-FFF2-40B4-BE49-F238E27FC236}">
                <a16:creationId xmlns:a16="http://schemas.microsoft.com/office/drawing/2014/main" id="{EE140A7B-008F-0154-A21B-A1F4C64DBA3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5461" b="35306"/>
          <a:stretch/>
        </p:blipFill>
        <p:spPr bwMode="auto">
          <a:xfrm>
            <a:off x="1219200" y="4266882"/>
            <a:ext cx="9753600" cy="191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18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en-US" noProof="0" dirty="0"/>
              <a:t>Regex – Stephen Cole Kleene </a:t>
            </a:r>
            <a:r>
              <a:rPr lang="en-US" sz="2000" noProof="0" dirty="0"/>
              <a:t>(mid 1950)</a:t>
            </a:r>
            <a:endParaRPr lang="en-US" noProof="0" dirty="0"/>
          </a:p>
        </p:txBody>
      </p:sp>
      <p:sp>
        <p:nvSpPr>
          <p:cNvPr id="3" name="Content Placeholder 2">
            <a:extLst>
              <a:ext uri="{FF2B5EF4-FFF2-40B4-BE49-F238E27FC236}">
                <a16:creationId xmlns:a16="http://schemas.microsoft.com/office/drawing/2014/main" id="{CE123ACB-DD68-4388-B607-763D7883FFC8}"/>
              </a:ext>
            </a:extLst>
          </p:cNvPr>
          <p:cNvSpPr>
            <a:spLocks noGrp="1"/>
          </p:cNvSpPr>
          <p:nvPr>
            <p:ph idx="1"/>
          </p:nvPr>
        </p:nvSpPr>
        <p:spPr>
          <a:xfrm>
            <a:off x="582705" y="1550895"/>
            <a:ext cx="10572697" cy="1121186"/>
          </a:xfrm>
        </p:spPr>
        <p:txBody>
          <a:bodyPr>
            <a:normAutofit/>
          </a:bodyPr>
          <a:lstStyle/>
          <a:p>
            <a:r>
              <a:rPr lang="en-US" noProof="0" dirty="0"/>
              <a:t>Regular expressions </a:t>
            </a:r>
            <a:r>
              <a:rPr lang="en-US" noProof="0" dirty="0">
                <a:sym typeface="Wingdings" panose="05000000000000000000" pitchFamily="2" charset="2"/>
              </a:rPr>
              <a:t></a:t>
            </a:r>
            <a:r>
              <a:rPr lang="en-US" noProof="0" dirty="0"/>
              <a:t> alternative notation for state machines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4</a:t>
            </a:fld>
            <a:endParaRPr lang="nl-BE"/>
          </a:p>
        </p:txBody>
      </p:sp>
      <p:grpSp>
        <p:nvGrpSpPr>
          <p:cNvPr id="6" name="Group 5">
            <a:extLst>
              <a:ext uri="{FF2B5EF4-FFF2-40B4-BE49-F238E27FC236}">
                <a16:creationId xmlns:a16="http://schemas.microsoft.com/office/drawing/2014/main" id="{902BD43A-A0E5-5F7A-63FB-2F6F944BEAD9}"/>
              </a:ext>
            </a:extLst>
          </p:cNvPr>
          <p:cNvGrpSpPr/>
          <p:nvPr/>
        </p:nvGrpSpPr>
        <p:grpSpPr>
          <a:xfrm>
            <a:off x="1005840" y="2937836"/>
            <a:ext cx="5667680" cy="1306119"/>
            <a:chOff x="2550160" y="2820970"/>
            <a:chExt cx="5667680" cy="1306119"/>
          </a:xfrm>
        </p:grpSpPr>
        <p:sp>
          <p:nvSpPr>
            <p:cNvPr id="5" name="Oval 4">
              <a:extLst>
                <a:ext uri="{FF2B5EF4-FFF2-40B4-BE49-F238E27FC236}">
                  <a16:creationId xmlns:a16="http://schemas.microsoft.com/office/drawing/2014/main" id="{E7B5BD53-0E04-4E72-4D06-C927B80320F7}"/>
                </a:ext>
              </a:extLst>
            </p:cNvPr>
            <p:cNvSpPr/>
            <p:nvPr/>
          </p:nvSpPr>
          <p:spPr>
            <a:xfrm>
              <a:off x="255016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0</a:t>
              </a:r>
              <a:endParaRPr lang="en-GB" dirty="0"/>
            </a:p>
          </p:txBody>
        </p:sp>
        <p:sp>
          <p:nvSpPr>
            <p:cNvPr id="7" name="Oval 6">
              <a:extLst>
                <a:ext uri="{FF2B5EF4-FFF2-40B4-BE49-F238E27FC236}">
                  <a16:creationId xmlns:a16="http://schemas.microsoft.com/office/drawing/2014/main" id="{CABEDF62-F6A6-8A21-1F63-1A022235783C}"/>
                </a:ext>
              </a:extLst>
            </p:cNvPr>
            <p:cNvSpPr/>
            <p:nvPr/>
          </p:nvSpPr>
          <p:spPr>
            <a:xfrm>
              <a:off x="482600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1</a:t>
              </a:r>
              <a:endParaRPr lang="en-GB" dirty="0"/>
            </a:p>
          </p:txBody>
        </p:sp>
        <p:grpSp>
          <p:nvGrpSpPr>
            <p:cNvPr id="11" name="Group 10">
              <a:extLst>
                <a:ext uri="{FF2B5EF4-FFF2-40B4-BE49-F238E27FC236}">
                  <a16:creationId xmlns:a16="http://schemas.microsoft.com/office/drawing/2014/main" id="{38BE6413-F66C-5443-AD94-2F2037B76559}"/>
                </a:ext>
              </a:extLst>
            </p:cNvPr>
            <p:cNvGrpSpPr/>
            <p:nvPr/>
          </p:nvGrpSpPr>
          <p:grpSpPr>
            <a:xfrm>
              <a:off x="7065840" y="2975089"/>
              <a:ext cx="1152000" cy="1152000"/>
              <a:chOff x="5826320" y="3069920"/>
              <a:chExt cx="1152000" cy="1152000"/>
            </a:xfrm>
          </p:grpSpPr>
          <p:sp>
            <p:nvSpPr>
              <p:cNvPr id="9" name="Oval 8">
                <a:extLst>
                  <a:ext uri="{FF2B5EF4-FFF2-40B4-BE49-F238E27FC236}">
                    <a16:creationId xmlns:a16="http://schemas.microsoft.com/office/drawing/2014/main" id="{139CA497-9622-EC85-0371-3E71F10ABF73}"/>
                  </a:ext>
                </a:extLst>
              </p:cNvPr>
              <p:cNvSpPr/>
              <p:nvPr/>
            </p:nvSpPr>
            <p:spPr>
              <a:xfrm>
                <a:off x="5862320" y="3105920"/>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sp>
            <p:nvSpPr>
              <p:cNvPr id="10" name="Oval 9">
                <a:extLst>
                  <a:ext uri="{FF2B5EF4-FFF2-40B4-BE49-F238E27FC236}">
                    <a16:creationId xmlns:a16="http://schemas.microsoft.com/office/drawing/2014/main" id="{19447F70-D2EA-B721-EC36-E96C4B7917F2}"/>
                  </a:ext>
                </a:extLst>
              </p:cNvPr>
              <p:cNvSpPr/>
              <p:nvPr/>
            </p:nvSpPr>
            <p:spPr>
              <a:xfrm>
                <a:off x="5826320" y="3069920"/>
                <a:ext cx="1152000" cy="1152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grpSp>
        <p:cxnSp>
          <p:nvCxnSpPr>
            <p:cNvPr id="13" name="Straight Arrow Connector 12">
              <a:extLst>
                <a:ext uri="{FF2B5EF4-FFF2-40B4-BE49-F238E27FC236}">
                  <a16:creationId xmlns:a16="http://schemas.microsoft.com/office/drawing/2014/main" id="{38D3172B-EB5C-53B9-DF9C-629F1C768966}"/>
                </a:ext>
              </a:extLst>
            </p:cNvPr>
            <p:cNvCxnSpPr>
              <a:stCxn id="5" idx="6"/>
              <a:endCxn id="7" idx="2"/>
            </p:cNvCxnSpPr>
            <p:nvPr/>
          </p:nvCxnSpPr>
          <p:spPr>
            <a:xfrm>
              <a:off x="363016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0DB28AF-B36F-F538-054A-2A69EDA380F4}"/>
                </a:ext>
              </a:extLst>
            </p:cNvPr>
            <p:cNvCxnSpPr/>
            <p:nvPr/>
          </p:nvCxnSpPr>
          <p:spPr>
            <a:xfrm>
              <a:off x="590600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D10BC79-7771-9DE1-C4FC-AD58E243E210}"/>
                </a:ext>
              </a:extLst>
            </p:cNvPr>
            <p:cNvSpPr txBox="1"/>
            <p:nvPr/>
          </p:nvSpPr>
          <p:spPr>
            <a:xfrm>
              <a:off x="3916680" y="2820970"/>
              <a:ext cx="782320" cy="707886"/>
            </a:xfrm>
            <a:prstGeom prst="rect">
              <a:avLst/>
            </a:prstGeom>
            <a:noFill/>
          </p:spPr>
          <p:txBody>
            <a:bodyPr wrap="square" rtlCol="0">
              <a:spAutoFit/>
            </a:bodyPr>
            <a:lstStyle/>
            <a:p>
              <a:r>
                <a:rPr lang="nl-BE" sz="4000" b="1" dirty="0"/>
                <a:t>a</a:t>
              </a:r>
              <a:endParaRPr lang="en-GB" b="1" dirty="0"/>
            </a:p>
          </p:txBody>
        </p:sp>
        <p:sp>
          <p:nvSpPr>
            <p:cNvPr id="22" name="TextBox 21">
              <a:extLst>
                <a:ext uri="{FF2B5EF4-FFF2-40B4-BE49-F238E27FC236}">
                  <a16:creationId xmlns:a16="http://schemas.microsoft.com/office/drawing/2014/main" id="{9A202A41-E5E5-1E37-D56B-E97E1924D044}"/>
                </a:ext>
              </a:extLst>
            </p:cNvPr>
            <p:cNvSpPr txBox="1"/>
            <p:nvPr/>
          </p:nvSpPr>
          <p:spPr>
            <a:xfrm>
              <a:off x="6203680" y="2820970"/>
              <a:ext cx="782320" cy="707886"/>
            </a:xfrm>
            <a:prstGeom prst="rect">
              <a:avLst/>
            </a:prstGeom>
            <a:noFill/>
          </p:spPr>
          <p:txBody>
            <a:bodyPr wrap="square" rtlCol="0">
              <a:spAutoFit/>
            </a:bodyPr>
            <a:lstStyle/>
            <a:p>
              <a:r>
                <a:rPr lang="nl-BE" sz="4000" b="1" dirty="0"/>
                <a:t>c</a:t>
              </a:r>
              <a:endParaRPr lang="en-GB" b="1" dirty="0"/>
            </a:p>
          </p:txBody>
        </p:sp>
      </p:grpSp>
      <p:sp>
        <p:nvSpPr>
          <p:cNvPr id="8" name="TextBox 7">
            <a:extLst>
              <a:ext uri="{FF2B5EF4-FFF2-40B4-BE49-F238E27FC236}">
                <a16:creationId xmlns:a16="http://schemas.microsoft.com/office/drawing/2014/main" id="{673D69A2-5E22-F07F-0A0F-2C74CB2DB5C6}"/>
              </a:ext>
            </a:extLst>
          </p:cNvPr>
          <p:cNvSpPr txBox="1"/>
          <p:nvPr/>
        </p:nvSpPr>
        <p:spPr>
          <a:xfrm>
            <a:off x="7864117" y="3091718"/>
            <a:ext cx="3322043" cy="954107"/>
          </a:xfrm>
          <a:prstGeom prst="rect">
            <a:avLst/>
          </a:prstGeom>
          <a:noFill/>
        </p:spPr>
        <p:txBody>
          <a:bodyPr wrap="square" rtlCol="0">
            <a:spAutoFit/>
          </a:bodyPr>
          <a:lstStyle/>
          <a:p>
            <a:r>
              <a:rPr lang="nl-BE" sz="2800" dirty="0">
                <a:solidFill>
                  <a:srgbClr val="00B050"/>
                </a:solidFill>
              </a:rPr>
              <a:t>Visual</a:t>
            </a:r>
          </a:p>
          <a:p>
            <a:r>
              <a:rPr lang="nl-BE" sz="2800" dirty="0" err="1">
                <a:solidFill>
                  <a:srgbClr val="00B050"/>
                </a:solidFill>
              </a:rPr>
              <a:t>Readable</a:t>
            </a:r>
            <a:endParaRPr lang="en-GB" sz="2800" dirty="0">
              <a:solidFill>
                <a:srgbClr val="00B050"/>
              </a:solidFill>
            </a:endParaRPr>
          </a:p>
        </p:txBody>
      </p:sp>
      <p:sp>
        <p:nvSpPr>
          <p:cNvPr id="15" name="TextBox 14">
            <a:extLst>
              <a:ext uri="{FF2B5EF4-FFF2-40B4-BE49-F238E27FC236}">
                <a16:creationId xmlns:a16="http://schemas.microsoft.com/office/drawing/2014/main" id="{A34AB0C1-241F-F338-3117-E43113E109A0}"/>
              </a:ext>
            </a:extLst>
          </p:cNvPr>
          <p:cNvSpPr txBox="1"/>
          <p:nvPr/>
        </p:nvSpPr>
        <p:spPr>
          <a:xfrm>
            <a:off x="2856127" y="5618480"/>
            <a:ext cx="1959960" cy="584775"/>
          </a:xfrm>
          <a:prstGeom prst="rect">
            <a:avLst/>
          </a:prstGeom>
          <a:noFill/>
        </p:spPr>
        <p:txBody>
          <a:bodyPr wrap="none" rtlCol="0">
            <a:spAutoFit/>
          </a:bodyPr>
          <a:lstStyle/>
          <a:p>
            <a:r>
              <a:rPr lang="nl-BE" sz="3200" b="1" dirty="0" err="1"/>
              <a:t>Regex</a:t>
            </a:r>
            <a:r>
              <a:rPr lang="nl-BE" sz="3200" b="1" dirty="0"/>
              <a:t> = </a:t>
            </a:r>
            <a:r>
              <a:rPr lang="nl-BE" sz="3200" b="1" dirty="0" err="1"/>
              <a:t>ac</a:t>
            </a:r>
            <a:endParaRPr lang="en-GB" sz="3200" b="1" dirty="0"/>
          </a:p>
        </p:txBody>
      </p:sp>
      <p:sp>
        <p:nvSpPr>
          <p:cNvPr id="16" name="TextBox 15">
            <a:extLst>
              <a:ext uri="{FF2B5EF4-FFF2-40B4-BE49-F238E27FC236}">
                <a16:creationId xmlns:a16="http://schemas.microsoft.com/office/drawing/2014/main" id="{2534A1EC-C354-209A-EAEB-F261E9B7A3F5}"/>
              </a:ext>
            </a:extLst>
          </p:cNvPr>
          <p:cNvSpPr txBox="1"/>
          <p:nvPr/>
        </p:nvSpPr>
        <p:spPr>
          <a:xfrm>
            <a:off x="7833359" y="5249148"/>
            <a:ext cx="3322043" cy="1384995"/>
          </a:xfrm>
          <a:prstGeom prst="rect">
            <a:avLst/>
          </a:prstGeom>
          <a:noFill/>
        </p:spPr>
        <p:txBody>
          <a:bodyPr wrap="square" rtlCol="0">
            <a:spAutoFit/>
          </a:bodyPr>
          <a:lstStyle/>
          <a:p>
            <a:r>
              <a:rPr lang="nl-BE" sz="2800" dirty="0">
                <a:solidFill>
                  <a:srgbClr val="00B050"/>
                </a:solidFill>
              </a:rPr>
              <a:t>Compact </a:t>
            </a:r>
          </a:p>
          <a:p>
            <a:r>
              <a:rPr lang="nl-BE" sz="2800" dirty="0" err="1">
                <a:solidFill>
                  <a:srgbClr val="00B050"/>
                </a:solidFill>
              </a:rPr>
              <a:t>Transferable</a:t>
            </a:r>
            <a:endParaRPr lang="nl-BE" sz="2800" dirty="0">
              <a:solidFill>
                <a:srgbClr val="00B050"/>
              </a:solidFill>
            </a:endParaRPr>
          </a:p>
          <a:p>
            <a:r>
              <a:rPr lang="nl-BE" sz="2800" dirty="0">
                <a:solidFill>
                  <a:srgbClr val="00B050"/>
                </a:solidFill>
              </a:rPr>
              <a:t>Easy </a:t>
            </a:r>
            <a:r>
              <a:rPr lang="nl-BE" sz="2800" dirty="0" err="1">
                <a:solidFill>
                  <a:srgbClr val="00B050"/>
                </a:solidFill>
              </a:rPr>
              <a:t>to</a:t>
            </a:r>
            <a:r>
              <a:rPr lang="nl-BE" sz="2800" dirty="0">
                <a:solidFill>
                  <a:srgbClr val="00B050"/>
                </a:solidFill>
              </a:rPr>
              <a:t> code</a:t>
            </a:r>
            <a:endParaRPr lang="en-GB" sz="2800" dirty="0">
              <a:solidFill>
                <a:srgbClr val="00B050"/>
              </a:solidFill>
            </a:endParaRPr>
          </a:p>
        </p:txBody>
      </p:sp>
      <p:sp>
        <p:nvSpPr>
          <p:cNvPr id="17" name="Equals 16">
            <a:extLst>
              <a:ext uri="{FF2B5EF4-FFF2-40B4-BE49-F238E27FC236}">
                <a16:creationId xmlns:a16="http://schemas.microsoft.com/office/drawing/2014/main" id="{45B218BF-6C7D-85C2-2595-90B0AC70F48F}"/>
              </a:ext>
            </a:extLst>
          </p:cNvPr>
          <p:cNvSpPr/>
          <p:nvPr/>
        </p:nvSpPr>
        <p:spPr>
          <a:xfrm>
            <a:off x="3296107" y="4584072"/>
            <a:ext cx="1080000" cy="619757"/>
          </a:xfrm>
          <a:prstGeom prst="mathEqual">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solidFill>
                <a:schemeClr val="tx1"/>
              </a:solidFill>
            </a:endParaRPr>
          </a:p>
        </p:txBody>
      </p:sp>
      <p:sp>
        <p:nvSpPr>
          <p:cNvPr id="12" name="TextBox 11">
            <a:extLst>
              <a:ext uri="{FF2B5EF4-FFF2-40B4-BE49-F238E27FC236}">
                <a16:creationId xmlns:a16="http://schemas.microsoft.com/office/drawing/2014/main" id="{80BE8BCC-BA00-452D-0E4D-60D05E70E6F6}"/>
              </a:ext>
            </a:extLst>
          </p:cNvPr>
          <p:cNvSpPr txBox="1"/>
          <p:nvPr/>
        </p:nvSpPr>
        <p:spPr>
          <a:xfrm>
            <a:off x="1151147" y="2471858"/>
            <a:ext cx="1362302" cy="523220"/>
          </a:xfrm>
          <a:prstGeom prst="rect">
            <a:avLst/>
          </a:prstGeom>
          <a:noFill/>
        </p:spPr>
        <p:txBody>
          <a:bodyPr wrap="square" rtlCol="0">
            <a:spAutoFit/>
          </a:bodyPr>
          <a:lstStyle/>
          <a:p>
            <a:r>
              <a:rPr lang="nl-BE" sz="2800" dirty="0"/>
              <a:t>start</a:t>
            </a:r>
            <a:endParaRPr lang="en-GB" dirty="0"/>
          </a:p>
        </p:txBody>
      </p:sp>
      <p:sp>
        <p:nvSpPr>
          <p:cNvPr id="18" name="TextBox 17">
            <a:extLst>
              <a:ext uri="{FF2B5EF4-FFF2-40B4-BE49-F238E27FC236}">
                <a16:creationId xmlns:a16="http://schemas.microsoft.com/office/drawing/2014/main" id="{E3BC6C5B-C3B8-2C0B-C37D-9039FD67B41F}"/>
              </a:ext>
            </a:extLst>
          </p:cNvPr>
          <p:cNvSpPr txBox="1"/>
          <p:nvPr/>
        </p:nvSpPr>
        <p:spPr>
          <a:xfrm>
            <a:off x="5597258" y="2471858"/>
            <a:ext cx="1362302" cy="523220"/>
          </a:xfrm>
          <a:prstGeom prst="rect">
            <a:avLst/>
          </a:prstGeom>
          <a:noFill/>
        </p:spPr>
        <p:txBody>
          <a:bodyPr wrap="square" rtlCol="0">
            <a:spAutoFit/>
          </a:bodyPr>
          <a:lstStyle/>
          <a:p>
            <a:r>
              <a:rPr lang="nl-BE" sz="2800" dirty="0"/>
              <a:t>finish</a:t>
            </a:r>
            <a:endParaRPr lang="en-GB" dirty="0"/>
          </a:p>
        </p:txBody>
      </p:sp>
    </p:spTree>
    <p:extLst>
      <p:ext uri="{BB962C8B-B14F-4D97-AF65-F5344CB8AC3E}">
        <p14:creationId xmlns:p14="http://schemas.microsoft.com/office/powerpoint/2010/main" val="3562660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normAutofit fontScale="90000"/>
          </a:bodyPr>
          <a:lstStyle/>
          <a:p>
            <a:r>
              <a:rPr lang="en-US" noProof="0" dirty="0"/>
              <a:t>Regex – alternative notation for state machines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5</a:t>
            </a:fld>
            <a:endParaRPr lang="nl-BE"/>
          </a:p>
        </p:txBody>
      </p:sp>
      <p:grpSp>
        <p:nvGrpSpPr>
          <p:cNvPr id="6" name="Group 5">
            <a:extLst>
              <a:ext uri="{FF2B5EF4-FFF2-40B4-BE49-F238E27FC236}">
                <a16:creationId xmlns:a16="http://schemas.microsoft.com/office/drawing/2014/main" id="{902BD43A-A0E5-5F7A-63FB-2F6F944BEAD9}"/>
              </a:ext>
            </a:extLst>
          </p:cNvPr>
          <p:cNvGrpSpPr/>
          <p:nvPr/>
        </p:nvGrpSpPr>
        <p:grpSpPr>
          <a:xfrm>
            <a:off x="1489956" y="2255791"/>
            <a:ext cx="5667680" cy="1306119"/>
            <a:chOff x="2550160" y="2820970"/>
            <a:chExt cx="5667680" cy="1306119"/>
          </a:xfrm>
        </p:grpSpPr>
        <p:sp>
          <p:nvSpPr>
            <p:cNvPr id="5" name="Oval 4">
              <a:extLst>
                <a:ext uri="{FF2B5EF4-FFF2-40B4-BE49-F238E27FC236}">
                  <a16:creationId xmlns:a16="http://schemas.microsoft.com/office/drawing/2014/main" id="{E7B5BD53-0E04-4E72-4D06-C927B80320F7}"/>
                </a:ext>
              </a:extLst>
            </p:cNvPr>
            <p:cNvSpPr/>
            <p:nvPr/>
          </p:nvSpPr>
          <p:spPr>
            <a:xfrm>
              <a:off x="255016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0</a:t>
              </a:r>
              <a:endParaRPr lang="en-GB" dirty="0"/>
            </a:p>
          </p:txBody>
        </p:sp>
        <p:sp>
          <p:nvSpPr>
            <p:cNvPr id="7" name="Oval 6">
              <a:extLst>
                <a:ext uri="{FF2B5EF4-FFF2-40B4-BE49-F238E27FC236}">
                  <a16:creationId xmlns:a16="http://schemas.microsoft.com/office/drawing/2014/main" id="{CABEDF62-F6A6-8A21-1F63-1A022235783C}"/>
                </a:ext>
              </a:extLst>
            </p:cNvPr>
            <p:cNvSpPr/>
            <p:nvPr/>
          </p:nvSpPr>
          <p:spPr>
            <a:xfrm>
              <a:off x="482600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1</a:t>
              </a:r>
              <a:endParaRPr lang="en-GB" dirty="0"/>
            </a:p>
          </p:txBody>
        </p:sp>
        <p:grpSp>
          <p:nvGrpSpPr>
            <p:cNvPr id="11" name="Group 10">
              <a:extLst>
                <a:ext uri="{FF2B5EF4-FFF2-40B4-BE49-F238E27FC236}">
                  <a16:creationId xmlns:a16="http://schemas.microsoft.com/office/drawing/2014/main" id="{38BE6413-F66C-5443-AD94-2F2037B76559}"/>
                </a:ext>
              </a:extLst>
            </p:cNvPr>
            <p:cNvGrpSpPr/>
            <p:nvPr/>
          </p:nvGrpSpPr>
          <p:grpSpPr>
            <a:xfrm>
              <a:off x="7065840" y="2975089"/>
              <a:ext cx="1152000" cy="1152000"/>
              <a:chOff x="5826320" y="3069920"/>
              <a:chExt cx="1152000" cy="1152000"/>
            </a:xfrm>
          </p:grpSpPr>
          <p:sp>
            <p:nvSpPr>
              <p:cNvPr id="9" name="Oval 8">
                <a:extLst>
                  <a:ext uri="{FF2B5EF4-FFF2-40B4-BE49-F238E27FC236}">
                    <a16:creationId xmlns:a16="http://schemas.microsoft.com/office/drawing/2014/main" id="{139CA497-9622-EC85-0371-3E71F10ABF73}"/>
                  </a:ext>
                </a:extLst>
              </p:cNvPr>
              <p:cNvSpPr/>
              <p:nvPr/>
            </p:nvSpPr>
            <p:spPr>
              <a:xfrm>
                <a:off x="5862320" y="3105920"/>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sp>
            <p:nvSpPr>
              <p:cNvPr id="10" name="Oval 9">
                <a:extLst>
                  <a:ext uri="{FF2B5EF4-FFF2-40B4-BE49-F238E27FC236}">
                    <a16:creationId xmlns:a16="http://schemas.microsoft.com/office/drawing/2014/main" id="{19447F70-D2EA-B721-EC36-E96C4B7917F2}"/>
                  </a:ext>
                </a:extLst>
              </p:cNvPr>
              <p:cNvSpPr/>
              <p:nvPr/>
            </p:nvSpPr>
            <p:spPr>
              <a:xfrm>
                <a:off x="5826320" y="3069920"/>
                <a:ext cx="1152000" cy="1152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grpSp>
        <p:cxnSp>
          <p:nvCxnSpPr>
            <p:cNvPr id="13" name="Straight Arrow Connector 12">
              <a:extLst>
                <a:ext uri="{FF2B5EF4-FFF2-40B4-BE49-F238E27FC236}">
                  <a16:creationId xmlns:a16="http://schemas.microsoft.com/office/drawing/2014/main" id="{38D3172B-EB5C-53B9-DF9C-629F1C768966}"/>
                </a:ext>
              </a:extLst>
            </p:cNvPr>
            <p:cNvCxnSpPr>
              <a:stCxn id="5" idx="6"/>
              <a:endCxn id="7" idx="2"/>
            </p:cNvCxnSpPr>
            <p:nvPr/>
          </p:nvCxnSpPr>
          <p:spPr>
            <a:xfrm>
              <a:off x="363016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0DB28AF-B36F-F538-054A-2A69EDA380F4}"/>
                </a:ext>
              </a:extLst>
            </p:cNvPr>
            <p:cNvCxnSpPr/>
            <p:nvPr/>
          </p:nvCxnSpPr>
          <p:spPr>
            <a:xfrm>
              <a:off x="590600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D10BC79-7771-9DE1-C4FC-AD58E243E210}"/>
                </a:ext>
              </a:extLst>
            </p:cNvPr>
            <p:cNvSpPr txBox="1"/>
            <p:nvPr/>
          </p:nvSpPr>
          <p:spPr>
            <a:xfrm>
              <a:off x="3916680" y="2820970"/>
              <a:ext cx="782320" cy="707886"/>
            </a:xfrm>
            <a:prstGeom prst="rect">
              <a:avLst/>
            </a:prstGeom>
            <a:noFill/>
          </p:spPr>
          <p:txBody>
            <a:bodyPr wrap="square" rtlCol="0">
              <a:spAutoFit/>
            </a:bodyPr>
            <a:lstStyle/>
            <a:p>
              <a:r>
                <a:rPr lang="nl-BE" sz="4000" b="1" dirty="0"/>
                <a:t>a</a:t>
              </a:r>
              <a:endParaRPr lang="en-GB" b="1" dirty="0"/>
            </a:p>
          </p:txBody>
        </p:sp>
        <p:sp>
          <p:nvSpPr>
            <p:cNvPr id="22" name="TextBox 21">
              <a:extLst>
                <a:ext uri="{FF2B5EF4-FFF2-40B4-BE49-F238E27FC236}">
                  <a16:creationId xmlns:a16="http://schemas.microsoft.com/office/drawing/2014/main" id="{9A202A41-E5E5-1E37-D56B-E97E1924D044}"/>
                </a:ext>
              </a:extLst>
            </p:cNvPr>
            <p:cNvSpPr txBox="1"/>
            <p:nvPr/>
          </p:nvSpPr>
          <p:spPr>
            <a:xfrm>
              <a:off x="6203680" y="2820970"/>
              <a:ext cx="782320" cy="707886"/>
            </a:xfrm>
            <a:prstGeom prst="rect">
              <a:avLst/>
            </a:prstGeom>
            <a:noFill/>
          </p:spPr>
          <p:txBody>
            <a:bodyPr wrap="square" rtlCol="0">
              <a:spAutoFit/>
            </a:bodyPr>
            <a:lstStyle/>
            <a:p>
              <a:r>
                <a:rPr lang="nl-BE" sz="4000" b="1" dirty="0"/>
                <a:t>c</a:t>
              </a:r>
              <a:endParaRPr lang="en-GB" b="1" dirty="0"/>
            </a:p>
          </p:txBody>
        </p:sp>
      </p:grpSp>
      <p:sp>
        <p:nvSpPr>
          <p:cNvPr id="8" name="TextBox 7">
            <a:extLst>
              <a:ext uri="{FF2B5EF4-FFF2-40B4-BE49-F238E27FC236}">
                <a16:creationId xmlns:a16="http://schemas.microsoft.com/office/drawing/2014/main" id="{673D69A2-5E22-F07F-0A0F-2C74CB2DB5C6}"/>
              </a:ext>
            </a:extLst>
          </p:cNvPr>
          <p:cNvSpPr txBox="1"/>
          <p:nvPr/>
        </p:nvSpPr>
        <p:spPr>
          <a:xfrm>
            <a:off x="8754633" y="2120279"/>
            <a:ext cx="2130711" cy="3108543"/>
          </a:xfrm>
          <a:prstGeom prst="rect">
            <a:avLst/>
          </a:prstGeom>
          <a:noFill/>
        </p:spPr>
        <p:txBody>
          <a:bodyPr wrap="none" rtlCol="0">
            <a:spAutoFit/>
          </a:bodyPr>
          <a:lstStyle/>
          <a:p>
            <a:r>
              <a:rPr lang="nl-BE" sz="2800" dirty="0"/>
              <a:t>Input Strings:</a:t>
            </a:r>
          </a:p>
          <a:p>
            <a:endParaRPr lang="nl-BE" sz="2800" dirty="0"/>
          </a:p>
          <a:p>
            <a:r>
              <a:rPr lang="nl-BE" sz="2800" dirty="0"/>
              <a:t>abc</a:t>
            </a:r>
          </a:p>
          <a:p>
            <a:r>
              <a:rPr lang="nl-BE" sz="2800" dirty="0" err="1"/>
              <a:t>ac</a:t>
            </a:r>
            <a:endParaRPr lang="nl-BE" sz="2800" dirty="0"/>
          </a:p>
          <a:p>
            <a:r>
              <a:rPr lang="nl-BE" sz="2800" dirty="0" err="1"/>
              <a:t>abbc</a:t>
            </a:r>
            <a:endParaRPr lang="nl-BE" sz="2800" dirty="0"/>
          </a:p>
          <a:p>
            <a:r>
              <a:rPr lang="nl-BE" sz="2800" dirty="0" err="1"/>
              <a:t>aacc</a:t>
            </a:r>
            <a:endParaRPr lang="nl-BE" sz="2800" dirty="0"/>
          </a:p>
          <a:p>
            <a:r>
              <a:rPr lang="en-GB" sz="2800" dirty="0" err="1"/>
              <a:t>accu</a:t>
            </a:r>
            <a:endParaRPr lang="en-GB" sz="2800" dirty="0"/>
          </a:p>
        </p:txBody>
      </p:sp>
      <p:sp>
        <p:nvSpPr>
          <p:cNvPr id="12" name="Arrow: Down 11">
            <a:extLst>
              <a:ext uri="{FF2B5EF4-FFF2-40B4-BE49-F238E27FC236}">
                <a16:creationId xmlns:a16="http://schemas.microsoft.com/office/drawing/2014/main" id="{BF75C53D-EDC3-05E4-6297-8CDEFCB1C1D1}"/>
              </a:ext>
            </a:extLst>
          </p:cNvPr>
          <p:cNvSpPr/>
          <p:nvPr/>
        </p:nvSpPr>
        <p:spPr>
          <a:xfrm>
            <a:off x="3995916" y="3818835"/>
            <a:ext cx="619760" cy="94488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A34AB0C1-241F-F338-3117-E43113E109A0}"/>
              </a:ext>
            </a:extLst>
          </p:cNvPr>
          <p:cNvSpPr txBox="1"/>
          <p:nvPr/>
        </p:nvSpPr>
        <p:spPr>
          <a:xfrm>
            <a:off x="3340243" y="4936435"/>
            <a:ext cx="1959960" cy="584775"/>
          </a:xfrm>
          <a:prstGeom prst="rect">
            <a:avLst/>
          </a:prstGeom>
          <a:noFill/>
        </p:spPr>
        <p:txBody>
          <a:bodyPr wrap="none" rtlCol="0">
            <a:spAutoFit/>
          </a:bodyPr>
          <a:lstStyle/>
          <a:p>
            <a:r>
              <a:rPr lang="nl-BE" sz="3200" b="1" dirty="0" err="1"/>
              <a:t>Regex</a:t>
            </a:r>
            <a:r>
              <a:rPr lang="nl-BE" sz="3200" b="1" dirty="0"/>
              <a:t> = </a:t>
            </a:r>
            <a:r>
              <a:rPr lang="nl-BE" sz="3200" b="1" dirty="0" err="1"/>
              <a:t>ac</a:t>
            </a:r>
            <a:endParaRPr lang="en-GB" sz="3200" b="1" dirty="0"/>
          </a:p>
        </p:txBody>
      </p:sp>
    </p:spTree>
    <p:extLst>
      <p:ext uri="{BB962C8B-B14F-4D97-AF65-F5344CB8AC3E}">
        <p14:creationId xmlns:p14="http://schemas.microsoft.com/office/powerpoint/2010/main" val="351710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normAutofit fontScale="90000"/>
          </a:bodyPr>
          <a:lstStyle/>
          <a:p>
            <a:r>
              <a:rPr lang="en-US" noProof="0" dirty="0"/>
              <a:t>Regex – alternative notation for state machines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6</a:t>
            </a:fld>
            <a:endParaRPr lang="nl-BE"/>
          </a:p>
        </p:txBody>
      </p:sp>
      <p:grpSp>
        <p:nvGrpSpPr>
          <p:cNvPr id="6" name="Group 5">
            <a:extLst>
              <a:ext uri="{FF2B5EF4-FFF2-40B4-BE49-F238E27FC236}">
                <a16:creationId xmlns:a16="http://schemas.microsoft.com/office/drawing/2014/main" id="{902BD43A-A0E5-5F7A-63FB-2F6F944BEAD9}"/>
              </a:ext>
            </a:extLst>
          </p:cNvPr>
          <p:cNvGrpSpPr/>
          <p:nvPr/>
        </p:nvGrpSpPr>
        <p:grpSpPr>
          <a:xfrm>
            <a:off x="1503680" y="2255791"/>
            <a:ext cx="5667680" cy="1306119"/>
            <a:chOff x="2550160" y="2820970"/>
            <a:chExt cx="5667680" cy="1306119"/>
          </a:xfrm>
        </p:grpSpPr>
        <p:sp>
          <p:nvSpPr>
            <p:cNvPr id="5" name="Oval 4">
              <a:extLst>
                <a:ext uri="{FF2B5EF4-FFF2-40B4-BE49-F238E27FC236}">
                  <a16:creationId xmlns:a16="http://schemas.microsoft.com/office/drawing/2014/main" id="{E7B5BD53-0E04-4E72-4D06-C927B80320F7}"/>
                </a:ext>
              </a:extLst>
            </p:cNvPr>
            <p:cNvSpPr/>
            <p:nvPr/>
          </p:nvSpPr>
          <p:spPr>
            <a:xfrm>
              <a:off x="255016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0</a:t>
              </a:r>
              <a:endParaRPr lang="en-GB" dirty="0"/>
            </a:p>
          </p:txBody>
        </p:sp>
        <p:sp>
          <p:nvSpPr>
            <p:cNvPr id="7" name="Oval 6">
              <a:extLst>
                <a:ext uri="{FF2B5EF4-FFF2-40B4-BE49-F238E27FC236}">
                  <a16:creationId xmlns:a16="http://schemas.microsoft.com/office/drawing/2014/main" id="{CABEDF62-F6A6-8A21-1F63-1A022235783C}"/>
                </a:ext>
              </a:extLst>
            </p:cNvPr>
            <p:cNvSpPr/>
            <p:nvPr/>
          </p:nvSpPr>
          <p:spPr>
            <a:xfrm>
              <a:off x="482600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1</a:t>
              </a:r>
              <a:endParaRPr lang="en-GB" dirty="0"/>
            </a:p>
          </p:txBody>
        </p:sp>
        <p:grpSp>
          <p:nvGrpSpPr>
            <p:cNvPr id="11" name="Group 10">
              <a:extLst>
                <a:ext uri="{FF2B5EF4-FFF2-40B4-BE49-F238E27FC236}">
                  <a16:creationId xmlns:a16="http://schemas.microsoft.com/office/drawing/2014/main" id="{38BE6413-F66C-5443-AD94-2F2037B76559}"/>
                </a:ext>
              </a:extLst>
            </p:cNvPr>
            <p:cNvGrpSpPr/>
            <p:nvPr/>
          </p:nvGrpSpPr>
          <p:grpSpPr>
            <a:xfrm>
              <a:off x="7065840" y="2975089"/>
              <a:ext cx="1152000" cy="1152000"/>
              <a:chOff x="5826320" y="3069920"/>
              <a:chExt cx="1152000" cy="1152000"/>
            </a:xfrm>
          </p:grpSpPr>
          <p:sp>
            <p:nvSpPr>
              <p:cNvPr id="9" name="Oval 8">
                <a:extLst>
                  <a:ext uri="{FF2B5EF4-FFF2-40B4-BE49-F238E27FC236}">
                    <a16:creationId xmlns:a16="http://schemas.microsoft.com/office/drawing/2014/main" id="{139CA497-9622-EC85-0371-3E71F10ABF73}"/>
                  </a:ext>
                </a:extLst>
              </p:cNvPr>
              <p:cNvSpPr/>
              <p:nvPr/>
            </p:nvSpPr>
            <p:spPr>
              <a:xfrm>
                <a:off x="5862320" y="3105920"/>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sp>
            <p:nvSpPr>
              <p:cNvPr id="10" name="Oval 9">
                <a:extLst>
                  <a:ext uri="{FF2B5EF4-FFF2-40B4-BE49-F238E27FC236}">
                    <a16:creationId xmlns:a16="http://schemas.microsoft.com/office/drawing/2014/main" id="{19447F70-D2EA-B721-EC36-E96C4B7917F2}"/>
                  </a:ext>
                </a:extLst>
              </p:cNvPr>
              <p:cNvSpPr/>
              <p:nvPr/>
            </p:nvSpPr>
            <p:spPr>
              <a:xfrm>
                <a:off x="5826320" y="3069920"/>
                <a:ext cx="1152000" cy="1152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grpSp>
        <p:cxnSp>
          <p:nvCxnSpPr>
            <p:cNvPr id="13" name="Straight Arrow Connector 12">
              <a:extLst>
                <a:ext uri="{FF2B5EF4-FFF2-40B4-BE49-F238E27FC236}">
                  <a16:creationId xmlns:a16="http://schemas.microsoft.com/office/drawing/2014/main" id="{38D3172B-EB5C-53B9-DF9C-629F1C768966}"/>
                </a:ext>
              </a:extLst>
            </p:cNvPr>
            <p:cNvCxnSpPr>
              <a:stCxn id="5" idx="6"/>
              <a:endCxn id="7" idx="2"/>
            </p:cNvCxnSpPr>
            <p:nvPr/>
          </p:nvCxnSpPr>
          <p:spPr>
            <a:xfrm>
              <a:off x="363016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0DB28AF-B36F-F538-054A-2A69EDA380F4}"/>
                </a:ext>
              </a:extLst>
            </p:cNvPr>
            <p:cNvCxnSpPr/>
            <p:nvPr/>
          </p:nvCxnSpPr>
          <p:spPr>
            <a:xfrm>
              <a:off x="590600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D10BC79-7771-9DE1-C4FC-AD58E243E210}"/>
                </a:ext>
              </a:extLst>
            </p:cNvPr>
            <p:cNvSpPr txBox="1"/>
            <p:nvPr/>
          </p:nvSpPr>
          <p:spPr>
            <a:xfrm>
              <a:off x="3916680" y="2820970"/>
              <a:ext cx="782320" cy="707886"/>
            </a:xfrm>
            <a:prstGeom prst="rect">
              <a:avLst/>
            </a:prstGeom>
            <a:noFill/>
          </p:spPr>
          <p:txBody>
            <a:bodyPr wrap="square" rtlCol="0">
              <a:spAutoFit/>
            </a:bodyPr>
            <a:lstStyle/>
            <a:p>
              <a:r>
                <a:rPr lang="nl-BE" sz="4000" b="1" dirty="0"/>
                <a:t>a</a:t>
              </a:r>
              <a:endParaRPr lang="en-GB" b="1" dirty="0"/>
            </a:p>
          </p:txBody>
        </p:sp>
        <p:sp>
          <p:nvSpPr>
            <p:cNvPr id="22" name="TextBox 21">
              <a:extLst>
                <a:ext uri="{FF2B5EF4-FFF2-40B4-BE49-F238E27FC236}">
                  <a16:creationId xmlns:a16="http://schemas.microsoft.com/office/drawing/2014/main" id="{9A202A41-E5E5-1E37-D56B-E97E1924D044}"/>
                </a:ext>
              </a:extLst>
            </p:cNvPr>
            <p:cNvSpPr txBox="1"/>
            <p:nvPr/>
          </p:nvSpPr>
          <p:spPr>
            <a:xfrm>
              <a:off x="6203680" y="2820970"/>
              <a:ext cx="782320" cy="707886"/>
            </a:xfrm>
            <a:prstGeom prst="rect">
              <a:avLst/>
            </a:prstGeom>
            <a:noFill/>
          </p:spPr>
          <p:txBody>
            <a:bodyPr wrap="square" rtlCol="0">
              <a:spAutoFit/>
            </a:bodyPr>
            <a:lstStyle/>
            <a:p>
              <a:r>
                <a:rPr lang="nl-BE" sz="4000" b="1" dirty="0"/>
                <a:t>c</a:t>
              </a:r>
              <a:endParaRPr lang="en-GB" b="1" dirty="0"/>
            </a:p>
          </p:txBody>
        </p:sp>
      </p:grpSp>
      <p:sp>
        <p:nvSpPr>
          <p:cNvPr id="8" name="TextBox 7">
            <a:extLst>
              <a:ext uri="{FF2B5EF4-FFF2-40B4-BE49-F238E27FC236}">
                <a16:creationId xmlns:a16="http://schemas.microsoft.com/office/drawing/2014/main" id="{673D69A2-5E22-F07F-0A0F-2C74CB2DB5C6}"/>
              </a:ext>
            </a:extLst>
          </p:cNvPr>
          <p:cNvSpPr txBox="1"/>
          <p:nvPr/>
        </p:nvSpPr>
        <p:spPr>
          <a:xfrm>
            <a:off x="8768357" y="2120279"/>
            <a:ext cx="2130711" cy="3108543"/>
          </a:xfrm>
          <a:prstGeom prst="rect">
            <a:avLst/>
          </a:prstGeom>
          <a:noFill/>
        </p:spPr>
        <p:txBody>
          <a:bodyPr wrap="none" rtlCol="0">
            <a:spAutoFit/>
          </a:bodyPr>
          <a:lstStyle/>
          <a:p>
            <a:r>
              <a:rPr lang="nl-BE" sz="2800" dirty="0"/>
              <a:t>Input Strings:</a:t>
            </a:r>
          </a:p>
          <a:p>
            <a:endParaRPr lang="nl-BE" sz="2800" dirty="0"/>
          </a:p>
          <a:p>
            <a:r>
              <a:rPr lang="nl-BE" sz="2800" dirty="0"/>
              <a:t>abc</a:t>
            </a:r>
          </a:p>
          <a:p>
            <a:r>
              <a:rPr lang="nl-BE" sz="2800" dirty="0" err="1">
                <a:solidFill>
                  <a:srgbClr val="00B050"/>
                </a:solidFill>
              </a:rPr>
              <a:t>ac</a:t>
            </a:r>
            <a:endParaRPr lang="nl-BE" sz="2800" dirty="0">
              <a:solidFill>
                <a:srgbClr val="00B050"/>
              </a:solidFill>
            </a:endParaRPr>
          </a:p>
          <a:p>
            <a:r>
              <a:rPr lang="nl-BE" sz="2800" dirty="0" err="1"/>
              <a:t>abbc</a:t>
            </a:r>
            <a:endParaRPr lang="nl-BE" sz="2800" dirty="0"/>
          </a:p>
          <a:p>
            <a:r>
              <a:rPr lang="nl-BE" sz="2800" dirty="0" err="1"/>
              <a:t>a</a:t>
            </a:r>
            <a:r>
              <a:rPr lang="nl-BE" sz="2800" dirty="0" err="1">
                <a:solidFill>
                  <a:srgbClr val="00B050"/>
                </a:solidFill>
              </a:rPr>
              <a:t>ac</a:t>
            </a:r>
            <a:r>
              <a:rPr lang="nl-BE" sz="2800" dirty="0" err="1"/>
              <a:t>c</a:t>
            </a:r>
            <a:endParaRPr lang="nl-BE" sz="2800" dirty="0"/>
          </a:p>
          <a:p>
            <a:r>
              <a:rPr lang="en-GB" sz="2800" dirty="0" err="1">
                <a:solidFill>
                  <a:srgbClr val="00B050"/>
                </a:solidFill>
              </a:rPr>
              <a:t>ac</a:t>
            </a:r>
            <a:r>
              <a:rPr lang="en-GB" sz="2800" dirty="0" err="1"/>
              <a:t>cu</a:t>
            </a:r>
            <a:endParaRPr lang="en-GB" sz="2800" dirty="0"/>
          </a:p>
        </p:txBody>
      </p:sp>
      <p:sp>
        <p:nvSpPr>
          <p:cNvPr id="12" name="Arrow: Down 11">
            <a:extLst>
              <a:ext uri="{FF2B5EF4-FFF2-40B4-BE49-F238E27FC236}">
                <a16:creationId xmlns:a16="http://schemas.microsoft.com/office/drawing/2014/main" id="{BF75C53D-EDC3-05E4-6297-8CDEFCB1C1D1}"/>
              </a:ext>
            </a:extLst>
          </p:cNvPr>
          <p:cNvSpPr/>
          <p:nvPr/>
        </p:nvSpPr>
        <p:spPr>
          <a:xfrm>
            <a:off x="4009640" y="3818835"/>
            <a:ext cx="619760" cy="94488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A34AB0C1-241F-F338-3117-E43113E109A0}"/>
              </a:ext>
            </a:extLst>
          </p:cNvPr>
          <p:cNvSpPr txBox="1"/>
          <p:nvPr/>
        </p:nvSpPr>
        <p:spPr>
          <a:xfrm>
            <a:off x="3353967" y="4936435"/>
            <a:ext cx="1959960" cy="584775"/>
          </a:xfrm>
          <a:prstGeom prst="rect">
            <a:avLst/>
          </a:prstGeom>
          <a:noFill/>
        </p:spPr>
        <p:txBody>
          <a:bodyPr wrap="none" rtlCol="0">
            <a:spAutoFit/>
          </a:bodyPr>
          <a:lstStyle/>
          <a:p>
            <a:r>
              <a:rPr lang="nl-BE" sz="3200" b="1" dirty="0" err="1"/>
              <a:t>Regex</a:t>
            </a:r>
            <a:r>
              <a:rPr lang="nl-BE" sz="3200" b="1" dirty="0"/>
              <a:t> = </a:t>
            </a:r>
            <a:r>
              <a:rPr lang="nl-BE" sz="3200" b="1" dirty="0" err="1"/>
              <a:t>ac</a:t>
            </a:r>
            <a:endParaRPr lang="en-GB" sz="3200" b="1" dirty="0"/>
          </a:p>
        </p:txBody>
      </p:sp>
    </p:spTree>
    <p:extLst>
      <p:ext uri="{BB962C8B-B14F-4D97-AF65-F5344CB8AC3E}">
        <p14:creationId xmlns:p14="http://schemas.microsoft.com/office/powerpoint/2010/main" val="2868390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normAutofit fontScale="90000"/>
          </a:bodyPr>
          <a:lstStyle/>
          <a:p>
            <a:r>
              <a:rPr lang="en-US" noProof="0" dirty="0"/>
              <a:t>Regex – alternative notation for state machines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7</a:t>
            </a:fld>
            <a:endParaRPr lang="nl-BE"/>
          </a:p>
        </p:txBody>
      </p:sp>
      <p:grpSp>
        <p:nvGrpSpPr>
          <p:cNvPr id="26" name="Group 25">
            <a:extLst>
              <a:ext uri="{FF2B5EF4-FFF2-40B4-BE49-F238E27FC236}">
                <a16:creationId xmlns:a16="http://schemas.microsoft.com/office/drawing/2014/main" id="{CE62E51D-B92A-922C-8403-F4E2D8D7D8F8}"/>
              </a:ext>
            </a:extLst>
          </p:cNvPr>
          <p:cNvGrpSpPr/>
          <p:nvPr/>
        </p:nvGrpSpPr>
        <p:grpSpPr>
          <a:xfrm>
            <a:off x="1371600" y="1967038"/>
            <a:ext cx="5667680" cy="1999550"/>
            <a:chOff x="2550160" y="2820970"/>
            <a:chExt cx="5667680" cy="1999550"/>
          </a:xfrm>
        </p:grpSpPr>
        <p:sp>
          <p:nvSpPr>
            <p:cNvPr id="5" name="Oval 4">
              <a:extLst>
                <a:ext uri="{FF2B5EF4-FFF2-40B4-BE49-F238E27FC236}">
                  <a16:creationId xmlns:a16="http://schemas.microsoft.com/office/drawing/2014/main" id="{E7B5BD53-0E04-4E72-4D06-C927B80320F7}"/>
                </a:ext>
              </a:extLst>
            </p:cNvPr>
            <p:cNvSpPr/>
            <p:nvPr/>
          </p:nvSpPr>
          <p:spPr>
            <a:xfrm>
              <a:off x="255016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0</a:t>
              </a:r>
              <a:endParaRPr lang="en-GB" dirty="0"/>
            </a:p>
          </p:txBody>
        </p:sp>
        <p:sp>
          <p:nvSpPr>
            <p:cNvPr id="7" name="Oval 6">
              <a:extLst>
                <a:ext uri="{FF2B5EF4-FFF2-40B4-BE49-F238E27FC236}">
                  <a16:creationId xmlns:a16="http://schemas.microsoft.com/office/drawing/2014/main" id="{CABEDF62-F6A6-8A21-1F63-1A022235783C}"/>
                </a:ext>
              </a:extLst>
            </p:cNvPr>
            <p:cNvSpPr/>
            <p:nvPr/>
          </p:nvSpPr>
          <p:spPr>
            <a:xfrm>
              <a:off x="482600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1</a:t>
              </a:r>
              <a:endParaRPr lang="en-GB" dirty="0"/>
            </a:p>
          </p:txBody>
        </p:sp>
        <p:grpSp>
          <p:nvGrpSpPr>
            <p:cNvPr id="11" name="Group 10">
              <a:extLst>
                <a:ext uri="{FF2B5EF4-FFF2-40B4-BE49-F238E27FC236}">
                  <a16:creationId xmlns:a16="http://schemas.microsoft.com/office/drawing/2014/main" id="{38BE6413-F66C-5443-AD94-2F2037B76559}"/>
                </a:ext>
              </a:extLst>
            </p:cNvPr>
            <p:cNvGrpSpPr/>
            <p:nvPr/>
          </p:nvGrpSpPr>
          <p:grpSpPr>
            <a:xfrm>
              <a:off x="7065840" y="2975089"/>
              <a:ext cx="1152000" cy="1152000"/>
              <a:chOff x="5826320" y="3069920"/>
              <a:chExt cx="1152000" cy="1152000"/>
            </a:xfrm>
          </p:grpSpPr>
          <p:sp>
            <p:nvSpPr>
              <p:cNvPr id="9" name="Oval 8">
                <a:extLst>
                  <a:ext uri="{FF2B5EF4-FFF2-40B4-BE49-F238E27FC236}">
                    <a16:creationId xmlns:a16="http://schemas.microsoft.com/office/drawing/2014/main" id="{139CA497-9622-EC85-0371-3E71F10ABF73}"/>
                  </a:ext>
                </a:extLst>
              </p:cNvPr>
              <p:cNvSpPr/>
              <p:nvPr/>
            </p:nvSpPr>
            <p:spPr>
              <a:xfrm>
                <a:off x="5862320" y="3105920"/>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sp>
            <p:nvSpPr>
              <p:cNvPr id="10" name="Oval 9">
                <a:extLst>
                  <a:ext uri="{FF2B5EF4-FFF2-40B4-BE49-F238E27FC236}">
                    <a16:creationId xmlns:a16="http://schemas.microsoft.com/office/drawing/2014/main" id="{19447F70-D2EA-B721-EC36-E96C4B7917F2}"/>
                  </a:ext>
                </a:extLst>
              </p:cNvPr>
              <p:cNvSpPr/>
              <p:nvPr/>
            </p:nvSpPr>
            <p:spPr>
              <a:xfrm>
                <a:off x="5826320" y="3069920"/>
                <a:ext cx="1152000" cy="1152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grpSp>
        <p:cxnSp>
          <p:nvCxnSpPr>
            <p:cNvPr id="13" name="Straight Arrow Connector 12">
              <a:extLst>
                <a:ext uri="{FF2B5EF4-FFF2-40B4-BE49-F238E27FC236}">
                  <a16:creationId xmlns:a16="http://schemas.microsoft.com/office/drawing/2014/main" id="{38D3172B-EB5C-53B9-DF9C-629F1C768966}"/>
                </a:ext>
              </a:extLst>
            </p:cNvPr>
            <p:cNvCxnSpPr>
              <a:stCxn id="5" idx="6"/>
              <a:endCxn id="7" idx="2"/>
            </p:cNvCxnSpPr>
            <p:nvPr/>
          </p:nvCxnSpPr>
          <p:spPr>
            <a:xfrm>
              <a:off x="363016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0DB28AF-B36F-F538-054A-2A69EDA380F4}"/>
                </a:ext>
              </a:extLst>
            </p:cNvPr>
            <p:cNvCxnSpPr/>
            <p:nvPr/>
          </p:nvCxnSpPr>
          <p:spPr>
            <a:xfrm>
              <a:off x="590600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8" name="Connector: Curved 17">
              <a:extLst>
                <a:ext uri="{FF2B5EF4-FFF2-40B4-BE49-F238E27FC236}">
                  <a16:creationId xmlns:a16="http://schemas.microsoft.com/office/drawing/2014/main" id="{E584C6B1-6FE5-6006-516E-915A7E561182}"/>
                </a:ext>
              </a:extLst>
            </p:cNvPr>
            <p:cNvCxnSpPr>
              <a:stCxn id="7" idx="5"/>
              <a:endCxn id="7" idx="3"/>
            </p:cNvCxnSpPr>
            <p:nvPr/>
          </p:nvCxnSpPr>
          <p:spPr>
            <a:xfrm rot="5400000">
              <a:off x="5366000" y="3551089"/>
              <a:ext cx="12700" cy="763676"/>
            </a:xfrm>
            <a:prstGeom prst="curvedConnector3">
              <a:avLst>
                <a:gd name="adj1" fmla="val 7045370"/>
              </a:avLst>
            </a:prstGeom>
            <a:ln w="571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D10BC79-7771-9DE1-C4FC-AD58E243E210}"/>
                </a:ext>
              </a:extLst>
            </p:cNvPr>
            <p:cNvSpPr txBox="1"/>
            <p:nvPr/>
          </p:nvSpPr>
          <p:spPr>
            <a:xfrm>
              <a:off x="3916680" y="2820970"/>
              <a:ext cx="782320" cy="707886"/>
            </a:xfrm>
            <a:prstGeom prst="rect">
              <a:avLst/>
            </a:prstGeom>
            <a:noFill/>
          </p:spPr>
          <p:txBody>
            <a:bodyPr wrap="square" rtlCol="0">
              <a:spAutoFit/>
            </a:bodyPr>
            <a:lstStyle/>
            <a:p>
              <a:r>
                <a:rPr lang="nl-BE" sz="4000" b="1" dirty="0"/>
                <a:t>a</a:t>
              </a:r>
              <a:endParaRPr lang="en-GB" b="1" dirty="0"/>
            </a:p>
          </p:txBody>
        </p:sp>
        <p:sp>
          <p:nvSpPr>
            <p:cNvPr id="22" name="TextBox 21">
              <a:extLst>
                <a:ext uri="{FF2B5EF4-FFF2-40B4-BE49-F238E27FC236}">
                  <a16:creationId xmlns:a16="http://schemas.microsoft.com/office/drawing/2014/main" id="{9A202A41-E5E5-1E37-D56B-E97E1924D044}"/>
                </a:ext>
              </a:extLst>
            </p:cNvPr>
            <p:cNvSpPr txBox="1"/>
            <p:nvPr/>
          </p:nvSpPr>
          <p:spPr>
            <a:xfrm>
              <a:off x="6203680" y="2820970"/>
              <a:ext cx="782320" cy="707886"/>
            </a:xfrm>
            <a:prstGeom prst="rect">
              <a:avLst/>
            </a:prstGeom>
            <a:noFill/>
          </p:spPr>
          <p:txBody>
            <a:bodyPr wrap="square" rtlCol="0">
              <a:spAutoFit/>
            </a:bodyPr>
            <a:lstStyle/>
            <a:p>
              <a:r>
                <a:rPr lang="nl-BE" sz="4000" b="1" dirty="0"/>
                <a:t>c</a:t>
              </a:r>
              <a:endParaRPr lang="en-GB" b="1" dirty="0"/>
            </a:p>
          </p:txBody>
        </p:sp>
        <p:sp>
          <p:nvSpPr>
            <p:cNvPr id="23" name="TextBox 22">
              <a:extLst>
                <a:ext uri="{FF2B5EF4-FFF2-40B4-BE49-F238E27FC236}">
                  <a16:creationId xmlns:a16="http://schemas.microsoft.com/office/drawing/2014/main" id="{7948BD1E-F897-C8D6-DCE5-56507EC39523}"/>
                </a:ext>
              </a:extLst>
            </p:cNvPr>
            <p:cNvSpPr txBox="1"/>
            <p:nvPr/>
          </p:nvSpPr>
          <p:spPr>
            <a:xfrm>
              <a:off x="5141680" y="4112634"/>
              <a:ext cx="782320" cy="707886"/>
            </a:xfrm>
            <a:prstGeom prst="rect">
              <a:avLst/>
            </a:prstGeom>
            <a:noFill/>
          </p:spPr>
          <p:txBody>
            <a:bodyPr wrap="square" rtlCol="0">
              <a:spAutoFit/>
            </a:bodyPr>
            <a:lstStyle/>
            <a:p>
              <a:r>
                <a:rPr lang="nl-BE" sz="4000" b="1" dirty="0"/>
                <a:t>b</a:t>
              </a:r>
              <a:endParaRPr lang="en-GB" b="1" dirty="0"/>
            </a:p>
          </p:txBody>
        </p:sp>
      </p:grpSp>
      <p:sp>
        <p:nvSpPr>
          <p:cNvPr id="24" name="Arrow: Down 23">
            <a:extLst>
              <a:ext uri="{FF2B5EF4-FFF2-40B4-BE49-F238E27FC236}">
                <a16:creationId xmlns:a16="http://schemas.microsoft.com/office/drawing/2014/main" id="{DF7677AE-C740-F8A8-A940-9544ABF99CF8}"/>
              </a:ext>
            </a:extLst>
          </p:cNvPr>
          <p:cNvSpPr/>
          <p:nvPr/>
        </p:nvSpPr>
        <p:spPr>
          <a:xfrm>
            <a:off x="3811952" y="4055692"/>
            <a:ext cx="619760" cy="94488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303D4EBE-709E-7EB5-D621-AF1849F57E08}"/>
              </a:ext>
            </a:extLst>
          </p:cNvPr>
          <p:cNvSpPr txBox="1"/>
          <p:nvPr/>
        </p:nvSpPr>
        <p:spPr>
          <a:xfrm>
            <a:off x="8534677" y="2139332"/>
            <a:ext cx="2130711" cy="3108543"/>
          </a:xfrm>
          <a:prstGeom prst="rect">
            <a:avLst/>
          </a:prstGeom>
          <a:noFill/>
        </p:spPr>
        <p:txBody>
          <a:bodyPr wrap="none" rtlCol="0">
            <a:spAutoFit/>
          </a:bodyPr>
          <a:lstStyle/>
          <a:p>
            <a:r>
              <a:rPr lang="nl-BE" sz="2800" dirty="0"/>
              <a:t>Input Strings:</a:t>
            </a:r>
          </a:p>
          <a:p>
            <a:endParaRPr lang="nl-BE" sz="2800" dirty="0"/>
          </a:p>
          <a:p>
            <a:r>
              <a:rPr lang="nl-BE" sz="2800" dirty="0"/>
              <a:t>abc</a:t>
            </a:r>
          </a:p>
          <a:p>
            <a:r>
              <a:rPr lang="nl-BE" sz="2800" dirty="0" err="1"/>
              <a:t>ac</a:t>
            </a:r>
            <a:endParaRPr lang="nl-BE" sz="2800" dirty="0"/>
          </a:p>
          <a:p>
            <a:r>
              <a:rPr lang="nl-BE" sz="2800" dirty="0" err="1"/>
              <a:t>abbc</a:t>
            </a:r>
            <a:endParaRPr lang="nl-BE" sz="2800" dirty="0"/>
          </a:p>
          <a:p>
            <a:r>
              <a:rPr lang="nl-BE" sz="2800" dirty="0" err="1"/>
              <a:t>aacc</a:t>
            </a:r>
            <a:endParaRPr lang="nl-BE" sz="2800" dirty="0"/>
          </a:p>
          <a:p>
            <a:r>
              <a:rPr lang="en-GB" sz="2800" dirty="0" err="1"/>
              <a:t>accu</a:t>
            </a:r>
            <a:endParaRPr lang="en-GB" sz="2800" dirty="0"/>
          </a:p>
        </p:txBody>
      </p:sp>
      <p:sp>
        <p:nvSpPr>
          <p:cNvPr id="30" name="TextBox 29">
            <a:extLst>
              <a:ext uri="{FF2B5EF4-FFF2-40B4-BE49-F238E27FC236}">
                <a16:creationId xmlns:a16="http://schemas.microsoft.com/office/drawing/2014/main" id="{D62B3858-1966-47FD-8F12-901B7514A317}"/>
              </a:ext>
            </a:extLst>
          </p:cNvPr>
          <p:cNvSpPr txBox="1"/>
          <p:nvPr/>
        </p:nvSpPr>
        <p:spPr>
          <a:xfrm>
            <a:off x="2461845" y="5089676"/>
            <a:ext cx="3311676" cy="1384995"/>
          </a:xfrm>
          <a:prstGeom prst="rect">
            <a:avLst/>
          </a:prstGeom>
          <a:noFill/>
        </p:spPr>
        <p:txBody>
          <a:bodyPr wrap="none" rtlCol="0">
            <a:spAutoFit/>
          </a:bodyPr>
          <a:lstStyle/>
          <a:p>
            <a:pPr algn="ctr"/>
            <a:r>
              <a:rPr lang="nl-BE" sz="3200" b="1" dirty="0" err="1"/>
              <a:t>Regex</a:t>
            </a:r>
            <a:r>
              <a:rPr lang="nl-BE" sz="3200" b="1" dirty="0"/>
              <a:t> = </a:t>
            </a:r>
            <a:r>
              <a:rPr lang="nl-BE" sz="3200" b="1" dirty="0" err="1"/>
              <a:t>ab</a:t>
            </a:r>
            <a:r>
              <a:rPr lang="nl-BE" sz="3200" b="1" dirty="0"/>
              <a:t>*c</a:t>
            </a:r>
          </a:p>
          <a:p>
            <a:pPr algn="ctr"/>
            <a:endParaRPr lang="nl-BE" sz="3200" b="1" dirty="0"/>
          </a:p>
          <a:p>
            <a:pPr algn="ctr"/>
            <a:r>
              <a:rPr lang="nl-BE" sz="2000" dirty="0"/>
              <a:t>“*” means zero or more </a:t>
            </a:r>
            <a:r>
              <a:rPr lang="nl-BE" sz="2000" dirty="0" err="1"/>
              <a:t>times</a:t>
            </a:r>
            <a:endParaRPr lang="en-GB" sz="2000" dirty="0"/>
          </a:p>
        </p:txBody>
      </p:sp>
    </p:spTree>
    <p:extLst>
      <p:ext uri="{BB962C8B-B14F-4D97-AF65-F5344CB8AC3E}">
        <p14:creationId xmlns:p14="http://schemas.microsoft.com/office/powerpoint/2010/main" val="2712851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normAutofit fontScale="90000"/>
          </a:bodyPr>
          <a:lstStyle/>
          <a:p>
            <a:r>
              <a:rPr lang="en-US" noProof="0" dirty="0"/>
              <a:t>Regex – alternative notation for state machines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8</a:t>
            </a:fld>
            <a:endParaRPr lang="nl-BE"/>
          </a:p>
        </p:txBody>
      </p:sp>
      <p:grpSp>
        <p:nvGrpSpPr>
          <p:cNvPr id="26" name="Group 25">
            <a:extLst>
              <a:ext uri="{FF2B5EF4-FFF2-40B4-BE49-F238E27FC236}">
                <a16:creationId xmlns:a16="http://schemas.microsoft.com/office/drawing/2014/main" id="{CE62E51D-B92A-922C-8403-F4E2D8D7D8F8}"/>
              </a:ext>
            </a:extLst>
          </p:cNvPr>
          <p:cNvGrpSpPr/>
          <p:nvPr/>
        </p:nvGrpSpPr>
        <p:grpSpPr>
          <a:xfrm>
            <a:off x="1371600" y="1967038"/>
            <a:ext cx="5667680" cy="1999550"/>
            <a:chOff x="2550160" y="2820970"/>
            <a:chExt cx="5667680" cy="1999550"/>
          </a:xfrm>
        </p:grpSpPr>
        <p:sp>
          <p:nvSpPr>
            <p:cNvPr id="5" name="Oval 4">
              <a:extLst>
                <a:ext uri="{FF2B5EF4-FFF2-40B4-BE49-F238E27FC236}">
                  <a16:creationId xmlns:a16="http://schemas.microsoft.com/office/drawing/2014/main" id="{E7B5BD53-0E04-4E72-4D06-C927B80320F7}"/>
                </a:ext>
              </a:extLst>
            </p:cNvPr>
            <p:cNvSpPr/>
            <p:nvPr/>
          </p:nvSpPr>
          <p:spPr>
            <a:xfrm>
              <a:off x="255016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0</a:t>
              </a:r>
              <a:endParaRPr lang="en-GB" dirty="0"/>
            </a:p>
          </p:txBody>
        </p:sp>
        <p:sp>
          <p:nvSpPr>
            <p:cNvPr id="7" name="Oval 6">
              <a:extLst>
                <a:ext uri="{FF2B5EF4-FFF2-40B4-BE49-F238E27FC236}">
                  <a16:creationId xmlns:a16="http://schemas.microsoft.com/office/drawing/2014/main" id="{CABEDF62-F6A6-8A21-1F63-1A022235783C}"/>
                </a:ext>
              </a:extLst>
            </p:cNvPr>
            <p:cNvSpPr/>
            <p:nvPr/>
          </p:nvSpPr>
          <p:spPr>
            <a:xfrm>
              <a:off x="4826000" y="3011089"/>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1</a:t>
              </a:r>
              <a:endParaRPr lang="en-GB" dirty="0"/>
            </a:p>
          </p:txBody>
        </p:sp>
        <p:grpSp>
          <p:nvGrpSpPr>
            <p:cNvPr id="11" name="Group 10">
              <a:extLst>
                <a:ext uri="{FF2B5EF4-FFF2-40B4-BE49-F238E27FC236}">
                  <a16:creationId xmlns:a16="http://schemas.microsoft.com/office/drawing/2014/main" id="{38BE6413-F66C-5443-AD94-2F2037B76559}"/>
                </a:ext>
              </a:extLst>
            </p:cNvPr>
            <p:cNvGrpSpPr/>
            <p:nvPr/>
          </p:nvGrpSpPr>
          <p:grpSpPr>
            <a:xfrm>
              <a:off x="7065840" y="2975089"/>
              <a:ext cx="1152000" cy="1152000"/>
              <a:chOff x="5826320" y="3069920"/>
              <a:chExt cx="1152000" cy="1152000"/>
            </a:xfrm>
          </p:grpSpPr>
          <p:sp>
            <p:nvSpPr>
              <p:cNvPr id="9" name="Oval 8">
                <a:extLst>
                  <a:ext uri="{FF2B5EF4-FFF2-40B4-BE49-F238E27FC236}">
                    <a16:creationId xmlns:a16="http://schemas.microsoft.com/office/drawing/2014/main" id="{139CA497-9622-EC85-0371-3E71F10ABF73}"/>
                  </a:ext>
                </a:extLst>
              </p:cNvPr>
              <p:cNvSpPr/>
              <p:nvPr/>
            </p:nvSpPr>
            <p:spPr>
              <a:xfrm>
                <a:off x="5862320" y="3105920"/>
                <a:ext cx="1080000" cy="10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sp>
            <p:nvSpPr>
              <p:cNvPr id="10" name="Oval 9">
                <a:extLst>
                  <a:ext uri="{FF2B5EF4-FFF2-40B4-BE49-F238E27FC236}">
                    <a16:creationId xmlns:a16="http://schemas.microsoft.com/office/drawing/2014/main" id="{19447F70-D2EA-B721-EC36-E96C4B7917F2}"/>
                  </a:ext>
                </a:extLst>
              </p:cNvPr>
              <p:cNvSpPr/>
              <p:nvPr/>
            </p:nvSpPr>
            <p:spPr>
              <a:xfrm>
                <a:off x="5826320" y="3069920"/>
                <a:ext cx="1152000" cy="1152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sz="4000" dirty="0"/>
                  <a:t>2</a:t>
                </a:r>
                <a:endParaRPr lang="en-GB" dirty="0"/>
              </a:p>
            </p:txBody>
          </p:sp>
        </p:grpSp>
        <p:cxnSp>
          <p:nvCxnSpPr>
            <p:cNvPr id="13" name="Straight Arrow Connector 12">
              <a:extLst>
                <a:ext uri="{FF2B5EF4-FFF2-40B4-BE49-F238E27FC236}">
                  <a16:creationId xmlns:a16="http://schemas.microsoft.com/office/drawing/2014/main" id="{38D3172B-EB5C-53B9-DF9C-629F1C768966}"/>
                </a:ext>
              </a:extLst>
            </p:cNvPr>
            <p:cNvCxnSpPr>
              <a:stCxn id="5" idx="6"/>
              <a:endCxn id="7" idx="2"/>
            </p:cNvCxnSpPr>
            <p:nvPr/>
          </p:nvCxnSpPr>
          <p:spPr>
            <a:xfrm>
              <a:off x="363016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0DB28AF-B36F-F538-054A-2A69EDA380F4}"/>
                </a:ext>
              </a:extLst>
            </p:cNvPr>
            <p:cNvCxnSpPr/>
            <p:nvPr/>
          </p:nvCxnSpPr>
          <p:spPr>
            <a:xfrm>
              <a:off x="5906000" y="3551089"/>
              <a:ext cx="119584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8" name="Connector: Curved 17">
              <a:extLst>
                <a:ext uri="{FF2B5EF4-FFF2-40B4-BE49-F238E27FC236}">
                  <a16:creationId xmlns:a16="http://schemas.microsoft.com/office/drawing/2014/main" id="{E584C6B1-6FE5-6006-516E-915A7E561182}"/>
                </a:ext>
              </a:extLst>
            </p:cNvPr>
            <p:cNvCxnSpPr>
              <a:stCxn id="7" idx="5"/>
              <a:endCxn id="7" idx="3"/>
            </p:cNvCxnSpPr>
            <p:nvPr/>
          </p:nvCxnSpPr>
          <p:spPr>
            <a:xfrm rot="5400000">
              <a:off x="5366000" y="3551089"/>
              <a:ext cx="12700" cy="763676"/>
            </a:xfrm>
            <a:prstGeom prst="curvedConnector3">
              <a:avLst>
                <a:gd name="adj1" fmla="val 7045370"/>
              </a:avLst>
            </a:prstGeom>
            <a:ln w="571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D10BC79-7771-9DE1-C4FC-AD58E243E210}"/>
                </a:ext>
              </a:extLst>
            </p:cNvPr>
            <p:cNvSpPr txBox="1"/>
            <p:nvPr/>
          </p:nvSpPr>
          <p:spPr>
            <a:xfrm>
              <a:off x="3916680" y="2820970"/>
              <a:ext cx="782320" cy="707886"/>
            </a:xfrm>
            <a:prstGeom prst="rect">
              <a:avLst/>
            </a:prstGeom>
            <a:noFill/>
          </p:spPr>
          <p:txBody>
            <a:bodyPr wrap="square" rtlCol="0">
              <a:spAutoFit/>
            </a:bodyPr>
            <a:lstStyle/>
            <a:p>
              <a:r>
                <a:rPr lang="nl-BE" sz="4000" b="1" dirty="0"/>
                <a:t>a</a:t>
              </a:r>
              <a:endParaRPr lang="en-GB" b="1" dirty="0"/>
            </a:p>
          </p:txBody>
        </p:sp>
        <p:sp>
          <p:nvSpPr>
            <p:cNvPr id="22" name="TextBox 21">
              <a:extLst>
                <a:ext uri="{FF2B5EF4-FFF2-40B4-BE49-F238E27FC236}">
                  <a16:creationId xmlns:a16="http://schemas.microsoft.com/office/drawing/2014/main" id="{9A202A41-E5E5-1E37-D56B-E97E1924D044}"/>
                </a:ext>
              </a:extLst>
            </p:cNvPr>
            <p:cNvSpPr txBox="1"/>
            <p:nvPr/>
          </p:nvSpPr>
          <p:spPr>
            <a:xfrm>
              <a:off x="6203680" y="2820970"/>
              <a:ext cx="782320" cy="707886"/>
            </a:xfrm>
            <a:prstGeom prst="rect">
              <a:avLst/>
            </a:prstGeom>
            <a:noFill/>
          </p:spPr>
          <p:txBody>
            <a:bodyPr wrap="square" rtlCol="0">
              <a:spAutoFit/>
            </a:bodyPr>
            <a:lstStyle/>
            <a:p>
              <a:r>
                <a:rPr lang="nl-BE" sz="4000" b="1" dirty="0"/>
                <a:t>c</a:t>
              </a:r>
              <a:endParaRPr lang="en-GB" b="1" dirty="0"/>
            </a:p>
          </p:txBody>
        </p:sp>
        <p:sp>
          <p:nvSpPr>
            <p:cNvPr id="23" name="TextBox 22">
              <a:extLst>
                <a:ext uri="{FF2B5EF4-FFF2-40B4-BE49-F238E27FC236}">
                  <a16:creationId xmlns:a16="http://schemas.microsoft.com/office/drawing/2014/main" id="{7948BD1E-F897-C8D6-DCE5-56507EC39523}"/>
                </a:ext>
              </a:extLst>
            </p:cNvPr>
            <p:cNvSpPr txBox="1"/>
            <p:nvPr/>
          </p:nvSpPr>
          <p:spPr>
            <a:xfrm>
              <a:off x="5141680" y="4112634"/>
              <a:ext cx="782320" cy="707886"/>
            </a:xfrm>
            <a:prstGeom prst="rect">
              <a:avLst/>
            </a:prstGeom>
            <a:noFill/>
          </p:spPr>
          <p:txBody>
            <a:bodyPr wrap="square" rtlCol="0">
              <a:spAutoFit/>
            </a:bodyPr>
            <a:lstStyle/>
            <a:p>
              <a:r>
                <a:rPr lang="nl-BE" sz="4000" b="1" dirty="0"/>
                <a:t>b</a:t>
              </a:r>
              <a:endParaRPr lang="en-GB" b="1" dirty="0"/>
            </a:p>
          </p:txBody>
        </p:sp>
      </p:grpSp>
      <p:sp>
        <p:nvSpPr>
          <p:cNvPr id="24" name="Arrow: Down 23">
            <a:extLst>
              <a:ext uri="{FF2B5EF4-FFF2-40B4-BE49-F238E27FC236}">
                <a16:creationId xmlns:a16="http://schemas.microsoft.com/office/drawing/2014/main" id="{DF7677AE-C740-F8A8-A940-9544ABF99CF8}"/>
              </a:ext>
            </a:extLst>
          </p:cNvPr>
          <p:cNvSpPr/>
          <p:nvPr/>
        </p:nvSpPr>
        <p:spPr>
          <a:xfrm>
            <a:off x="3811952" y="4055692"/>
            <a:ext cx="619760" cy="94488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79DAF861-4F63-A594-3F9A-401DEB1B2DAC}"/>
              </a:ext>
            </a:extLst>
          </p:cNvPr>
          <p:cNvSpPr txBox="1"/>
          <p:nvPr/>
        </p:nvSpPr>
        <p:spPr>
          <a:xfrm>
            <a:off x="2465994" y="5089676"/>
            <a:ext cx="3311676" cy="1384995"/>
          </a:xfrm>
          <a:prstGeom prst="rect">
            <a:avLst/>
          </a:prstGeom>
          <a:noFill/>
        </p:spPr>
        <p:txBody>
          <a:bodyPr wrap="none" rtlCol="0">
            <a:spAutoFit/>
          </a:bodyPr>
          <a:lstStyle/>
          <a:p>
            <a:pPr algn="ctr"/>
            <a:r>
              <a:rPr lang="nl-BE" sz="3200" b="1" dirty="0" err="1"/>
              <a:t>Regex</a:t>
            </a:r>
            <a:r>
              <a:rPr lang="nl-BE" sz="3200" b="1" dirty="0"/>
              <a:t> = </a:t>
            </a:r>
            <a:r>
              <a:rPr lang="nl-BE" sz="3200" b="1" dirty="0" err="1"/>
              <a:t>ab</a:t>
            </a:r>
            <a:r>
              <a:rPr lang="nl-BE" sz="3200" b="1" dirty="0"/>
              <a:t>*c</a:t>
            </a:r>
          </a:p>
          <a:p>
            <a:pPr algn="ctr"/>
            <a:endParaRPr lang="nl-BE" sz="3200" b="1" dirty="0"/>
          </a:p>
          <a:p>
            <a:pPr algn="ctr"/>
            <a:r>
              <a:rPr lang="nl-BE" sz="2000" dirty="0"/>
              <a:t>“*” means zero or more </a:t>
            </a:r>
            <a:r>
              <a:rPr lang="nl-BE" sz="2000" dirty="0" err="1"/>
              <a:t>times</a:t>
            </a:r>
            <a:endParaRPr lang="en-GB" sz="2000" dirty="0"/>
          </a:p>
        </p:txBody>
      </p:sp>
      <p:sp>
        <p:nvSpPr>
          <p:cNvPr id="27" name="TextBox 26">
            <a:extLst>
              <a:ext uri="{FF2B5EF4-FFF2-40B4-BE49-F238E27FC236}">
                <a16:creationId xmlns:a16="http://schemas.microsoft.com/office/drawing/2014/main" id="{303D4EBE-709E-7EB5-D621-AF1849F57E08}"/>
              </a:ext>
            </a:extLst>
          </p:cNvPr>
          <p:cNvSpPr txBox="1"/>
          <p:nvPr/>
        </p:nvSpPr>
        <p:spPr>
          <a:xfrm>
            <a:off x="8534677" y="2139332"/>
            <a:ext cx="2130711" cy="3108543"/>
          </a:xfrm>
          <a:prstGeom prst="rect">
            <a:avLst/>
          </a:prstGeom>
          <a:noFill/>
        </p:spPr>
        <p:txBody>
          <a:bodyPr wrap="none" rtlCol="0">
            <a:spAutoFit/>
          </a:bodyPr>
          <a:lstStyle/>
          <a:p>
            <a:r>
              <a:rPr lang="nl-BE" sz="2800" dirty="0"/>
              <a:t>Input Strings:</a:t>
            </a:r>
          </a:p>
          <a:p>
            <a:endParaRPr lang="nl-BE" sz="2800" dirty="0"/>
          </a:p>
          <a:p>
            <a:r>
              <a:rPr lang="nl-BE" sz="2800" dirty="0">
                <a:solidFill>
                  <a:srgbClr val="00B050"/>
                </a:solidFill>
              </a:rPr>
              <a:t>abc</a:t>
            </a:r>
          </a:p>
          <a:p>
            <a:r>
              <a:rPr lang="nl-BE" sz="2800" dirty="0" err="1">
                <a:solidFill>
                  <a:srgbClr val="00B050"/>
                </a:solidFill>
              </a:rPr>
              <a:t>ac</a:t>
            </a:r>
            <a:endParaRPr lang="nl-BE" sz="2800" dirty="0">
              <a:solidFill>
                <a:srgbClr val="00B050"/>
              </a:solidFill>
            </a:endParaRPr>
          </a:p>
          <a:p>
            <a:r>
              <a:rPr lang="nl-BE" sz="2800" dirty="0" err="1">
                <a:solidFill>
                  <a:srgbClr val="00B050"/>
                </a:solidFill>
              </a:rPr>
              <a:t>abbc</a:t>
            </a:r>
            <a:endParaRPr lang="nl-BE" sz="2800" dirty="0">
              <a:solidFill>
                <a:srgbClr val="00B050"/>
              </a:solidFill>
            </a:endParaRPr>
          </a:p>
          <a:p>
            <a:r>
              <a:rPr lang="nl-BE" sz="2800" dirty="0" err="1"/>
              <a:t>a</a:t>
            </a:r>
            <a:r>
              <a:rPr lang="nl-BE" sz="2800" dirty="0" err="1">
                <a:solidFill>
                  <a:srgbClr val="00B050"/>
                </a:solidFill>
              </a:rPr>
              <a:t>ac</a:t>
            </a:r>
            <a:r>
              <a:rPr lang="nl-BE" sz="2800" dirty="0" err="1"/>
              <a:t>c</a:t>
            </a:r>
            <a:endParaRPr lang="nl-BE" sz="2800" dirty="0"/>
          </a:p>
          <a:p>
            <a:r>
              <a:rPr lang="en-GB" sz="2800" dirty="0" err="1">
                <a:solidFill>
                  <a:srgbClr val="00B050"/>
                </a:solidFill>
              </a:rPr>
              <a:t>ac</a:t>
            </a:r>
            <a:r>
              <a:rPr lang="en-GB" sz="2800" dirty="0" err="1"/>
              <a:t>cu</a:t>
            </a:r>
            <a:endParaRPr lang="en-GB" sz="2800" dirty="0"/>
          </a:p>
        </p:txBody>
      </p:sp>
    </p:spTree>
    <p:extLst>
      <p:ext uri="{BB962C8B-B14F-4D97-AF65-F5344CB8AC3E}">
        <p14:creationId xmlns:p14="http://schemas.microsoft.com/office/powerpoint/2010/main" val="1447710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en-US" noProof="0" dirty="0"/>
              <a:t>Regex – Must Watch!</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9</a:t>
            </a:fld>
            <a:endParaRPr lang="nl-BE"/>
          </a:p>
        </p:txBody>
      </p:sp>
      <p:pic>
        <p:nvPicPr>
          <p:cNvPr id="3" name="Online Media 2" title="Regular Expressions - Computerphile">
            <a:hlinkClick r:id="" action="ppaction://media"/>
            <a:extLst>
              <a:ext uri="{FF2B5EF4-FFF2-40B4-BE49-F238E27FC236}">
                <a16:creationId xmlns:a16="http://schemas.microsoft.com/office/drawing/2014/main" id="{F70EBBFA-A02A-B1CA-B322-5E3F3BAB23B4}"/>
              </a:ext>
            </a:extLst>
          </p:cNvPr>
          <p:cNvPicPr>
            <a:picLocks noRot="1" noChangeAspect="1"/>
          </p:cNvPicPr>
          <p:nvPr>
            <a:videoFile r:link="rId1"/>
          </p:nvPr>
        </p:nvPicPr>
        <p:blipFill>
          <a:blip r:embed="rId4"/>
          <a:stretch>
            <a:fillRect/>
          </a:stretch>
        </p:blipFill>
        <p:spPr>
          <a:xfrm>
            <a:off x="1283493" y="1419855"/>
            <a:ext cx="9625013" cy="5438145"/>
          </a:xfrm>
          <a:prstGeom prst="rect">
            <a:avLst/>
          </a:prstGeom>
        </p:spPr>
      </p:pic>
    </p:spTree>
    <p:extLst>
      <p:ext uri="{BB962C8B-B14F-4D97-AF65-F5344CB8AC3E}">
        <p14:creationId xmlns:p14="http://schemas.microsoft.com/office/powerpoint/2010/main" val="148997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en-US" noProof="0" dirty="0"/>
              <a:t>Regex</a:t>
            </a:r>
          </a:p>
        </p:txBody>
      </p:sp>
      <p:sp>
        <p:nvSpPr>
          <p:cNvPr id="3" name="Content Placeholder 2">
            <a:extLst>
              <a:ext uri="{FF2B5EF4-FFF2-40B4-BE49-F238E27FC236}">
                <a16:creationId xmlns:a16="http://schemas.microsoft.com/office/drawing/2014/main" id="{CE123ACB-DD68-4388-B607-763D7883FFC8}"/>
              </a:ext>
            </a:extLst>
          </p:cNvPr>
          <p:cNvSpPr>
            <a:spLocks noGrp="1"/>
          </p:cNvSpPr>
          <p:nvPr>
            <p:ph idx="1"/>
          </p:nvPr>
        </p:nvSpPr>
        <p:spPr>
          <a:xfrm>
            <a:off x="582705" y="1550894"/>
            <a:ext cx="9282655" cy="4626069"/>
          </a:xfrm>
        </p:spPr>
        <p:txBody>
          <a:bodyPr>
            <a:normAutofit/>
          </a:bodyPr>
          <a:lstStyle/>
          <a:p>
            <a:r>
              <a:rPr lang="en-US" noProof="0" dirty="0"/>
              <a:t>Regexes can be used in any language, but we’ll be using Python</a:t>
            </a:r>
          </a:p>
          <a:p>
            <a:r>
              <a:rPr lang="en-US" noProof="0" dirty="0"/>
              <a:t>By themselves, they are rather theoretical, but in web scraping or data cleaning, you will see their usefulness.</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8" name="Picture 7" descr="Logo&#10;&#10;Description automatically generated">
            <a:extLst>
              <a:ext uri="{FF2B5EF4-FFF2-40B4-BE49-F238E27FC236}">
                <a16:creationId xmlns:a16="http://schemas.microsoft.com/office/drawing/2014/main" id="{8FB0388D-F954-4004-A9D9-2200607296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2745" y="3349308"/>
            <a:ext cx="2827655" cy="2827655"/>
          </a:xfrm>
          <a:prstGeom prst="rect">
            <a:avLst/>
          </a:prstGeom>
        </p:spPr>
      </p:pic>
    </p:spTree>
    <p:extLst>
      <p:ext uri="{BB962C8B-B14F-4D97-AF65-F5344CB8AC3E}">
        <p14:creationId xmlns:p14="http://schemas.microsoft.com/office/powerpoint/2010/main" val="1127463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843B-7C9C-405F-ABA2-D76C0E4B8EF2}"/>
              </a:ext>
            </a:extLst>
          </p:cNvPr>
          <p:cNvSpPr>
            <a:spLocks noGrp="1"/>
          </p:cNvSpPr>
          <p:nvPr>
            <p:ph type="title"/>
          </p:nvPr>
        </p:nvSpPr>
        <p:spPr/>
        <p:txBody>
          <a:bodyPr/>
          <a:lstStyle/>
          <a:p>
            <a:r>
              <a:rPr lang="en-US" noProof="0" dirty="0"/>
              <a:t>Regex</a:t>
            </a:r>
          </a:p>
        </p:txBody>
      </p:sp>
      <p:sp>
        <p:nvSpPr>
          <p:cNvPr id="3" name="Content Placeholder 2">
            <a:extLst>
              <a:ext uri="{FF2B5EF4-FFF2-40B4-BE49-F238E27FC236}">
                <a16:creationId xmlns:a16="http://schemas.microsoft.com/office/drawing/2014/main" id="{19777B1C-786C-442B-B068-F751E3E43269}"/>
              </a:ext>
            </a:extLst>
          </p:cNvPr>
          <p:cNvSpPr>
            <a:spLocks noGrp="1"/>
          </p:cNvSpPr>
          <p:nvPr>
            <p:ph idx="1"/>
          </p:nvPr>
        </p:nvSpPr>
        <p:spPr/>
        <p:txBody>
          <a:bodyPr/>
          <a:lstStyle/>
          <a:p>
            <a:r>
              <a:rPr lang="en-US" noProof="0" dirty="0"/>
              <a:t>A regex is an expression which matches (or not matches) another string. This means you can check if a string is a properly formed date, or a gender, or …</a:t>
            </a:r>
          </a:p>
          <a:p>
            <a:r>
              <a:rPr lang="en-US" noProof="0" dirty="0"/>
              <a:t>You can also use regexes to extract parts of strings. Like taking al the bands from “De </a:t>
            </a:r>
            <a:r>
              <a:rPr lang="en-US" noProof="0" dirty="0" err="1"/>
              <a:t>Zwaarste</a:t>
            </a:r>
            <a:r>
              <a:rPr lang="en-US" noProof="0" dirty="0"/>
              <a:t> </a:t>
            </a:r>
            <a:r>
              <a:rPr lang="en-US" noProof="0" dirty="0" err="1"/>
              <a:t>Lijst</a:t>
            </a:r>
            <a:r>
              <a:rPr lang="en-US" noProof="0" dirty="0"/>
              <a:t>” on the </a:t>
            </a:r>
            <a:r>
              <a:rPr lang="en-US" noProof="0" dirty="0" err="1"/>
              <a:t>stubru</a:t>
            </a:r>
            <a:r>
              <a:rPr lang="en-US" noProof="0" dirty="0"/>
              <a:t>-website…</a:t>
            </a:r>
          </a:p>
          <a:p>
            <a:pPr lvl="1"/>
            <a:r>
              <a:rPr lang="en-US" noProof="0" dirty="0"/>
              <a:t>Note: they’re all bold</a:t>
            </a:r>
          </a:p>
          <a:p>
            <a:pPr lvl="1"/>
            <a:r>
              <a:rPr lang="en-US" noProof="0" dirty="0"/>
              <a:t>This means between “&lt;b&gt;”-tags in HTML</a:t>
            </a:r>
          </a:p>
        </p:txBody>
      </p:sp>
      <p:sp>
        <p:nvSpPr>
          <p:cNvPr id="4" name="Slide Number Placeholder 3">
            <a:extLst>
              <a:ext uri="{FF2B5EF4-FFF2-40B4-BE49-F238E27FC236}">
                <a16:creationId xmlns:a16="http://schemas.microsoft.com/office/drawing/2014/main" id="{A23226CA-0730-4AAC-B214-CB207DCCE3D2}"/>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6" name="Picture 5">
            <a:extLst>
              <a:ext uri="{FF2B5EF4-FFF2-40B4-BE49-F238E27FC236}">
                <a16:creationId xmlns:a16="http://schemas.microsoft.com/office/drawing/2014/main" id="{92ED9370-8C69-4CF1-B377-5723882F7B8D}"/>
              </a:ext>
            </a:extLst>
          </p:cNvPr>
          <p:cNvPicPr>
            <a:picLocks noChangeAspect="1"/>
          </p:cNvPicPr>
          <p:nvPr/>
        </p:nvPicPr>
        <p:blipFill rotWithShape="1">
          <a:blip r:embed="rId3"/>
          <a:srcRect b="-998"/>
          <a:stretch/>
        </p:blipFill>
        <p:spPr>
          <a:xfrm>
            <a:off x="7630159" y="3810070"/>
            <a:ext cx="3497473" cy="2994072"/>
          </a:xfrm>
          <a:prstGeom prst="rect">
            <a:avLst/>
          </a:prstGeom>
        </p:spPr>
      </p:pic>
    </p:spTree>
    <p:extLst>
      <p:ext uri="{BB962C8B-B14F-4D97-AF65-F5344CB8AC3E}">
        <p14:creationId xmlns:p14="http://schemas.microsoft.com/office/powerpoint/2010/main" val="1561444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6DA2-7B9B-4809-8A72-BA7705BE8BFB}"/>
              </a:ext>
            </a:extLst>
          </p:cNvPr>
          <p:cNvSpPr>
            <a:spLocks noGrp="1"/>
          </p:cNvSpPr>
          <p:nvPr>
            <p:ph type="title"/>
          </p:nvPr>
        </p:nvSpPr>
        <p:spPr/>
        <p:txBody>
          <a:bodyPr>
            <a:normAutofit/>
          </a:bodyPr>
          <a:lstStyle/>
          <a:p>
            <a:r>
              <a:rPr lang="en-US" noProof="0" dirty="0"/>
              <a:t>Basic regexes - How do we match stuff?</a:t>
            </a:r>
          </a:p>
        </p:txBody>
      </p:sp>
      <p:sp>
        <p:nvSpPr>
          <p:cNvPr id="3" name="Content Placeholder 2">
            <a:extLst>
              <a:ext uri="{FF2B5EF4-FFF2-40B4-BE49-F238E27FC236}">
                <a16:creationId xmlns:a16="http://schemas.microsoft.com/office/drawing/2014/main" id="{C88B0B11-FF36-4E3C-B06D-F78A231EC455}"/>
              </a:ext>
            </a:extLst>
          </p:cNvPr>
          <p:cNvSpPr>
            <a:spLocks noGrp="1"/>
          </p:cNvSpPr>
          <p:nvPr>
            <p:ph idx="1"/>
          </p:nvPr>
        </p:nvSpPr>
        <p:spPr>
          <a:xfrm>
            <a:off x="582706" y="1550894"/>
            <a:ext cx="5963488" cy="4626069"/>
          </a:xfrm>
        </p:spPr>
        <p:txBody>
          <a:bodyPr/>
          <a:lstStyle/>
          <a:p>
            <a:r>
              <a:rPr lang="en-US" noProof="0" dirty="0"/>
              <a:t>Not all strings are so straightforward to match as “</a:t>
            </a:r>
            <a:r>
              <a:rPr lang="en-US" noProof="0" dirty="0" err="1"/>
              <a:t>abc</a:t>
            </a:r>
            <a:r>
              <a:rPr lang="en-US" noProof="0" dirty="0"/>
              <a:t>” or “&lt;b&gt;”</a:t>
            </a:r>
          </a:p>
          <a:p>
            <a:r>
              <a:rPr lang="en-US" dirty="0"/>
              <a:t>What if we want to match:</a:t>
            </a:r>
          </a:p>
          <a:p>
            <a:pPr lvl="1"/>
            <a:r>
              <a:rPr lang="en-US" noProof="0" dirty="0"/>
              <a:t>any digit </a:t>
            </a:r>
          </a:p>
          <a:p>
            <a:pPr lvl="1"/>
            <a:r>
              <a:rPr lang="en-US" dirty="0"/>
              <a:t>a whitespace</a:t>
            </a:r>
          </a:p>
          <a:p>
            <a:pPr lvl="1"/>
            <a:r>
              <a:rPr lang="en-US" dirty="0"/>
              <a:t>a word that starts with an</a:t>
            </a:r>
            <a:r>
              <a:rPr lang="en-US" noProof="0" dirty="0"/>
              <a:t>y uppercase letter </a:t>
            </a:r>
          </a:p>
          <a:p>
            <a:pPr lvl="1"/>
            <a:r>
              <a:rPr lang="en-US" dirty="0"/>
              <a:t>a word at the start of the line</a:t>
            </a:r>
            <a:endParaRPr lang="en-US" noProof="0" dirty="0"/>
          </a:p>
          <a:p>
            <a:pPr marL="0" indent="0">
              <a:buNone/>
            </a:pPr>
            <a:br>
              <a:rPr lang="en-US" b="1" dirty="0">
                <a:sym typeface="Wingdings" panose="05000000000000000000" pitchFamily="2" charset="2"/>
              </a:rPr>
            </a:br>
            <a:r>
              <a:rPr lang="en-US" b="1" dirty="0">
                <a:sym typeface="Wingdings" panose="05000000000000000000" pitchFamily="2" charset="2"/>
              </a:rPr>
              <a:t> </a:t>
            </a:r>
            <a:r>
              <a:rPr lang="en-US" b="1" dirty="0"/>
              <a:t>Tokens</a:t>
            </a:r>
            <a:endParaRPr lang="en-US" b="1" noProof="0" dirty="0"/>
          </a:p>
          <a:p>
            <a:pPr lvl="1"/>
            <a:endParaRPr lang="en-US" dirty="0"/>
          </a:p>
          <a:p>
            <a:pPr lvl="1"/>
            <a:endParaRPr lang="en-US" noProof="0" dirty="0"/>
          </a:p>
        </p:txBody>
      </p:sp>
      <p:sp>
        <p:nvSpPr>
          <p:cNvPr id="4" name="Slide Number Placeholder 3">
            <a:extLst>
              <a:ext uri="{FF2B5EF4-FFF2-40B4-BE49-F238E27FC236}">
                <a16:creationId xmlns:a16="http://schemas.microsoft.com/office/drawing/2014/main" id="{E3300AE2-A420-427F-B42E-4C6FD865F13F}"/>
              </a:ext>
            </a:extLst>
          </p:cNvPr>
          <p:cNvSpPr>
            <a:spLocks noGrp="1"/>
          </p:cNvSpPr>
          <p:nvPr>
            <p:ph type="sldNum" sz="quarter" idx="12"/>
          </p:nvPr>
        </p:nvSpPr>
        <p:spPr/>
        <p:txBody>
          <a:bodyPr/>
          <a:lstStyle/>
          <a:p>
            <a:fld id="{FE1B3154-47D9-4402-8EDB-E791933DC0B9}" type="slidenum">
              <a:rPr lang="nl-BE" smtClean="0"/>
              <a:pPr/>
              <a:t>12</a:t>
            </a:fld>
            <a:endParaRPr lang="nl-BE"/>
          </a:p>
        </p:txBody>
      </p:sp>
      <p:graphicFrame>
        <p:nvGraphicFramePr>
          <p:cNvPr id="7" name="Table 6">
            <a:extLst>
              <a:ext uri="{FF2B5EF4-FFF2-40B4-BE49-F238E27FC236}">
                <a16:creationId xmlns:a16="http://schemas.microsoft.com/office/drawing/2014/main" id="{1BCE55F0-E1D3-F963-4D2C-55B5C67E9A63}"/>
              </a:ext>
            </a:extLst>
          </p:cNvPr>
          <p:cNvGraphicFramePr>
            <a:graphicFrameLocks noGrp="1"/>
          </p:cNvGraphicFramePr>
          <p:nvPr>
            <p:extLst>
              <p:ext uri="{D42A27DB-BD31-4B8C-83A1-F6EECF244321}">
                <p14:modId xmlns:p14="http://schemas.microsoft.com/office/powerpoint/2010/main" val="3399073426"/>
              </p:ext>
            </p:extLst>
          </p:nvPr>
        </p:nvGraphicFramePr>
        <p:xfrm>
          <a:off x="6688434" y="1737995"/>
          <a:ext cx="5503566" cy="4754880"/>
        </p:xfrm>
        <a:graphic>
          <a:graphicData uri="http://schemas.openxmlformats.org/drawingml/2006/table">
            <a:tbl>
              <a:tblPr firstRow="1" bandRow="1">
                <a:tableStyleId>{5C22544A-7EE6-4342-B048-85BDC9FD1C3A}</a:tableStyleId>
              </a:tblPr>
              <a:tblGrid>
                <a:gridCol w="1363681">
                  <a:extLst>
                    <a:ext uri="{9D8B030D-6E8A-4147-A177-3AD203B41FA5}">
                      <a16:colId xmlns:a16="http://schemas.microsoft.com/office/drawing/2014/main" val="1285477397"/>
                    </a:ext>
                  </a:extLst>
                </a:gridCol>
                <a:gridCol w="4139885">
                  <a:extLst>
                    <a:ext uri="{9D8B030D-6E8A-4147-A177-3AD203B41FA5}">
                      <a16:colId xmlns:a16="http://schemas.microsoft.com/office/drawing/2014/main" val="1413835390"/>
                    </a:ext>
                  </a:extLst>
                </a:gridCol>
              </a:tblGrid>
              <a:tr h="360858">
                <a:tc>
                  <a:txBody>
                    <a:bodyPr/>
                    <a:lstStyle/>
                    <a:p>
                      <a:r>
                        <a:rPr lang="en-US"/>
                        <a:t>Regex</a:t>
                      </a:r>
                      <a:endParaRPr lang="en-BE"/>
                    </a:p>
                  </a:txBody>
                  <a:tcPr/>
                </a:tc>
                <a:tc>
                  <a:txBody>
                    <a:bodyPr/>
                    <a:lstStyle/>
                    <a:p>
                      <a:r>
                        <a:rPr lang="en-US" dirty="0"/>
                        <a:t>Matches</a:t>
                      </a:r>
                      <a:endParaRPr lang="en-BE" dirty="0"/>
                    </a:p>
                  </a:txBody>
                  <a:tcPr/>
                </a:tc>
                <a:extLst>
                  <a:ext uri="{0D108BD9-81ED-4DB2-BD59-A6C34878D82A}">
                    <a16:rowId xmlns:a16="http://schemas.microsoft.com/office/drawing/2014/main" val="2504624273"/>
                  </a:ext>
                </a:extLst>
              </a:tr>
              <a:tr h="360858">
                <a:tc>
                  <a:txBody>
                    <a:bodyPr/>
                    <a:lstStyle/>
                    <a:p>
                      <a:r>
                        <a:rPr lang="en-US" dirty="0"/>
                        <a:t>\d</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digit</a:t>
                      </a:r>
                      <a:endParaRPr lang="en-BE" dirty="0"/>
                    </a:p>
                  </a:txBody>
                  <a:tcPr/>
                </a:tc>
                <a:extLst>
                  <a:ext uri="{0D108BD9-81ED-4DB2-BD59-A6C34878D82A}">
                    <a16:rowId xmlns:a16="http://schemas.microsoft.com/office/drawing/2014/main" val="2298630248"/>
                  </a:ext>
                </a:extLst>
              </a:tr>
              <a:tr h="360858">
                <a:tc>
                  <a:txBody>
                    <a:bodyPr/>
                    <a:lstStyle/>
                    <a:p>
                      <a:r>
                        <a:rPr lang="en-US"/>
                        <a:t>\D</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non-digit</a:t>
                      </a:r>
                      <a:endParaRPr lang="en-BE"/>
                    </a:p>
                  </a:txBody>
                  <a:tcPr/>
                </a:tc>
                <a:extLst>
                  <a:ext uri="{0D108BD9-81ED-4DB2-BD59-A6C34878D82A}">
                    <a16:rowId xmlns:a16="http://schemas.microsoft.com/office/drawing/2014/main" val="2928470593"/>
                  </a:ext>
                </a:extLst>
              </a:tr>
              <a:tr h="360858">
                <a:tc>
                  <a:txBody>
                    <a:bodyPr/>
                    <a:lstStyle/>
                    <a:p>
                      <a:r>
                        <a:rPr lang="en-US"/>
                        <a:t>\s</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whitespace (space, but also newline)</a:t>
                      </a:r>
                      <a:endParaRPr lang="en-BE"/>
                    </a:p>
                  </a:txBody>
                  <a:tcPr/>
                </a:tc>
                <a:extLst>
                  <a:ext uri="{0D108BD9-81ED-4DB2-BD59-A6C34878D82A}">
                    <a16:rowId xmlns:a16="http://schemas.microsoft.com/office/drawing/2014/main" val="2392570621"/>
                  </a:ext>
                </a:extLst>
              </a:tr>
              <a:tr h="360858">
                <a:tc>
                  <a:txBody>
                    <a:bodyPr/>
                    <a:lstStyle/>
                    <a:p>
                      <a:r>
                        <a:rPr lang="en-US"/>
                        <a:t>\S</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Everything but \s</a:t>
                      </a:r>
                      <a:endParaRPr lang="en-BE"/>
                    </a:p>
                  </a:txBody>
                  <a:tcPr/>
                </a:tc>
                <a:extLst>
                  <a:ext uri="{0D108BD9-81ED-4DB2-BD59-A6C34878D82A}">
                    <a16:rowId xmlns:a16="http://schemas.microsoft.com/office/drawing/2014/main" val="2452459500"/>
                  </a:ext>
                </a:extLst>
              </a:tr>
              <a:tr h="360858">
                <a:tc>
                  <a:txBody>
                    <a:bodyPr/>
                    <a:lstStyle/>
                    <a:p>
                      <a:r>
                        <a:rPr lang="en-US"/>
                        <a:t>\w</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Matches any alphanumeric char (incl. “_”)</a:t>
                      </a:r>
                    </a:p>
                  </a:txBody>
                  <a:tcPr/>
                </a:tc>
                <a:extLst>
                  <a:ext uri="{0D108BD9-81ED-4DB2-BD59-A6C34878D82A}">
                    <a16:rowId xmlns:a16="http://schemas.microsoft.com/office/drawing/2014/main" val="3133782539"/>
                  </a:ext>
                </a:extLst>
              </a:tr>
              <a:tr h="360858">
                <a:tc>
                  <a:txBody>
                    <a:bodyPr/>
                    <a:lstStyle/>
                    <a:p>
                      <a:r>
                        <a:rPr lang="en-US"/>
                        <a:t>\W</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Everything but \w</a:t>
                      </a:r>
                      <a:endParaRPr lang="en-BE"/>
                    </a:p>
                  </a:txBody>
                  <a:tcPr/>
                </a:tc>
                <a:extLst>
                  <a:ext uri="{0D108BD9-81ED-4DB2-BD59-A6C34878D82A}">
                    <a16:rowId xmlns:a16="http://schemas.microsoft.com/office/drawing/2014/main" val="3548862982"/>
                  </a:ext>
                </a:extLst>
              </a:tr>
              <a:tr h="360858">
                <a:tc>
                  <a:txBody>
                    <a:bodyPr/>
                    <a:lstStyle/>
                    <a:p>
                      <a:r>
                        <a:rPr lang="en-US"/>
                        <a:t>.</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character, but only once</a:t>
                      </a:r>
                      <a:endParaRPr lang="en-BE" dirty="0"/>
                    </a:p>
                  </a:txBody>
                  <a:tcPr/>
                </a:tc>
                <a:extLst>
                  <a:ext uri="{0D108BD9-81ED-4DB2-BD59-A6C34878D82A}">
                    <a16:rowId xmlns:a16="http://schemas.microsoft.com/office/drawing/2014/main" val="93376937"/>
                  </a:ext>
                </a:extLst>
              </a:tr>
              <a:tr h="360858">
                <a:tc>
                  <a:txBody>
                    <a:bodyPr/>
                    <a:lstStyle/>
                    <a:p>
                      <a:r>
                        <a:rPr lang="en-US"/>
                        <a:t>[a-z]</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lowercase character</a:t>
                      </a:r>
                      <a:endParaRPr lang="en-BE"/>
                    </a:p>
                  </a:txBody>
                  <a:tcPr/>
                </a:tc>
                <a:extLst>
                  <a:ext uri="{0D108BD9-81ED-4DB2-BD59-A6C34878D82A}">
                    <a16:rowId xmlns:a16="http://schemas.microsoft.com/office/drawing/2014/main" val="220776262"/>
                  </a:ext>
                </a:extLst>
              </a:tr>
              <a:tr h="360858">
                <a:tc>
                  <a:txBody>
                    <a:bodyPr/>
                    <a:lstStyle/>
                    <a:p>
                      <a:r>
                        <a:rPr lang="en-US" dirty="0"/>
                        <a:t>[A-Z]</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uppercase character</a:t>
                      </a:r>
                      <a:endParaRPr lang="en-BE"/>
                    </a:p>
                  </a:txBody>
                  <a:tcPr/>
                </a:tc>
                <a:extLst>
                  <a:ext uri="{0D108BD9-81ED-4DB2-BD59-A6C34878D82A}">
                    <a16:rowId xmlns:a16="http://schemas.microsoft.com/office/drawing/2014/main" val="1326210471"/>
                  </a:ext>
                </a:extLst>
              </a:tr>
              <a:tr h="360858">
                <a:tc>
                  <a:txBody>
                    <a:bodyPr/>
                    <a:lstStyle/>
                    <a:p>
                      <a:r>
                        <a:rPr lang="en-US"/>
                        <a:t>[0-9]</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digit, equal to \d</a:t>
                      </a:r>
                    </a:p>
                  </a:txBody>
                  <a:tcPr/>
                </a:tc>
                <a:extLst>
                  <a:ext uri="{0D108BD9-81ED-4DB2-BD59-A6C34878D82A}">
                    <a16:rowId xmlns:a16="http://schemas.microsoft.com/office/drawing/2014/main" val="2051658272"/>
                  </a:ext>
                </a:extLst>
              </a:tr>
              <a:tr h="360858">
                <a:tc>
                  <a:txBody>
                    <a:bodyPr/>
                    <a:lstStyle/>
                    <a:p>
                      <a:r>
                        <a:rPr lang="en-US" dirty="0"/>
                        <a:t>$</a:t>
                      </a:r>
                      <a:endParaRPr lang="en-BE" dirty="0"/>
                    </a:p>
                  </a:txBody>
                  <a:tcPr/>
                </a:tc>
                <a:tc>
                  <a:txBody>
                    <a:bodyPr/>
                    <a:lstStyle/>
                    <a:p>
                      <a:r>
                        <a:rPr lang="en-US"/>
                        <a:t>End of string</a:t>
                      </a:r>
                    </a:p>
                  </a:txBody>
                  <a:tcPr/>
                </a:tc>
                <a:extLst>
                  <a:ext uri="{0D108BD9-81ED-4DB2-BD59-A6C34878D82A}">
                    <a16:rowId xmlns:a16="http://schemas.microsoft.com/office/drawing/2014/main" val="307575646"/>
                  </a:ext>
                </a:extLst>
              </a:tr>
              <a:tr h="360858">
                <a:tc>
                  <a:txBody>
                    <a:bodyPr/>
                    <a:lstStyle/>
                    <a:p>
                      <a:r>
                        <a:rPr lang="en-US"/>
                        <a:t>^</a:t>
                      </a:r>
                      <a:endParaRPr lang="en-BE"/>
                    </a:p>
                  </a:txBody>
                  <a:tcPr/>
                </a:tc>
                <a:tc>
                  <a:txBody>
                    <a:bodyPr/>
                    <a:lstStyle/>
                    <a:p>
                      <a:r>
                        <a:rPr lang="en-US" dirty="0"/>
                        <a:t>Start of string</a:t>
                      </a:r>
                    </a:p>
                  </a:txBody>
                  <a:tcPr/>
                </a:tc>
                <a:extLst>
                  <a:ext uri="{0D108BD9-81ED-4DB2-BD59-A6C34878D82A}">
                    <a16:rowId xmlns:a16="http://schemas.microsoft.com/office/drawing/2014/main" val="1973369269"/>
                  </a:ext>
                </a:extLst>
              </a:tr>
            </a:tbl>
          </a:graphicData>
        </a:graphic>
      </p:graphicFrame>
    </p:spTree>
    <p:extLst>
      <p:ext uri="{BB962C8B-B14F-4D97-AF65-F5344CB8AC3E}">
        <p14:creationId xmlns:p14="http://schemas.microsoft.com/office/powerpoint/2010/main" val="1820604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6DA2-7B9B-4809-8A72-BA7705BE8BFB}"/>
              </a:ext>
            </a:extLst>
          </p:cNvPr>
          <p:cNvSpPr>
            <a:spLocks noGrp="1"/>
          </p:cNvSpPr>
          <p:nvPr>
            <p:ph type="title"/>
          </p:nvPr>
        </p:nvSpPr>
        <p:spPr/>
        <p:txBody>
          <a:bodyPr>
            <a:normAutofit/>
          </a:bodyPr>
          <a:lstStyle/>
          <a:p>
            <a:r>
              <a:rPr lang="en-US" noProof="0" dirty="0"/>
              <a:t>Basic regexes - How do we match stuff?</a:t>
            </a:r>
          </a:p>
        </p:txBody>
      </p:sp>
      <p:sp>
        <p:nvSpPr>
          <p:cNvPr id="3" name="Content Placeholder 2">
            <a:extLst>
              <a:ext uri="{FF2B5EF4-FFF2-40B4-BE49-F238E27FC236}">
                <a16:creationId xmlns:a16="http://schemas.microsoft.com/office/drawing/2014/main" id="{C88B0B11-FF36-4E3C-B06D-F78A231EC455}"/>
              </a:ext>
            </a:extLst>
          </p:cNvPr>
          <p:cNvSpPr>
            <a:spLocks noGrp="1"/>
          </p:cNvSpPr>
          <p:nvPr>
            <p:ph idx="1"/>
          </p:nvPr>
        </p:nvSpPr>
        <p:spPr>
          <a:xfrm>
            <a:off x="582706" y="1550894"/>
            <a:ext cx="5963488" cy="4626069"/>
          </a:xfrm>
        </p:spPr>
        <p:txBody>
          <a:bodyPr/>
          <a:lstStyle/>
          <a:p>
            <a:r>
              <a:rPr lang="en-US" noProof="0" dirty="0"/>
              <a:t>Not all strings are so straightforward to match as “</a:t>
            </a:r>
            <a:r>
              <a:rPr lang="en-US" noProof="0" dirty="0" err="1"/>
              <a:t>abc</a:t>
            </a:r>
            <a:r>
              <a:rPr lang="en-US" noProof="0" dirty="0"/>
              <a:t>” or “&lt;b&gt;”</a:t>
            </a:r>
          </a:p>
          <a:p>
            <a:r>
              <a:rPr lang="en-US" dirty="0"/>
              <a:t>What if we want to match:</a:t>
            </a:r>
          </a:p>
          <a:p>
            <a:pPr lvl="1"/>
            <a:r>
              <a:rPr lang="en-US" noProof="0" dirty="0"/>
              <a:t>Any vowel</a:t>
            </a:r>
          </a:p>
          <a:p>
            <a:pPr lvl="1"/>
            <a:r>
              <a:rPr lang="en-US" dirty="0"/>
              <a:t>A character that is either an “a”, “b” or “c”</a:t>
            </a:r>
          </a:p>
          <a:p>
            <a:pPr lvl="1"/>
            <a:r>
              <a:rPr lang="en-US" dirty="0"/>
              <a:t>A number between 1-5</a:t>
            </a:r>
          </a:p>
          <a:p>
            <a:pPr lvl="1"/>
            <a:endParaRPr lang="en-US" noProof="0" dirty="0"/>
          </a:p>
          <a:p>
            <a:pPr marL="0" indent="0">
              <a:buNone/>
            </a:pPr>
            <a:br>
              <a:rPr lang="en-US" b="1" dirty="0">
                <a:sym typeface="Wingdings" panose="05000000000000000000" pitchFamily="2" charset="2"/>
              </a:rPr>
            </a:br>
            <a:r>
              <a:rPr lang="en-US" b="1" dirty="0">
                <a:sym typeface="Wingdings" panose="05000000000000000000" pitchFamily="2" charset="2"/>
              </a:rPr>
              <a:t> </a:t>
            </a:r>
            <a:r>
              <a:rPr lang="en-US" b="1" dirty="0"/>
              <a:t>Collections</a:t>
            </a:r>
            <a:endParaRPr lang="en-US" b="1" noProof="0" dirty="0"/>
          </a:p>
          <a:p>
            <a:pPr lvl="1"/>
            <a:endParaRPr lang="en-US" dirty="0"/>
          </a:p>
          <a:p>
            <a:pPr lvl="1"/>
            <a:endParaRPr lang="en-US" noProof="0" dirty="0"/>
          </a:p>
        </p:txBody>
      </p:sp>
      <p:sp>
        <p:nvSpPr>
          <p:cNvPr id="4" name="Slide Number Placeholder 3">
            <a:extLst>
              <a:ext uri="{FF2B5EF4-FFF2-40B4-BE49-F238E27FC236}">
                <a16:creationId xmlns:a16="http://schemas.microsoft.com/office/drawing/2014/main" id="{E3300AE2-A420-427F-B42E-4C6FD865F13F}"/>
              </a:ext>
            </a:extLst>
          </p:cNvPr>
          <p:cNvSpPr>
            <a:spLocks noGrp="1"/>
          </p:cNvSpPr>
          <p:nvPr>
            <p:ph type="sldNum" sz="quarter" idx="12"/>
          </p:nvPr>
        </p:nvSpPr>
        <p:spPr/>
        <p:txBody>
          <a:bodyPr/>
          <a:lstStyle/>
          <a:p>
            <a:fld id="{FE1B3154-47D9-4402-8EDB-E791933DC0B9}" type="slidenum">
              <a:rPr lang="nl-BE" smtClean="0"/>
              <a:pPr/>
              <a:t>13</a:t>
            </a:fld>
            <a:endParaRPr lang="nl-BE"/>
          </a:p>
        </p:txBody>
      </p:sp>
      <p:graphicFrame>
        <p:nvGraphicFramePr>
          <p:cNvPr id="5" name="Table 4">
            <a:extLst>
              <a:ext uri="{FF2B5EF4-FFF2-40B4-BE49-F238E27FC236}">
                <a16:creationId xmlns:a16="http://schemas.microsoft.com/office/drawing/2014/main" id="{2A4C1EF8-263A-374E-17AA-F71930B664C5}"/>
              </a:ext>
            </a:extLst>
          </p:cNvPr>
          <p:cNvGraphicFramePr>
            <a:graphicFrameLocks noGrp="1"/>
          </p:cNvGraphicFramePr>
          <p:nvPr>
            <p:extLst>
              <p:ext uri="{D42A27DB-BD31-4B8C-83A1-F6EECF244321}">
                <p14:modId xmlns:p14="http://schemas.microsoft.com/office/powerpoint/2010/main" val="757463764"/>
              </p:ext>
            </p:extLst>
          </p:nvPr>
        </p:nvGraphicFramePr>
        <p:xfrm>
          <a:off x="6878320" y="2522805"/>
          <a:ext cx="5232401" cy="2595880"/>
        </p:xfrm>
        <a:graphic>
          <a:graphicData uri="http://schemas.openxmlformats.org/drawingml/2006/table">
            <a:tbl>
              <a:tblPr firstRow="1" bandRow="1">
                <a:tableStyleId>{5C22544A-7EE6-4342-B048-85BDC9FD1C3A}</a:tableStyleId>
              </a:tblPr>
              <a:tblGrid>
                <a:gridCol w="1475398">
                  <a:extLst>
                    <a:ext uri="{9D8B030D-6E8A-4147-A177-3AD203B41FA5}">
                      <a16:colId xmlns:a16="http://schemas.microsoft.com/office/drawing/2014/main" val="627711170"/>
                    </a:ext>
                  </a:extLst>
                </a:gridCol>
                <a:gridCol w="3757003">
                  <a:extLst>
                    <a:ext uri="{9D8B030D-6E8A-4147-A177-3AD203B41FA5}">
                      <a16:colId xmlns:a16="http://schemas.microsoft.com/office/drawing/2014/main" val="3397963136"/>
                    </a:ext>
                  </a:extLst>
                </a:gridCol>
              </a:tblGrid>
              <a:tr h="370840">
                <a:tc>
                  <a:txBody>
                    <a:bodyPr/>
                    <a:lstStyle/>
                    <a:p>
                      <a:r>
                        <a:rPr lang="en-US" dirty="0"/>
                        <a:t>Regex</a:t>
                      </a:r>
                      <a:endParaRPr lang="en-BE" dirty="0"/>
                    </a:p>
                  </a:txBody>
                  <a:tcPr/>
                </a:tc>
                <a:tc>
                  <a:txBody>
                    <a:bodyPr/>
                    <a:lstStyle/>
                    <a:p>
                      <a:r>
                        <a:rPr lang="en-US"/>
                        <a:t>Matches</a:t>
                      </a:r>
                      <a:endParaRPr lang="en-BE"/>
                    </a:p>
                  </a:txBody>
                  <a:tcPr/>
                </a:tc>
                <a:extLst>
                  <a:ext uri="{0D108BD9-81ED-4DB2-BD59-A6C34878D82A}">
                    <a16:rowId xmlns:a16="http://schemas.microsoft.com/office/drawing/2014/main" val="3314484346"/>
                  </a:ext>
                </a:extLst>
              </a:tr>
              <a:tr h="370840">
                <a:tc>
                  <a:txBody>
                    <a:bodyPr/>
                    <a:lstStyle/>
                    <a:p>
                      <a:r>
                        <a:rPr lang="en-US" dirty="0"/>
                        <a:t>[</a:t>
                      </a:r>
                      <a:r>
                        <a:rPr lang="en-US" dirty="0" err="1"/>
                        <a:t>abc</a:t>
                      </a:r>
                      <a:r>
                        <a:rPr lang="en-US" dirty="0"/>
                        <a:t>]</a:t>
                      </a:r>
                      <a:endParaRPr lang="en-BE" dirty="0"/>
                    </a:p>
                  </a:txBody>
                  <a:tcPr/>
                </a:tc>
                <a:tc>
                  <a:txBody>
                    <a:bodyPr/>
                    <a:lstStyle/>
                    <a:p>
                      <a:r>
                        <a:rPr lang="en-US" dirty="0"/>
                        <a:t>“a”, “b” or “c”</a:t>
                      </a:r>
                      <a:endParaRPr lang="en-BE" dirty="0"/>
                    </a:p>
                  </a:txBody>
                  <a:tcPr/>
                </a:tc>
                <a:extLst>
                  <a:ext uri="{0D108BD9-81ED-4DB2-BD59-A6C34878D82A}">
                    <a16:rowId xmlns:a16="http://schemas.microsoft.com/office/drawing/2014/main" val="2219504837"/>
                  </a:ext>
                </a:extLst>
              </a:tr>
              <a:tr h="370840">
                <a:tc>
                  <a:txBody>
                    <a:bodyPr/>
                    <a:lstStyle/>
                    <a:p>
                      <a:r>
                        <a:rPr lang="en-US"/>
                        <a:t>[^</a:t>
                      </a:r>
                      <a:r>
                        <a:rPr lang="en-US" err="1"/>
                        <a:t>abc</a:t>
                      </a:r>
                      <a:r>
                        <a:rPr lang="en-US"/>
                        <a:t>]</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Everything but “a”, “b” or “c”</a:t>
                      </a:r>
                      <a:endParaRPr lang="en-BE" dirty="0"/>
                    </a:p>
                  </a:txBody>
                  <a:tcPr/>
                </a:tc>
                <a:extLst>
                  <a:ext uri="{0D108BD9-81ED-4DB2-BD59-A6C34878D82A}">
                    <a16:rowId xmlns:a16="http://schemas.microsoft.com/office/drawing/2014/main" val="2846620038"/>
                  </a:ext>
                </a:extLst>
              </a:tr>
              <a:tr h="370840">
                <a:tc>
                  <a:txBody>
                    <a:bodyPr/>
                    <a:lstStyle/>
                    <a:p>
                      <a:r>
                        <a:rPr lang="en-US" dirty="0"/>
                        <a:t>[a-z]</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lowercase character</a:t>
                      </a:r>
                      <a:endParaRPr lang="en-BE" dirty="0"/>
                    </a:p>
                  </a:txBody>
                  <a:tcPr/>
                </a:tc>
                <a:extLst>
                  <a:ext uri="{0D108BD9-81ED-4DB2-BD59-A6C34878D82A}">
                    <a16:rowId xmlns:a16="http://schemas.microsoft.com/office/drawing/2014/main" val="3163298432"/>
                  </a:ext>
                </a:extLst>
              </a:tr>
              <a:tr h="370840">
                <a:tc>
                  <a:txBody>
                    <a:bodyPr/>
                    <a:lstStyle/>
                    <a:p>
                      <a:r>
                        <a:rPr lang="en-US" dirty="0"/>
                        <a:t>[A-Z]</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uppercase character</a:t>
                      </a:r>
                      <a:endParaRPr lang="en-BE"/>
                    </a:p>
                  </a:txBody>
                  <a:tcPr/>
                </a:tc>
                <a:extLst>
                  <a:ext uri="{0D108BD9-81ED-4DB2-BD59-A6C34878D82A}">
                    <a16:rowId xmlns:a16="http://schemas.microsoft.com/office/drawing/2014/main" val="3231663389"/>
                  </a:ext>
                </a:extLst>
              </a:tr>
              <a:tr h="370840">
                <a:tc>
                  <a:txBody>
                    <a:bodyPr/>
                    <a:lstStyle/>
                    <a:p>
                      <a:r>
                        <a:rPr lang="en-US"/>
                        <a:t>[0-9]</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digit, equal to \d</a:t>
                      </a:r>
                      <a:endParaRPr lang="en-BE" dirty="0"/>
                    </a:p>
                  </a:txBody>
                  <a:tcPr/>
                </a:tc>
                <a:extLst>
                  <a:ext uri="{0D108BD9-81ED-4DB2-BD59-A6C34878D82A}">
                    <a16:rowId xmlns:a16="http://schemas.microsoft.com/office/drawing/2014/main" val="702700909"/>
                  </a:ext>
                </a:extLst>
              </a:tr>
              <a:tr h="370840">
                <a:tc>
                  <a:txBody>
                    <a:bodyPr/>
                    <a:lstStyle/>
                    <a:p>
                      <a:r>
                        <a:rPr lang="en-US" dirty="0" err="1"/>
                        <a:t>abc|def</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abc</a:t>
                      </a:r>
                      <a:r>
                        <a:rPr lang="en-US" dirty="0"/>
                        <a:t>” or “def”</a:t>
                      </a:r>
                      <a:endParaRPr lang="en-BE" dirty="0"/>
                    </a:p>
                  </a:txBody>
                  <a:tcPr/>
                </a:tc>
                <a:extLst>
                  <a:ext uri="{0D108BD9-81ED-4DB2-BD59-A6C34878D82A}">
                    <a16:rowId xmlns:a16="http://schemas.microsoft.com/office/drawing/2014/main" val="882056275"/>
                  </a:ext>
                </a:extLst>
              </a:tr>
            </a:tbl>
          </a:graphicData>
        </a:graphic>
      </p:graphicFrame>
    </p:spTree>
    <p:extLst>
      <p:ext uri="{BB962C8B-B14F-4D97-AF65-F5344CB8AC3E}">
        <p14:creationId xmlns:p14="http://schemas.microsoft.com/office/powerpoint/2010/main" val="3283971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6DA2-7B9B-4809-8A72-BA7705BE8BFB}"/>
              </a:ext>
            </a:extLst>
          </p:cNvPr>
          <p:cNvSpPr>
            <a:spLocks noGrp="1"/>
          </p:cNvSpPr>
          <p:nvPr>
            <p:ph type="title"/>
          </p:nvPr>
        </p:nvSpPr>
        <p:spPr/>
        <p:txBody>
          <a:bodyPr>
            <a:normAutofit/>
          </a:bodyPr>
          <a:lstStyle/>
          <a:p>
            <a:r>
              <a:rPr lang="en-US" noProof="0" dirty="0"/>
              <a:t>Basic regexes - How do we match stuff?</a:t>
            </a:r>
          </a:p>
        </p:txBody>
      </p:sp>
      <p:sp>
        <p:nvSpPr>
          <p:cNvPr id="3" name="Content Placeholder 2">
            <a:extLst>
              <a:ext uri="{FF2B5EF4-FFF2-40B4-BE49-F238E27FC236}">
                <a16:creationId xmlns:a16="http://schemas.microsoft.com/office/drawing/2014/main" id="{C88B0B11-FF36-4E3C-B06D-F78A231EC455}"/>
              </a:ext>
            </a:extLst>
          </p:cNvPr>
          <p:cNvSpPr>
            <a:spLocks noGrp="1"/>
          </p:cNvSpPr>
          <p:nvPr>
            <p:ph idx="1"/>
          </p:nvPr>
        </p:nvSpPr>
        <p:spPr>
          <a:xfrm>
            <a:off x="582706" y="1550894"/>
            <a:ext cx="5963488" cy="4626069"/>
          </a:xfrm>
        </p:spPr>
        <p:txBody>
          <a:bodyPr/>
          <a:lstStyle/>
          <a:p>
            <a:r>
              <a:rPr lang="en-US" noProof="0" dirty="0"/>
              <a:t>Not all strings are so straightforward to match as “</a:t>
            </a:r>
            <a:r>
              <a:rPr lang="en-US" noProof="0" dirty="0" err="1"/>
              <a:t>abc</a:t>
            </a:r>
            <a:r>
              <a:rPr lang="en-US" noProof="0" dirty="0"/>
              <a:t>” or “&lt;b&gt;”</a:t>
            </a:r>
          </a:p>
          <a:p>
            <a:r>
              <a:rPr lang="en-US" dirty="0"/>
              <a:t>What if we want to match:</a:t>
            </a:r>
          </a:p>
          <a:p>
            <a:pPr lvl="1"/>
            <a:r>
              <a:rPr lang="en-US" noProof="0" dirty="0"/>
              <a:t>“b” zero or more times</a:t>
            </a:r>
          </a:p>
          <a:p>
            <a:pPr lvl="1"/>
            <a:r>
              <a:rPr lang="en-US" dirty="0"/>
              <a:t>just one “@” in an email address</a:t>
            </a:r>
          </a:p>
          <a:p>
            <a:pPr lvl="1"/>
            <a:r>
              <a:rPr lang="en-US" dirty="0"/>
              <a:t>exactly three “w” </a:t>
            </a:r>
            <a:r>
              <a:rPr lang="en-US"/>
              <a:t>in a </a:t>
            </a:r>
            <a:r>
              <a:rPr lang="en-US" dirty="0" err="1"/>
              <a:t>url</a:t>
            </a:r>
            <a:r>
              <a:rPr lang="en-US" dirty="0"/>
              <a:t> (www)</a:t>
            </a:r>
          </a:p>
          <a:p>
            <a:pPr lvl="1"/>
            <a:endParaRPr lang="en-US" noProof="0" dirty="0"/>
          </a:p>
          <a:p>
            <a:pPr marL="0" indent="0">
              <a:buNone/>
            </a:pPr>
            <a:br>
              <a:rPr lang="en-US" b="1" dirty="0">
                <a:sym typeface="Wingdings" panose="05000000000000000000" pitchFamily="2" charset="2"/>
              </a:rPr>
            </a:br>
            <a:r>
              <a:rPr lang="en-US" b="1" dirty="0">
                <a:sym typeface="Wingdings" panose="05000000000000000000" pitchFamily="2" charset="2"/>
              </a:rPr>
              <a:t> </a:t>
            </a:r>
            <a:r>
              <a:rPr lang="en-US" b="1" dirty="0"/>
              <a:t>Quantifiers</a:t>
            </a:r>
            <a:endParaRPr lang="en-US" b="1" noProof="0" dirty="0"/>
          </a:p>
          <a:p>
            <a:pPr lvl="1"/>
            <a:endParaRPr lang="en-US" dirty="0"/>
          </a:p>
          <a:p>
            <a:pPr lvl="1"/>
            <a:endParaRPr lang="en-US" noProof="0" dirty="0"/>
          </a:p>
        </p:txBody>
      </p:sp>
      <p:sp>
        <p:nvSpPr>
          <p:cNvPr id="4" name="Slide Number Placeholder 3">
            <a:extLst>
              <a:ext uri="{FF2B5EF4-FFF2-40B4-BE49-F238E27FC236}">
                <a16:creationId xmlns:a16="http://schemas.microsoft.com/office/drawing/2014/main" id="{E3300AE2-A420-427F-B42E-4C6FD865F13F}"/>
              </a:ext>
            </a:extLst>
          </p:cNvPr>
          <p:cNvSpPr>
            <a:spLocks noGrp="1"/>
          </p:cNvSpPr>
          <p:nvPr>
            <p:ph type="sldNum" sz="quarter" idx="12"/>
          </p:nvPr>
        </p:nvSpPr>
        <p:spPr/>
        <p:txBody>
          <a:bodyPr/>
          <a:lstStyle/>
          <a:p>
            <a:fld id="{FE1B3154-47D9-4402-8EDB-E791933DC0B9}" type="slidenum">
              <a:rPr lang="nl-BE" smtClean="0"/>
              <a:pPr/>
              <a:t>14</a:t>
            </a:fld>
            <a:endParaRPr lang="nl-BE"/>
          </a:p>
        </p:txBody>
      </p:sp>
      <p:graphicFrame>
        <p:nvGraphicFramePr>
          <p:cNvPr id="6" name="Table 5">
            <a:extLst>
              <a:ext uri="{FF2B5EF4-FFF2-40B4-BE49-F238E27FC236}">
                <a16:creationId xmlns:a16="http://schemas.microsoft.com/office/drawing/2014/main" id="{2054118F-6707-5F1B-E289-B7682CE43DD3}"/>
              </a:ext>
            </a:extLst>
          </p:cNvPr>
          <p:cNvGraphicFramePr>
            <a:graphicFrameLocks noGrp="1"/>
          </p:cNvGraphicFramePr>
          <p:nvPr>
            <p:extLst>
              <p:ext uri="{D42A27DB-BD31-4B8C-83A1-F6EECF244321}">
                <p14:modId xmlns:p14="http://schemas.microsoft.com/office/powerpoint/2010/main" val="1938976443"/>
              </p:ext>
            </p:extLst>
          </p:nvPr>
        </p:nvGraphicFramePr>
        <p:xfrm>
          <a:off x="7215341" y="2337385"/>
          <a:ext cx="4658412" cy="2966720"/>
        </p:xfrm>
        <a:graphic>
          <a:graphicData uri="http://schemas.openxmlformats.org/drawingml/2006/table">
            <a:tbl>
              <a:tblPr firstRow="1" bandRow="1">
                <a:tableStyleId>{5C22544A-7EE6-4342-B048-85BDC9FD1C3A}</a:tableStyleId>
              </a:tblPr>
              <a:tblGrid>
                <a:gridCol w="1631432">
                  <a:extLst>
                    <a:ext uri="{9D8B030D-6E8A-4147-A177-3AD203B41FA5}">
                      <a16:colId xmlns:a16="http://schemas.microsoft.com/office/drawing/2014/main" val="3287845227"/>
                    </a:ext>
                  </a:extLst>
                </a:gridCol>
                <a:gridCol w="3026980">
                  <a:extLst>
                    <a:ext uri="{9D8B030D-6E8A-4147-A177-3AD203B41FA5}">
                      <a16:colId xmlns:a16="http://schemas.microsoft.com/office/drawing/2014/main" val="591265017"/>
                    </a:ext>
                  </a:extLst>
                </a:gridCol>
              </a:tblGrid>
              <a:tr h="370840">
                <a:tc>
                  <a:txBody>
                    <a:bodyPr/>
                    <a:lstStyle/>
                    <a:p>
                      <a:r>
                        <a:rPr lang="en-US"/>
                        <a:t>Quantifier</a:t>
                      </a:r>
                      <a:endParaRPr lang="en-BE"/>
                    </a:p>
                  </a:txBody>
                  <a:tcPr/>
                </a:tc>
                <a:tc>
                  <a:txBody>
                    <a:bodyPr/>
                    <a:lstStyle/>
                    <a:p>
                      <a:r>
                        <a:rPr lang="en-US"/>
                        <a:t>Multiplies how?</a:t>
                      </a:r>
                      <a:endParaRPr lang="en-BE"/>
                    </a:p>
                  </a:txBody>
                  <a:tcPr/>
                </a:tc>
                <a:extLst>
                  <a:ext uri="{0D108BD9-81ED-4DB2-BD59-A6C34878D82A}">
                    <a16:rowId xmlns:a16="http://schemas.microsoft.com/office/drawing/2014/main" val="4276337604"/>
                  </a:ext>
                </a:extLst>
              </a:tr>
              <a:tr h="370840">
                <a:tc>
                  <a:txBody>
                    <a:bodyPr/>
                    <a:lstStyle/>
                    <a:p>
                      <a:r>
                        <a:rPr lang="en-US"/>
                        <a:t>*</a:t>
                      </a:r>
                      <a:endParaRPr lang="en-BE"/>
                    </a:p>
                  </a:txBody>
                  <a:tcPr/>
                </a:tc>
                <a:tc>
                  <a:txBody>
                    <a:bodyPr/>
                    <a:lstStyle/>
                    <a:p>
                      <a:r>
                        <a:rPr lang="en-US" dirty="0"/>
                        <a:t>Zero or more times</a:t>
                      </a:r>
                      <a:endParaRPr lang="en-BE" dirty="0"/>
                    </a:p>
                  </a:txBody>
                  <a:tcPr/>
                </a:tc>
                <a:extLst>
                  <a:ext uri="{0D108BD9-81ED-4DB2-BD59-A6C34878D82A}">
                    <a16:rowId xmlns:a16="http://schemas.microsoft.com/office/drawing/2014/main" val="561573765"/>
                  </a:ext>
                </a:extLst>
              </a:tr>
              <a:tr h="370840">
                <a:tc>
                  <a:txBody>
                    <a:bodyPr/>
                    <a:lstStyle/>
                    <a:p>
                      <a:r>
                        <a:rPr lang="en-US"/>
                        <a:t>+</a:t>
                      </a:r>
                      <a:endParaRPr lang="en-BE"/>
                    </a:p>
                  </a:txBody>
                  <a:tcPr/>
                </a:tc>
                <a:tc>
                  <a:txBody>
                    <a:bodyPr/>
                    <a:lstStyle/>
                    <a:p>
                      <a:r>
                        <a:rPr lang="en-US"/>
                        <a:t>One or more times</a:t>
                      </a:r>
                      <a:endParaRPr lang="en-BE"/>
                    </a:p>
                  </a:txBody>
                  <a:tcPr/>
                </a:tc>
                <a:extLst>
                  <a:ext uri="{0D108BD9-81ED-4DB2-BD59-A6C34878D82A}">
                    <a16:rowId xmlns:a16="http://schemas.microsoft.com/office/drawing/2014/main" val="2613574498"/>
                  </a:ext>
                </a:extLst>
              </a:tr>
              <a:tr h="370840">
                <a:tc>
                  <a:txBody>
                    <a:bodyPr/>
                    <a:lstStyle/>
                    <a:p>
                      <a:r>
                        <a:rPr lang="en-US"/>
                        <a:t>?</a:t>
                      </a:r>
                      <a:endParaRPr lang="en-BE"/>
                    </a:p>
                  </a:txBody>
                  <a:tcPr/>
                </a:tc>
                <a:tc>
                  <a:txBody>
                    <a:bodyPr/>
                    <a:lstStyle/>
                    <a:p>
                      <a:r>
                        <a:rPr lang="en-US"/>
                        <a:t>Zero or once</a:t>
                      </a:r>
                      <a:endParaRPr lang="en-BE"/>
                    </a:p>
                  </a:txBody>
                  <a:tcPr/>
                </a:tc>
                <a:extLst>
                  <a:ext uri="{0D108BD9-81ED-4DB2-BD59-A6C34878D82A}">
                    <a16:rowId xmlns:a16="http://schemas.microsoft.com/office/drawing/2014/main" val="26195700"/>
                  </a:ext>
                </a:extLst>
              </a:tr>
              <a:tr h="370840">
                <a:tc>
                  <a:txBody>
                    <a:bodyPr/>
                    <a:lstStyle/>
                    <a:p>
                      <a:r>
                        <a:rPr lang="en-US" dirty="0"/>
                        <a:t>{3}</a:t>
                      </a:r>
                      <a:endParaRPr lang="en-BE" dirty="0"/>
                    </a:p>
                  </a:txBody>
                  <a:tcPr/>
                </a:tc>
                <a:tc>
                  <a:txBody>
                    <a:bodyPr/>
                    <a:lstStyle/>
                    <a:p>
                      <a:r>
                        <a:rPr lang="en-US"/>
                        <a:t>Exactly three times</a:t>
                      </a:r>
                    </a:p>
                  </a:txBody>
                  <a:tcPr/>
                </a:tc>
                <a:extLst>
                  <a:ext uri="{0D108BD9-81ED-4DB2-BD59-A6C34878D82A}">
                    <a16:rowId xmlns:a16="http://schemas.microsoft.com/office/drawing/2014/main" val="1345685132"/>
                  </a:ext>
                </a:extLst>
              </a:tr>
              <a:tr h="370840">
                <a:tc>
                  <a:txBody>
                    <a:bodyPr/>
                    <a:lstStyle/>
                    <a:p>
                      <a:r>
                        <a:rPr lang="en-US"/>
                        <a:t>{3,6}</a:t>
                      </a:r>
                      <a:endParaRPr lang="en-BE"/>
                    </a:p>
                  </a:txBody>
                  <a:tcPr/>
                </a:tc>
                <a:tc>
                  <a:txBody>
                    <a:bodyPr/>
                    <a:lstStyle/>
                    <a:p>
                      <a:r>
                        <a:rPr lang="en-US"/>
                        <a:t>Three to six times</a:t>
                      </a:r>
                    </a:p>
                  </a:txBody>
                  <a:tcPr/>
                </a:tc>
                <a:extLst>
                  <a:ext uri="{0D108BD9-81ED-4DB2-BD59-A6C34878D82A}">
                    <a16:rowId xmlns:a16="http://schemas.microsoft.com/office/drawing/2014/main" val="2423067106"/>
                  </a:ext>
                </a:extLst>
              </a:tr>
              <a:tr h="370840">
                <a:tc>
                  <a:txBody>
                    <a:bodyPr/>
                    <a:lstStyle/>
                    <a:p>
                      <a:r>
                        <a:rPr lang="en-US"/>
                        <a:t>{3,}</a:t>
                      </a:r>
                      <a:endParaRPr lang="en-BE"/>
                    </a:p>
                  </a:txBody>
                  <a:tcPr/>
                </a:tc>
                <a:tc>
                  <a:txBody>
                    <a:bodyPr/>
                    <a:lstStyle/>
                    <a:p>
                      <a:r>
                        <a:rPr lang="en-US"/>
                        <a:t>Three or more times</a:t>
                      </a:r>
                    </a:p>
                  </a:txBody>
                  <a:tcPr/>
                </a:tc>
                <a:extLst>
                  <a:ext uri="{0D108BD9-81ED-4DB2-BD59-A6C34878D82A}">
                    <a16:rowId xmlns:a16="http://schemas.microsoft.com/office/drawing/2014/main" val="3638597519"/>
                  </a:ext>
                </a:extLst>
              </a:tr>
              <a:tr h="370840">
                <a:tc>
                  <a:txBody>
                    <a:bodyPr/>
                    <a:lstStyle/>
                    <a:p>
                      <a:r>
                        <a:rPr lang="en-US"/>
                        <a:t>{,6}</a:t>
                      </a:r>
                      <a:endParaRPr lang="en-BE"/>
                    </a:p>
                  </a:txBody>
                  <a:tcPr/>
                </a:tc>
                <a:tc>
                  <a:txBody>
                    <a:bodyPr/>
                    <a:lstStyle/>
                    <a:p>
                      <a:r>
                        <a:rPr lang="en-US" dirty="0"/>
                        <a:t>Up to six times</a:t>
                      </a:r>
                    </a:p>
                  </a:txBody>
                  <a:tcPr/>
                </a:tc>
                <a:extLst>
                  <a:ext uri="{0D108BD9-81ED-4DB2-BD59-A6C34878D82A}">
                    <a16:rowId xmlns:a16="http://schemas.microsoft.com/office/drawing/2014/main" val="3252855121"/>
                  </a:ext>
                </a:extLst>
              </a:tr>
            </a:tbl>
          </a:graphicData>
        </a:graphic>
      </p:graphicFrame>
    </p:spTree>
    <p:extLst>
      <p:ext uri="{BB962C8B-B14F-4D97-AF65-F5344CB8AC3E}">
        <p14:creationId xmlns:p14="http://schemas.microsoft.com/office/powerpoint/2010/main" val="2064606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6DA2-7B9B-4809-8A72-BA7705BE8BFB}"/>
              </a:ext>
            </a:extLst>
          </p:cNvPr>
          <p:cNvSpPr>
            <a:spLocks noGrp="1"/>
          </p:cNvSpPr>
          <p:nvPr>
            <p:ph type="title"/>
          </p:nvPr>
        </p:nvSpPr>
        <p:spPr/>
        <p:txBody>
          <a:bodyPr>
            <a:normAutofit/>
          </a:bodyPr>
          <a:lstStyle/>
          <a:p>
            <a:r>
              <a:rPr lang="en-US" noProof="0" dirty="0"/>
              <a:t>Basic regexes - All together now!</a:t>
            </a:r>
          </a:p>
        </p:txBody>
      </p:sp>
      <p:sp>
        <p:nvSpPr>
          <p:cNvPr id="4" name="Slide Number Placeholder 3">
            <a:extLst>
              <a:ext uri="{FF2B5EF4-FFF2-40B4-BE49-F238E27FC236}">
                <a16:creationId xmlns:a16="http://schemas.microsoft.com/office/drawing/2014/main" id="{E3300AE2-A420-427F-B42E-4C6FD865F13F}"/>
              </a:ext>
            </a:extLst>
          </p:cNvPr>
          <p:cNvSpPr>
            <a:spLocks noGrp="1"/>
          </p:cNvSpPr>
          <p:nvPr>
            <p:ph type="sldNum" sz="quarter" idx="12"/>
          </p:nvPr>
        </p:nvSpPr>
        <p:spPr/>
        <p:txBody>
          <a:bodyPr/>
          <a:lstStyle/>
          <a:p>
            <a:fld id="{FE1B3154-47D9-4402-8EDB-E791933DC0B9}" type="slidenum">
              <a:rPr lang="nl-BE" smtClean="0"/>
              <a:pPr/>
              <a:t>15</a:t>
            </a:fld>
            <a:endParaRPr lang="nl-BE"/>
          </a:p>
        </p:txBody>
      </p:sp>
      <p:graphicFrame>
        <p:nvGraphicFramePr>
          <p:cNvPr id="5" name="Table 5">
            <a:extLst>
              <a:ext uri="{FF2B5EF4-FFF2-40B4-BE49-F238E27FC236}">
                <a16:creationId xmlns:a16="http://schemas.microsoft.com/office/drawing/2014/main" id="{9D648647-CB03-4919-8494-E38C288133B0}"/>
              </a:ext>
            </a:extLst>
          </p:cNvPr>
          <p:cNvGraphicFramePr>
            <a:graphicFrameLocks noGrp="1"/>
          </p:cNvGraphicFramePr>
          <p:nvPr>
            <p:extLst>
              <p:ext uri="{D42A27DB-BD31-4B8C-83A1-F6EECF244321}">
                <p14:modId xmlns:p14="http://schemas.microsoft.com/office/powerpoint/2010/main" val="3303033953"/>
              </p:ext>
            </p:extLst>
          </p:nvPr>
        </p:nvGraphicFramePr>
        <p:xfrm>
          <a:off x="6307649" y="1529715"/>
          <a:ext cx="5645807" cy="5191760"/>
        </p:xfrm>
        <a:graphic>
          <a:graphicData uri="http://schemas.openxmlformats.org/drawingml/2006/table">
            <a:tbl>
              <a:tblPr firstRow="1" bandRow="1">
                <a:tableStyleId>{5C22544A-7EE6-4342-B048-85BDC9FD1C3A}</a:tableStyleId>
              </a:tblPr>
              <a:tblGrid>
                <a:gridCol w="1231462">
                  <a:extLst>
                    <a:ext uri="{9D8B030D-6E8A-4147-A177-3AD203B41FA5}">
                      <a16:colId xmlns:a16="http://schemas.microsoft.com/office/drawing/2014/main" val="2456493243"/>
                    </a:ext>
                  </a:extLst>
                </a:gridCol>
                <a:gridCol w="4414345">
                  <a:extLst>
                    <a:ext uri="{9D8B030D-6E8A-4147-A177-3AD203B41FA5}">
                      <a16:colId xmlns:a16="http://schemas.microsoft.com/office/drawing/2014/main" val="513982968"/>
                    </a:ext>
                  </a:extLst>
                </a:gridCol>
              </a:tblGrid>
              <a:tr h="370840">
                <a:tc>
                  <a:txBody>
                    <a:bodyPr/>
                    <a:lstStyle/>
                    <a:p>
                      <a:r>
                        <a:rPr lang="en-US"/>
                        <a:t>Regex</a:t>
                      </a:r>
                      <a:endParaRPr lang="en-BE"/>
                    </a:p>
                  </a:txBody>
                  <a:tcPr/>
                </a:tc>
                <a:tc>
                  <a:txBody>
                    <a:bodyPr/>
                    <a:lstStyle/>
                    <a:p>
                      <a:r>
                        <a:rPr lang="en-US" dirty="0"/>
                        <a:t>Matches</a:t>
                      </a:r>
                      <a:endParaRPr lang="en-BE" dirty="0"/>
                    </a:p>
                  </a:txBody>
                  <a:tcPr/>
                </a:tc>
                <a:extLst>
                  <a:ext uri="{0D108BD9-81ED-4DB2-BD59-A6C34878D82A}">
                    <a16:rowId xmlns:a16="http://schemas.microsoft.com/office/drawing/2014/main" val="3450087997"/>
                  </a:ext>
                </a:extLst>
              </a:tr>
              <a:tr h="370840">
                <a:tc>
                  <a:txBody>
                    <a:bodyPr/>
                    <a:lstStyle/>
                    <a:p>
                      <a:r>
                        <a:rPr lang="en-US" dirty="0"/>
                        <a:t>[</a:t>
                      </a:r>
                      <a:r>
                        <a:rPr lang="en-US" dirty="0" err="1"/>
                        <a:t>abc</a:t>
                      </a:r>
                      <a:r>
                        <a:rPr lang="en-US" dirty="0"/>
                        <a:t>]</a:t>
                      </a:r>
                      <a:endParaRPr lang="en-BE" dirty="0"/>
                    </a:p>
                  </a:txBody>
                  <a:tcPr/>
                </a:tc>
                <a:tc>
                  <a:txBody>
                    <a:bodyPr/>
                    <a:lstStyle/>
                    <a:p>
                      <a:r>
                        <a:rPr lang="en-US" dirty="0"/>
                        <a:t>“a”, “b” or “c”</a:t>
                      </a:r>
                      <a:endParaRPr lang="en-BE" dirty="0"/>
                    </a:p>
                  </a:txBody>
                  <a:tcPr/>
                </a:tc>
                <a:extLst>
                  <a:ext uri="{0D108BD9-81ED-4DB2-BD59-A6C34878D82A}">
                    <a16:rowId xmlns:a16="http://schemas.microsoft.com/office/drawing/2014/main" val="283195313"/>
                  </a:ext>
                </a:extLst>
              </a:tr>
              <a:tr h="370840">
                <a:tc>
                  <a:txBody>
                    <a:bodyPr/>
                    <a:lstStyle/>
                    <a:p>
                      <a:r>
                        <a:rPr lang="en-US"/>
                        <a:t>[^</a:t>
                      </a:r>
                      <a:r>
                        <a:rPr lang="en-US" err="1"/>
                        <a:t>abc</a:t>
                      </a:r>
                      <a:r>
                        <a:rPr lang="en-US"/>
                        <a:t>]</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Everything but “a”, “b” or “c”</a:t>
                      </a:r>
                      <a:endParaRPr lang="en-BE" dirty="0"/>
                    </a:p>
                  </a:txBody>
                  <a:tcPr/>
                </a:tc>
                <a:extLst>
                  <a:ext uri="{0D108BD9-81ED-4DB2-BD59-A6C34878D82A}">
                    <a16:rowId xmlns:a16="http://schemas.microsoft.com/office/drawing/2014/main" val="659626761"/>
                  </a:ext>
                </a:extLst>
              </a:tr>
              <a:tr h="370840">
                <a:tc>
                  <a:txBody>
                    <a:bodyPr/>
                    <a:lstStyle/>
                    <a:p>
                      <a:r>
                        <a:rPr lang="en-US" err="1"/>
                        <a:t>abc|def</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r>
                        <a:rPr lang="en-US" err="1"/>
                        <a:t>abc</a:t>
                      </a:r>
                      <a:r>
                        <a:rPr lang="en-US"/>
                        <a:t>” or “def”</a:t>
                      </a:r>
                      <a:endParaRPr lang="en-BE"/>
                    </a:p>
                  </a:txBody>
                  <a:tcPr/>
                </a:tc>
                <a:extLst>
                  <a:ext uri="{0D108BD9-81ED-4DB2-BD59-A6C34878D82A}">
                    <a16:rowId xmlns:a16="http://schemas.microsoft.com/office/drawing/2014/main" val="2762101001"/>
                  </a:ext>
                </a:extLst>
              </a:tr>
              <a:tr h="370840">
                <a:tc>
                  <a:txBody>
                    <a:bodyPr/>
                    <a:lstStyle/>
                    <a:p>
                      <a:r>
                        <a:rPr lang="en-US"/>
                        <a:t>\d</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digit</a:t>
                      </a:r>
                      <a:endParaRPr lang="en-BE"/>
                    </a:p>
                  </a:txBody>
                  <a:tcPr/>
                </a:tc>
                <a:extLst>
                  <a:ext uri="{0D108BD9-81ED-4DB2-BD59-A6C34878D82A}">
                    <a16:rowId xmlns:a16="http://schemas.microsoft.com/office/drawing/2014/main" val="3617798418"/>
                  </a:ext>
                </a:extLst>
              </a:tr>
              <a:tr h="370840">
                <a:tc>
                  <a:txBody>
                    <a:bodyPr/>
                    <a:lstStyle/>
                    <a:p>
                      <a:r>
                        <a:rPr lang="en-US"/>
                        <a:t>\D</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non-digit</a:t>
                      </a:r>
                      <a:endParaRPr lang="en-BE"/>
                    </a:p>
                  </a:txBody>
                  <a:tcPr/>
                </a:tc>
                <a:extLst>
                  <a:ext uri="{0D108BD9-81ED-4DB2-BD59-A6C34878D82A}">
                    <a16:rowId xmlns:a16="http://schemas.microsoft.com/office/drawing/2014/main" val="1504622627"/>
                  </a:ext>
                </a:extLst>
              </a:tr>
              <a:tr h="370840">
                <a:tc>
                  <a:txBody>
                    <a:bodyPr/>
                    <a:lstStyle/>
                    <a:p>
                      <a:r>
                        <a:rPr lang="en-US"/>
                        <a:t>\s</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whitespace (space, but also newline)</a:t>
                      </a:r>
                      <a:endParaRPr lang="en-BE"/>
                    </a:p>
                  </a:txBody>
                  <a:tcPr/>
                </a:tc>
                <a:extLst>
                  <a:ext uri="{0D108BD9-81ED-4DB2-BD59-A6C34878D82A}">
                    <a16:rowId xmlns:a16="http://schemas.microsoft.com/office/drawing/2014/main" val="3976150830"/>
                  </a:ext>
                </a:extLst>
              </a:tr>
              <a:tr h="370840">
                <a:tc>
                  <a:txBody>
                    <a:bodyPr/>
                    <a:lstStyle/>
                    <a:p>
                      <a:r>
                        <a:rPr lang="en-US"/>
                        <a:t>\S</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Everything but \s</a:t>
                      </a:r>
                      <a:endParaRPr lang="en-BE"/>
                    </a:p>
                  </a:txBody>
                  <a:tcPr/>
                </a:tc>
                <a:extLst>
                  <a:ext uri="{0D108BD9-81ED-4DB2-BD59-A6C34878D82A}">
                    <a16:rowId xmlns:a16="http://schemas.microsoft.com/office/drawing/2014/main" val="1277590281"/>
                  </a:ext>
                </a:extLst>
              </a:tr>
              <a:tr h="370840">
                <a:tc>
                  <a:txBody>
                    <a:bodyPr/>
                    <a:lstStyle/>
                    <a:p>
                      <a:r>
                        <a:rPr lang="en-US"/>
                        <a:t>\w</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Matches any alphanumeric char (incl. “_”)</a:t>
                      </a:r>
                    </a:p>
                  </a:txBody>
                  <a:tcPr/>
                </a:tc>
                <a:extLst>
                  <a:ext uri="{0D108BD9-81ED-4DB2-BD59-A6C34878D82A}">
                    <a16:rowId xmlns:a16="http://schemas.microsoft.com/office/drawing/2014/main" val="4071115265"/>
                  </a:ext>
                </a:extLst>
              </a:tr>
              <a:tr h="370840">
                <a:tc>
                  <a:txBody>
                    <a:bodyPr/>
                    <a:lstStyle/>
                    <a:p>
                      <a:r>
                        <a:rPr lang="en-US"/>
                        <a:t>\W</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Everything but \w</a:t>
                      </a:r>
                      <a:endParaRPr lang="en-BE"/>
                    </a:p>
                  </a:txBody>
                  <a:tcPr/>
                </a:tc>
                <a:extLst>
                  <a:ext uri="{0D108BD9-81ED-4DB2-BD59-A6C34878D82A}">
                    <a16:rowId xmlns:a16="http://schemas.microsoft.com/office/drawing/2014/main" val="609042763"/>
                  </a:ext>
                </a:extLst>
              </a:tr>
              <a:tr h="370840">
                <a:tc>
                  <a:txBody>
                    <a:bodyPr/>
                    <a:lstStyle/>
                    <a:p>
                      <a:r>
                        <a:rPr lang="en-US"/>
                        <a:t>.</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character, but only once</a:t>
                      </a:r>
                      <a:endParaRPr lang="en-BE" dirty="0"/>
                    </a:p>
                  </a:txBody>
                  <a:tcPr/>
                </a:tc>
                <a:extLst>
                  <a:ext uri="{0D108BD9-81ED-4DB2-BD59-A6C34878D82A}">
                    <a16:rowId xmlns:a16="http://schemas.microsoft.com/office/drawing/2014/main" val="3992130435"/>
                  </a:ext>
                </a:extLst>
              </a:tr>
              <a:tr h="370840">
                <a:tc>
                  <a:txBody>
                    <a:bodyPr/>
                    <a:lstStyle/>
                    <a:p>
                      <a:r>
                        <a:rPr lang="en-US"/>
                        <a:t>[a-z]</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lowercase character</a:t>
                      </a:r>
                      <a:endParaRPr lang="en-BE"/>
                    </a:p>
                  </a:txBody>
                  <a:tcPr/>
                </a:tc>
                <a:extLst>
                  <a:ext uri="{0D108BD9-81ED-4DB2-BD59-A6C34878D82A}">
                    <a16:rowId xmlns:a16="http://schemas.microsoft.com/office/drawing/2014/main" val="3748748213"/>
                  </a:ext>
                </a:extLst>
              </a:tr>
              <a:tr h="370840">
                <a:tc>
                  <a:txBody>
                    <a:bodyPr/>
                    <a:lstStyle/>
                    <a:p>
                      <a:r>
                        <a:rPr lang="en-US" dirty="0"/>
                        <a:t>[A-Z]</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Any uppercase character</a:t>
                      </a:r>
                      <a:endParaRPr lang="en-BE"/>
                    </a:p>
                  </a:txBody>
                  <a:tcPr/>
                </a:tc>
                <a:extLst>
                  <a:ext uri="{0D108BD9-81ED-4DB2-BD59-A6C34878D82A}">
                    <a16:rowId xmlns:a16="http://schemas.microsoft.com/office/drawing/2014/main" val="780798936"/>
                  </a:ext>
                </a:extLst>
              </a:tr>
              <a:tr h="370840">
                <a:tc>
                  <a:txBody>
                    <a:bodyPr/>
                    <a:lstStyle/>
                    <a:p>
                      <a:r>
                        <a:rPr lang="en-US"/>
                        <a:t>[0-9]</a:t>
                      </a:r>
                      <a:endParaRPr lang="en-B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digit, equal to \d</a:t>
                      </a:r>
                      <a:endParaRPr lang="en-BE" dirty="0"/>
                    </a:p>
                  </a:txBody>
                  <a:tcPr/>
                </a:tc>
                <a:extLst>
                  <a:ext uri="{0D108BD9-81ED-4DB2-BD59-A6C34878D82A}">
                    <a16:rowId xmlns:a16="http://schemas.microsoft.com/office/drawing/2014/main" val="2841142919"/>
                  </a:ext>
                </a:extLst>
              </a:tr>
            </a:tbl>
          </a:graphicData>
        </a:graphic>
      </p:graphicFrame>
      <p:graphicFrame>
        <p:nvGraphicFramePr>
          <p:cNvPr id="6" name="Table 6">
            <a:extLst>
              <a:ext uri="{FF2B5EF4-FFF2-40B4-BE49-F238E27FC236}">
                <a16:creationId xmlns:a16="http://schemas.microsoft.com/office/drawing/2014/main" id="{7B660AED-0720-47F3-9728-90DC946F6A53}"/>
              </a:ext>
            </a:extLst>
          </p:cNvPr>
          <p:cNvGraphicFramePr>
            <a:graphicFrameLocks noGrp="1"/>
          </p:cNvGraphicFramePr>
          <p:nvPr>
            <p:extLst>
              <p:ext uri="{D42A27DB-BD31-4B8C-83A1-F6EECF244321}">
                <p14:modId xmlns:p14="http://schemas.microsoft.com/office/powerpoint/2010/main" val="959101664"/>
              </p:ext>
            </p:extLst>
          </p:nvPr>
        </p:nvGraphicFramePr>
        <p:xfrm>
          <a:off x="945838" y="3571652"/>
          <a:ext cx="4658412" cy="2966720"/>
        </p:xfrm>
        <a:graphic>
          <a:graphicData uri="http://schemas.openxmlformats.org/drawingml/2006/table">
            <a:tbl>
              <a:tblPr firstRow="1" bandRow="1">
                <a:tableStyleId>{5C22544A-7EE6-4342-B048-85BDC9FD1C3A}</a:tableStyleId>
              </a:tblPr>
              <a:tblGrid>
                <a:gridCol w="1631432">
                  <a:extLst>
                    <a:ext uri="{9D8B030D-6E8A-4147-A177-3AD203B41FA5}">
                      <a16:colId xmlns:a16="http://schemas.microsoft.com/office/drawing/2014/main" val="726529288"/>
                    </a:ext>
                  </a:extLst>
                </a:gridCol>
                <a:gridCol w="3026980">
                  <a:extLst>
                    <a:ext uri="{9D8B030D-6E8A-4147-A177-3AD203B41FA5}">
                      <a16:colId xmlns:a16="http://schemas.microsoft.com/office/drawing/2014/main" val="3681647094"/>
                    </a:ext>
                  </a:extLst>
                </a:gridCol>
              </a:tblGrid>
              <a:tr h="370840">
                <a:tc>
                  <a:txBody>
                    <a:bodyPr/>
                    <a:lstStyle/>
                    <a:p>
                      <a:r>
                        <a:rPr lang="en-US"/>
                        <a:t>Quantifier</a:t>
                      </a:r>
                      <a:endParaRPr lang="en-BE"/>
                    </a:p>
                  </a:txBody>
                  <a:tcPr/>
                </a:tc>
                <a:tc>
                  <a:txBody>
                    <a:bodyPr/>
                    <a:lstStyle/>
                    <a:p>
                      <a:r>
                        <a:rPr lang="en-US" dirty="0"/>
                        <a:t>Multiplies how?</a:t>
                      </a:r>
                      <a:endParaRPr lang="en-BE" dirty="0"/>
                    </a:p>
                  </a:txBody>
                  <a:tcPr/>
                </a:tc>
                <a:extLst>
                  <a:ext uri="{0D108BD9-81ED-4DB2-BD59-A6C34878D82A}">
                    <a16:rowId xmlns:a16="http://schemas.microsoft.com/office/drawing/2014/main" val="1166697303"/>
                  </a:ext>
                </a:extLst>
              </a:tr>
              <a:tr h="370840">
                <a:tc>
                  <a:txBody>
                    <a:bodyPr/>
                    <a:lstStyle/>
                    <a:p>
                      <a:r>
                        <a:rPr lang="en-US"/>
                        <a:t>*</a:t>
                      </a:r>
                      <a:endParaRPr lang="en-BE"/>
                    </a:p>
                  </a:txBody>
                  <a:tcPr/>
                </a:tc>
                <a:tc>
                  <a:txBody>
                    <a:bodyPr/>
                    <a:lstStyle/>
                    <a:p>
                      <a:r>
                        <a:rPr lang="en-US"/>
                        <a:t>Zero or more times</a:t>
                      </a:r>
                      <a:endParaRPr lang="en-BE"/>
                    </a:p>
                  </a:txBody>
                  <a:tcPr/>
                </a:tc>
                <a:extLst>
                  <a:ext uri="{0D108BD9-81ED-4DB2-BD59-A6C34878D82A}">
                    <a16:rowId xmlns:a16="http://schemas.microsoft.com/office/drawing/2014/main" val="4289318360"/>
                  </a:ext>
                </a:extLst>
              </a:tr>
              <a:tr h="370840">
                <a:tc>
                  <a:txBody>
                    <a:bodyPr/>
                    <a:lstStyle/>
                    <a:p>
                      <a:r>
                        <a:rPr lang="en-US"/>
                        <a:t>+</a:t>
                      </a:r>
                      <a:endParaRPr lang="en-BE"/>
                    </a:p>
                  </a:txBody>
                  <a:tcPr/>
                </a:tc>
                <a:tc>
                  <a:txBody>
                    <a:bodyPr/>
                    <a:lstStyle/>
                    <a:p>
                      <a:r>
                        <a:rPr lang="en-US"/>
                        <a:t>One or more times</a:t>
                      </a:r>
                      <a:endParaRPr lang="en-BE"/>
                    </a:p>
                  </a:txBody>
                  <a:tcPr/>
                </a:tc>
                <a:extLst>
                  <a:ext uri="{0D108BD9-81ED-4DB2-BD59-A6C34878D82A}">
                    <a16:rowId xmlns:a16="http://schemas.microsoft.com/office/drawing/2014/main" val="3480665077"/>
                  </a:ext>
                </a:extLst>
              </a:tr>
              <a:tr h="370840">
                <a:tc>
                  <a:txBody>
                    <a:bodyPr/>
                    <a:lstStyle/>
                    <a:p>
                      <a:r>
                        <a:rPr lang="en-US"/>
                        <a:t>?</a:t>
                      </a:r>
                      <a:endParaRPr lang="en-BE"/>
                    </a:p>
                  </a:txBody>
                  <a:tcPr/>
                </a:tc>
                <a:tc>
                  <a:txBody>
                    <a:bodyPr/>
                    <a:lstStyle/>
                    <a:p>
                      <a:r>
                        <a:rPr lang="en-US"/>
                        <a:t>Zero or once</a:t>
                      </a:r>
                      <a:endParaRPr lang="en-BE"/>
                    </a:p>
                  </a:txBody>
                  <a:tcPr/>
                </a:tc>
                <a:extLst>
                  <a:ext uri="{0D108BD9-81ED-4DB2-BD59-A6C34878D82A}">
                    <a16:rowId xmlns:a16="http://schemas.microsoft.com/office/drawing/2014/main" val="2181274056"/>
                  </a:ext>
                </a:extLst>
              </a:tr>
              <a:tr h="370840">
                <a:tc>
                  <a:txBody>
                    <a:bodyPr/>
                    <a:lstStyle/>
                    <a:p>
                      <a:r>
                        <a:rPr lang="en-US" dirty="0"/>
                        <a:t>{3}</a:t>
                      </a:r>
                      <a:endParaRPr lang="en-BE" dirty="0"/>
                    </a:p>
                  </a:txBody>
                  <a:tcPr/>
                </a:tc>
                <a:tc>
                  <a:txBody>
                    <a:bodyPr/>
                    <a:lstStyle/>
                    <a:p>
                      <a:r>
                        <a:rPr lang="en-US"/>
                        <a:t>Exactly three times</a:t>
                      </a:r>
                    </a:p>
                  </a:txBody>
                  <a:tcPr/>
                </a:tc>
                <a:extLst>
                  <a:ext uri="{0D108BD9-81ED-4DB2-BD59-A6C34878D82A}">
                    <a16:rowId xmlns:a16="http://schemas.microsoft.com/office/drawing/2014/main" val="1144373360"/>
                  </a:ext>
                </a:extLst>
              </a:tr>
              <a:tr h="370840">
                <a:tc>
                  <a:txBody>
                    <a:bodyPr/>
                    <a:lstStyle/>
                    <a:p>
                      <a:r>
                        <a:rPr lang="en-US"/>
                        <a:t>{3,6}</a:t>
                      </a:r>
                      <a:endParaRPr lang="en-BE"/>
                    </a:p>
                  </a:txBody>
                  <a:tcPr/>
                </a:tc>
                <a:tc>
                  <a:txBody>
                    <a:bodyPr/>
                    <a:lstStyle/>
                    <a:p>
                      <a:r>
                        <a:rPr lang="en-US"/>
                        <a:t>Three to six times</a:t>
                      </a:r>
                    </a:p>
                  </a:txBody>
                  <a:tcPr/>
                </a:tc>
                <a:extLst>
                  <a:ext uri="{0D108BD9-81ED-4DB2-BD59-A6C34878D82A}">
                    <a16:rowId xmlns:a16="http://schemas.microsoft.com/office/drawing/2014/main" val="241901761"/>
                  </a:ext>
                </a:extLst>
              </a:tr>
              <a:tr h="370840">
                <a:tc>
                  <a:txBody>
                    <a:bodyPr/>
                    <a:lstStyle/>
                    <a:p>
                      <a:r>
                        <a:rPr lang="en-US"/>
                        <a:t>{3,}</a:t>
                      </a:r>
                      <a:endParaRPr lang="en-BE"/>
                    </a:p>
                  </a:txBody>
                  <a:tcPr/>
                </a:tc>
                <a:tc>
                  <a:txBody>
                    <a:bodyPr/>
                    <a:lstStyle/>
                    <a:p>
                      <a:r>
                        <a:rPr lang="en-US"/>
                        <a:t>Three or more times</a:t>
                      </a:r>
                    </a:p>
                  </a:txBody>
                  <a:tcPr/>
                </a:tc>
                <a:extLst>
                  <a:ext uri="{0D108BD9-81ED-4DB2-BD59-A6C34878D82A}">
                    <a16:rowId xmlns:a16="http://schemas.microsoft.com/office/drawing/2014/main" val="1362706127"/>
                  </a:ext>
                </a:extLst>
              </a:tr>
              <a:tr h="370840">
                <a:tc>
                  <a:txBody>
                    <a:bodyPr/>
                    <a:lstStyle/>
                    <a:p>
                      <a:r>
                        <a:rPr lang="en-US"/>
                        <a:t>{,6}</a:t>
                      </a:r>
                      <a:endParaRPr lang="en-BE"/>
                    </a:p>
                  </a:txBody>
                  <a:tcPr/>
                </a:tc>
                <a:tc>
                  <a:txBody>
                    <a:bodyPr/>
                    <a:lstStyle/>
                    <a:p>
                      <a:r>
                        <a:rPr lang="en-US" dirty="0"/>
                        <a:t>Up to six times</a:t>
                      </a:r>
                    </a:p>
                  </a:txBody>
                  <a:tcPr/>
                </a:tc>
                <a:extLst>
                  <a:ext uri="{0D108BD9-81ED-4DB2-BD59-A6C34878D82A}">
                    <a16:rowId xmlns:a16="http://schemas.microsoft.com/office/drawing/2014/main" val="2555565090"/>
                  </a:ext>
                </a:extLst>
              </a:tr>
            </a:tbl>
          </a:graphicData>
        </a:graphic>
      </p:graphicFrame>
      <p:graphicFrame>
        <p:nvGraphicFramePr>
          <p:cNvPr id="7" name="Table 6">
            <a:extLst>
              <a:ext uri="{FF2B5EF4-FFF2-40B4-BE49-F238E27FC236}">
                <a16:creationId xmlns:a16="http://schemas.microsoft.com/office/drawing/2014/main" id="{61D77EBB-A505-B184-332E-542C9D7FB586}"/>
              </a:ext>
            </a:extLst>
          </p:cNvPr>
          <p:cNvGraphicFramePr>
            <a:graphicFrameLocks noGrp="1"/>
          </p:cNvGraphicFramePr>
          <p:nvPr>
            <p:extLst>
              <p:ext uri="{D42A27DB-BD31-4B8C-83A1-F6EECF244321}">
                <p14:modId xmlns:p14="http://schemas.microsoft.com/office/powerpoint/2010/main" val="3966989472"/>
              </p:ext>
            </p:extLst>
          </p:nvPr>
        </p:nvGraphicFramePr>
        <p:xfrm>
          <a:off x="945838" y="1529715"/>
          <a:ext cx="4658412" cy="1097280"/>
        </p:xfrm>
        <a:graphic>
          <a:graphicData uri="http://schemas.openxmlformats.org/drawingml/2006/table">
            <a:tbl>
              <a:tblPr firstRow="1" bandRow="1">
                <a:tableStyleId>{5C22544A-7EE6-4342-B048-85BDC9FD1C3A}</a:tableStyleId>
              </a:tblPr>
              <a:tblGrid>
                <a:gridCol w="1016092">
                  <a:extLst>
                    <a:ext uri="{9D8B030D-6E8A-4147-A177-3AD203B41FA5}">
                      <a16:colId xmlns:a16="http://schemas.microsoft.com/office/drawing/2014/main" val="3821209258"/>
                    </a:ext>
                  </a:extLst>
                </a:gridCol>
                <a:gridCol w="3642320">
                  <a:extLst>
                    <a:ext uri="{9D8B030D-6E8A-4147-A177-3AD203B41FA5}">
                      <a16:colId xmlns:a16="http://schemas.microsoft.com/office/drawing/2014/main" val="2598224669"/>
                    </a:ext>
                  </a:extLst>
                </a:gridCol>
              </a:tblGrid>
              <a:tr h="354859">
                <a:tc>
                  <a:txBody>
                    <a:bodyPr/>
                    <a:lstStyle/>
                    <a:p>
                      <a:r>
                        <a:rPr lang="en-US"/>
                        <a:t>Regex</a:t>
                      </a:r>
                      <a:endParaRPr lang="en-BE"/>
                    </a:p>
                  </a:txBody>
                  <a:tcPr/>
                </a:tc>
                <a:tc>
                  <a:txBody>
                    <a:bodyPr/>
                    <a:lstStyle/>
                    <a:p>
                      <a:r>
                        <a:rPr lang="en-US" dirty="0"/>
                        <a:t>Matches</a:t>
                      </a:r>
                      <a:endParaRPr lang="en-BE" dirty="0"/>
                    </a:p>
                  </a:txBody>
                  <a:tcPr/>
                </a:tc>
                <a:extLst>
                  <a:ext uri="{0D108BD9-81ED-4DB2-BD59-A6C34878D82A}">
                    <a16:rowId xmlns:a16="http://schemas.microsoft.com/office/drawing/2014/main" val="993802671"/>
                  </a:ext>
                </a:extLst>
              </a:tr>
              <a:tr h="354859">
                <a:tc>
                  <a:txBody>
                    <a:bodyPr/>
                    <a:lstStyle/>
                    <a:p>
                      <a:r>
                        <a:rPr lang="en-US"/>
                        <a:t>a</a:t>
                      </a:r>
                      <a:endParaRPr lang="en-BE"/>
                    </a:p>
                  </a:txBody>
                  <a:tcPr/>
                </a:tc>
                <a:tc>
                  <a:txBody>
                    <a:bodyPr/>
                    <a:lstStyle/>
                    <a:p>
                      <a:r>
                        <a:rPr lang="en-US"/>
                        <a:t>The character “a”</a:t>
                      </a:r>
                      <a:endParaRPr lang="en-BE"/>
                    </a:p>
                  </a:txBody>
                  <a:tcPr/>
                </a:tc>
                <a:extLst>
                  <a:ext uri="{0D108BD9-81ED-4DB2-BD59-A6C34878D82A}">
                    <a16:rowId xmlns:a16="http://schemas.microsoft.com/office/drawing/2014/main" val="2691042677"/>
                  </a:ext>
                </a:extLst>
              </a:tr>
              <a:tr h="354859">
                <a:tc>
                  <a:txBody>
                    <a:bodyPr/>
                    <a:lstStyle/>
                    <a:p>
                      <a:r>
                        <a:rPr lang="en-US" err="1"/>
                        <a:t>abc</a:t>
                      </a:r>
                      <a:endParaRPr lang="en-BE"/>
                    </a:p>
                  </a:txBody>
                  <a:tcPr/>
                </a:tc>
                <a:tc>
                  <a:txBody>
                    <a:bodyPr/>
                    <a:lstStyle/>
                    <a:p>
                      <a:r>
                        <a:rPr lang="en-US" dirty="0"/>
                        <a:t>The string “</a:t>
                      </a:r>
                      <a:r>
                        <a:rPr lang="en-US" dirty="0" err="1"/>
                        <a:t>abc</a:t>
                      </a:r>
                      <a:r>
                        <a:rPr lang="en-US" dirty="0"/>
                        <a:t>”</a:t>
                      </a:r>
                      <a:endParaRPr lang="en-BE" dirty="0"/>
                    </a:p>
                  </a:txBody>
                  <a:tcPr/>
                </a:tc>
                <a:extLst>
                  <a:ext uri="{0D108BD9-81ED-4DB2-BD59-A6C34878D82A}">
                    <a16:rowId xmlns:a16="http://schemas.microsoft.com/office/drawing/2014/main" val="1965095831"/>
                  </a:ext>
                </a:extLst>
              </a:tr>
            </a:tbl>
          </a:graphicData>
        </a:graphic>
      </p:graphicFrame>
    </p:spTree>
    <p:extLst>
      <p:ext uri="{BB962C8B-B14F-4D97-AF65-F5344CB8AC3E}">
        <p14:creationId xmlns:p14="http://schemas.microsoft.com/office/powerpoint/2010/main" val="830234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12D42-6F4E-44DA-B9DF-9329F1EE592A}"/>
              </a:ext>
            </a:extLst>
          </p:cNvPr>
          <p:cNvSpPr>
            <a:spLocks noGrp="1"/>
          </p:cNvSpPr>
          <p:nvPr>
            <p:ph type="title"/>
          </p:nvPr>
        </p:nvSpPr>
        <p:spPr/>
        <p:txBody>
          <a:bodyPr/>
          <a:lstStyle/>
          <a:p>
            <a:r>
              <a:rPr lang="en-US" noProof="0" dirty="0"/>
              <a:t>Regex groups</a:t>
            </a:r>
          </a:p>
        </p:txBody>
      </p:sp>
      <p:sp>
        <p:nvSpPr>
          <p:cNvPr id="3" name="Content Placeholder 2">
            <a:extLst>
              <a:ext uri="{FF2B5EF4-FFF2-40B4-BE49-F238E27FC236}">
                <a16:creationId xmlns:a16="http://schemas.microsoft.com/office/drawing/2014/main" id="{429FD4E5-837A-48D3-9E3C-165A0BC19254}"/>
              </a:ext>
            </a:extLst>
          </p:cNvPr>
          <p:cNvSpPr>
            <a:spLocks noGrp="1"/>
          </p:cNvSpPr>
          <p:nvPr>
            <p:ph idx="1"/>
          </p:nvPr>
        </p:nvSpPr>
        <p:spPr/>
        <p:txBody>
          <a:bodyPr/>
          <a:lstStyle/>
          <a:p>
            <a:r>
              <a:rPr lang="en-US" noProof="0" dirty="0"/>
              <a:t>What if you want to match more than one item at a time?</a:t>
            </a:r>
          </a:p>
          <a:p>
            <a:r>
              <a:rPr lang="en-US" dirty="0"/>
              <a:t>When searching an email address you want to get:</a:t>
            </a:r>
          </a:p>
          <a:p>
            <a:pPr lvl="1"/>
            <a:r>
              <a:rPr lang="en-US" noProof="0" dirty="0"/>
              <a:t>First name</a:t>
            </a:r>
          </a:p>
          <a:p>
            <a:pPr lvl="1"/>
            <a:r>
              <a:rPr lang="en-US" noProof="0" dirty="0"/>
              <a:t>Last name</a:t>
            </a:r>
          </a:p>
          <a:p>
            <a:pPr lvl="1"/>
            <a:r>
              <a:rPr lang="en-US" dirty="0"/>
              <a:t>Student</a:t>
            </a:r>
          </a:p>
          <a:p>
            <a:pPr lvl="1"/>
            <a:r>
              <a:rPr lang="en-US" dirty="0"/>
              <a:t>Domain</a:t>
            </a:r>
          </a:p>
          <a:p>
            <a:pPr lvl="1"/>
            <a:r>
              <a:rPr lang="en-US" dirty="0"/>
              <a:t>Country</a:t>
            </a:r>
          </a:p>
          <a:p>
            <a:pPr marL="0" indent="0">
              <a:buNone/>
            </a:pPr>
            <a:br>
              <a:rPr lang="en-US" dirty="0">
                <a:sym typeface="Wingdings" panose="05000000000000000000" pitchFamily="2" charset="2"/>
              </a:rPr>
            </a:br>
            <a:r>
              <a:rPr lang="en-US" dirty="0">
                <a:sym typeface="Wingdings" panose="05000000000000000000" pitchFamily="2" charset="2"/>
              </a:rPr>
              <a:t> </a:t>
            </a:r>
            <a:r>
              <a:rPr lang="en-US" b="1" dirty="0">
                <a:sym typeface="Wingdings" panose="05000000000000000000" pitchFamily="2" charset="2"/>
              </a:rPr>
              <a:t>Groups</a:t>
            </a:r>
            <a:endParaRPr lang="en-US" b="1" dirty="0"/>
          </a:p>
          <a:p>
            <a:pPr lvl="1"/>
            <a:endParaRPr lang="en-US" noProof="0" dirty="0"/>
          </a:p>
        </p:txBody>
      </p:sp>
      <p:sp>
        <p:nvSpPr>
          <p:cNvPr id="4" name="Slide Number Placeholder 3">
            <a:extLst>
              <a:ext uri="{FF2B5EF4-FFF2-40B4-BE49-F238E27FC236}">
                <a16:creationId xmlns:a16="http://schemas.microsoft.com/office/drawing/2014/main" id="{721E9212-3E64-454E-8A34-BB98788F21B0}"/>
              </a:ext>
            </a:extLst>
          </p:cNvPr>
          <p:cNvSpPr>
            <a:spLocks noGrp="1"/>
          </p:cNvSpPr>
          <p:nvPr>
            <p:ph type="sldNum" sz="quarter" idx="12"/>
          </p:nvPr>
        </p:nvSpPr>
        <p:spPr/>
        <p:txBody>
          <a:bodyPr/>
          <a:lstStyle/>
          <a:p>
            <a:fld id="{FE1B3154-47D9-4402-8EDB-E791933DC0B9}" type="slidenum">
              <a:rPr lang="nl-BE" smtClean="0"/>
              <a:pPr/>
              <a:t>16</a:t>
            </a:fld>
            <a:endParaRPr lang="nl-BE"/>
          </a:p>
        </p:txBody>
      </p:sp>
      <p:sp>
        <p:nvSpPr>
          <p:cNvPr id="6" name="TextBox 5">
            <a:extLst>
              <a:ext uri="{FF2B5EF4-FFF2-40B4-BE49-F238E27FC236}">
                <a16:creationId xmlns:a16="http://schemas.microsoft.com/office/drawing/2014/main" id="{12567A2A-0DE2-C0BF-ACAB-9D462AF5DE3A}"/>
              </a:ext>
            </a:extLst>
          </p:cNvPr>
          <p:cNvSpPr txBox="1"/>
          <p:nvPr/>
        </p:nvSpPr>
        <p:spPr>
          <a:xfrm>
            <a:off x="4671060" y="2930168"/>
            <a:ext cx="6101080" cy="1384995"/>
          </a:xfrm>
          <a:prstGeom prst="rect">
            <a:avLst/>
          </a:prstGeom>
          <a:noFill/>
        </p:spPr>
        <p:txBody>
          <a:bodyPr wrap="square">
            <a:spAutoFit/>
          </a:bodyPr>
          <a:lstStyle/>
          <a:p>
            <a:r>
              <a:rPr lang="en-GB" sz="2800" dirty="0"/>
              <a:t>stef.vanwolputte@thomasmore.be</a:t>
            </a:r>
          </a:p>
          <a:p>
            <a:r>
              <a:rPr lang="en-GB" sz="2800" dirty="0"/>
              <a:t>jos.eemlen@student.thomasmore.be</a:t>
            </a:r>
          </a:p>
          <a:p>
            <a:endParaRPr lang="en-GB" sz="2800" dirty="0"/>
          </a:p>
        </p:txBody>
      </p:sp>
    </p:spTree>
    <p:extLst>
      <p:ext uri="{BB962C8B-B14F-4D97-AF65-F5344CB8AC3E}">
        <p14:creationId xmlns:p14="http://schemas.microsoft.com/office/powerpoint/2010/main" val="3236704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12D42-6F4E-44DA-B9DF-9329F1EE592A}"/>
              </a:ext>
            </a:extLst>
          </p:cNvPr>
          <p:cNvSpPr>
            <a:spLocks noGrp="1"/>
          </p:cNvSpPr>
          <p:nvPr>
            <p:ph type="title"/>
          </p:nvPr>
        </p:nvSpPr>
        <p:spPr/>
        <p:txBody>
          <a:bodyPr/>
          <a:lstStyle/>
          <a:p>
            <a:r>
              <a:rPr lang="en-US" noProof="0" dirty="0"/>
              <a:t>Regex groups</a:t>
            </a:r>
          </a:p>
        </p:txBody>
      </p:sp>
      <p:sp>
        <p:nvSpPr>
          <p:cNvPr id="3" name="Content Placeholder 2">
            <a:extLst>
              <a:ext uri="{FF2B5EF4-FFF2-40B4-BE49-F238E27FC236}">
                <a16:creationId xmlns:a16="http://schemas.microsoft.com/office/drawing/2014/main" id="{429FD4E5-837A-48D3-9E3C-165A0BC19254}"/>
              </a:ext>
            </a:extLst>
          </p:cNvPr>
          <p:cNvSpPr>
            <a:spLocks noGrp="1"/>
          </p:cNvSpPr>
          <p:nvPr>
            <p:ph idx="1"/>
          </p:nvPr>
        </p:nvSpPr>
        <p:spPr>
          <a:xfrm>
            <a:off x="582705" y="1550894"/>
            <a:ext cx="11291048" cy="4805456"/>
          </a:xfrm>
        </p:spPr>
        <p:txBody>
          <a:bodyPr>
            <a:normAutofit/>
          </a:bodyPr>
          <a:lstStyle/>
          <a:p>
            <a:r>
              <a:rPr lang="en-US" noProof="0" dirty="0"/>
              <a:t>A regex group is anything between brackets ( “(“ and “)” )</a:t>
            </a:r>
          </a:p>
          <a:p>
            <a:r>
              <a:rPr lang="en-US" noProof="0" dirty="0"/>
              <a:t>You can refer to these groups using \1, \2, \3, …</a:t>
            </a:r>
          </a:p>
          <a:p>
            <a:pPr lvl="1"/>
            <a:r>
              <a:rPr lang="en-US" noProof="0" dirty="0"/>
              <a:t>\1 is the first group, \2 the second, etcetera…</a:t>
            </a:r>
          </a:p>
          <a:p>
            <a:r>
              <a:rPr lang="en-US" noProof="0" dirty="0"/>
              <a:t>When applying regexes to strings, the groups are returned individually</a:t>
            </a:r>
          </a:p>
          <a:p>
            <a:pPr lvl="1"/>
            <a:r>
              <a:rPr lang="en-US" noProof="0" dirty="0"/>
              <a:t>When you don’t specify groups, the entire found text is returned</a:t>
            </a:r>
            <a:br>
              <a:rPr lang="en-US" noProof="0" dirty="0"/>
            </a:br>
            <a:endParaRPr lang="en-US" noProof="0" dirty="0"/>
          </a:p>
          <a:p>
            <a:r>
              <a:rPr lang="en-US" noProof="0" dirty="0"/>
              <a:t>Example: word that begins and ends with the same letter:   </a:t>
            </a:r>
            <a:br>
              <a:rPr lang="en-US" noProof="0" dirty="0"/>
            </a:br>
            <a:r>
              <a:rPr lang="en-US" b="1" noProof="0" dirty="0"/>
              <a:t>(.).*\1</a:t>
            </a:r>
          </a:p>
          <a:p>
            <a:r>
              <a:rPr lang="en-US" dirty="0"/>
              <a:t>Email address example:</a:t>
            </a:r>
            <a:br>
              <a:rPr lang="en-US" dirty="0"/>
            </a:br>
            <a:r>
              <a:rPr lang="en-US" b="1" noProof="0" dirty="0"/>
              <a:t>^([a-z]+).([a-z]+)@(student</a:t>
            </a:r>
            <a:r>
              <a:rPr lang="en-US" b="1" dirty="0"/>
              <a:t>.</a:t>
            </a:r>
            <a:r>
              <a:rPr lang="en-US" b="1" noProof="0" dirty="0"/>
              <a:t>)?([a-z]+).([a-z]{2,3})$</a:t>
            </a:r>
          </a:p>
        </p:txBody>
      </p:sp>
      <p:sp>
        <p:nvSpPr>
          <p:cNvPr id="4" name="Slide Number Placeholder 3">
            <a:extLst>
              <a:ext uri="{FF2B5EF4-FFF2-40B4-BE49-F238E27FC236}">
                <a16:creationId xmlns:a16="http://schemas.microsoft.com/office/drawing/2014/main" id="{721E9212-3E64-454E-8A34-BB98788F21B0}"/>
              </a:ext>
            </a:extLst>
          </p:cNvPr>
          <p:cNvSpPr>
            <a:spLocks noGrp="1"/>
          </p:cNvSpPr>
          <p:nvPr>
            <p:ph type="sldNum" sz="quarter" idx="12"/>
          </p:nvPr>
        </p:nvSpPr>
        <p:spPr/>
        <p:txBody>
          <a:bodyPr/>
          <a:lstStyle/>
          <a:p>
            <a:fld id="{FE1B3154-47D9-4402-8EDB-E791933DC0B9}" type="slidenum">
              <a:rPr lang="nl-BE" smtClean="0"/>
              <a:pPr/>
              <a:t>17</a:t>
            </a:fld>
            <a:endParaRPr lang="nl-BE"/>
          </a:p>
        </p:txBody>
      </p:sp>
    </p:spTree>
    <p:extLst>
      <p:ext uri="{BB962C8B-B14F-4D97-AF65-F5344CB8AC3E}">
        <p14:creationId xmlns:p14="http://schemas.microsoft.com/office/powerpoint/2010/main" val="3461233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5B09A-EC41-4AA2-AC0C-46A9F67083EF}"/>
              </a:ext>
            </a:extLst>
          </p:cNvPr>
          <p:cNvSpPr>
            <a:spLocks noGrp="1"/>
          </p:cNvSpPr>
          <p:nvPr>
            <p:ph type="title"/>
          </p:nvPr>
        </p:nvSpPr>
        <p:spPr/>
        <p:txBody>
          <a:bodyPr/>
          <a:lstStyle/>
          <a:p>
            <a:r>
              <a:rPr lang="en-US" noProof="0" dirty="0"/>
              <a:t>Regex</a:t>
            </a:r>
          </a:p>
        </p:txBody>
      </p:sp>
      <p:sp>
        <p:nvSpPr>
          <p:cNvPr id="3" name="Content Placeholder 2">
            <a:extLst>
              <a:ext uri="{FF2B5EF4-FFF2-40B4-BE49-F238E27FC236}">
                <a16:creationId xmlns:a16="http://schemas.microsoft.com/office/drawing/2014/main" id="{566014FF-BD3E-43EE-8C5D-E31D3CFA4371}"/>
              </a:ext>
            </a:extLst>
          </p:cNvPr>
          <p:cNvSpPr>
            <a:spLocks noGrp="1"/>
          </p:cNvSpPr>
          <p:nvPr>
            <p:ph idx="1"/>
          </p:nvPr>
        </p:nvSpPr>
        <p:spPr/>
        <p:txBody>
          <a:bodyPr>
            <a:normAutofit fontScale="92500"/>
          </a:bodyPr>
          <a:lstStyle/>
          <a:p>
            <a:r>
              <a:rPr lang="en-US" noProof="0" dirty="0"/>
              <a:t>The previous slides are all you need to know</a:t>
            </a:r>
          </a:p>
          <a:p>
            <a:r>
              <a:rPr lang="en-US" noProof="0" dirty="0"/>
              <a:t>Now you can apply Regex in any language</a:t>
            </a:r>
          </a:p>
          <a:p>
            <a:pPr lvl="1"/>
            <a:r>
              <a:rPr lang="en-US" noProof="0" dirty="0"/>
              <a:t>PowerShell, Perl, Java, C#, …</a:t>
            </a:r>
          </a:p>
          <a:p>
            <a:r>
              <a:rPr lang="en-US" dirty="0"/>
              <a:t>Let’s try that first</a:t>
            </a:r>
            <a:r>
              <a:rPr lang="en-US" noProof="0" dirty="0"/>
              <a:t>: </a:t>
            </a:r>
            <a:r>
              <a:rPr lang="en-US" noProof="0" dirty="0">
                <a:hlinkClick r:id="rId2"/>
              </a:rPr>
              <a:t>https://regexcrossword.com/</a:t>
            </a:r>
            <a:endParaRPr lang="en-US" noProof="0" dirty="0"/>
          </a:p>
          <a:p>
            <a:r>
              <a:rPr lang="en-US" noProof="0" dirty="0"/>
              <a:t>Example:</a:t>
            </a:r>
          </a:p>
          <a:p>
            <a:pPr lvl="1"/>
            <a:r>
              <a:rPr lang="en-US" noProof="0" dirty="0"/>
              <a:t>A{2,} : At least two A’s	-&gt; AA</a:t>
            </a:r>
          </a:p>
          <a:p>
            <a:pPr lvl="1"/>
            <a:r>
              <a:rPr lang="en-US" noProof="0" dirty="0"/>
              <a:t>A{1} : Exactly one A	-&gt; A</a:t>
            </a:r>
          </a:p>
          <a:p>
            <a:pPr lvl="1"/>
            <a:r>
              <a:rPr lang="en-US" noProof="0" dirty="0"/>
              <a:t>B|A : B or A		-&gt; A</a:t>
            </a:r>
          </a:p>
          <a:p>
            <a:r>
              <a:rPr lang="en-US" noProof="0" dirty="0"/>
              <a:t>You should be able to finish the beginners, intermediate and expert puzzles</a:t>
            </a:r>
          </a:p>
          <a:p>
            <a:r>
              <a:rPr lang="en-US" noProof="0" dirty="0"/>
              <a:t>When in doubt, use </a:t>
            </a:r>
            <a:r>
              <a:rPr lang="en-US" noProof="0" dirty="0">
                <a:hlinkClick r:id="rId3"/>
              </a:rPr>
              <a:t>https://regex101.com/</a:t>
            </a:r>
            <a:r>
              <a:rPr lang="en-US" noProof="0" dirty="0"/>
              <a:t> to explain why something is wrong</a:t>
            </a:r>
          </a:p>
          <a:p>
            <a:pPr lvl="1"/>
            <a:endParaRPr lang="en-US" noProof="0" dirty="0"/>
          </a:p>
        </p:txBody>
      </p:sp>
      <p:sp>
        <p:nvSpPr>
          <p:cNvPr id="4" name="Slide Number Placeholder 3">
            <a:extLst>
              <a:ext uri="{FF2B5EF4-FFF2-40B4-BE49-F238E27FC236}">
                <a16:creationId xmlns:a16="http://schemas.microsoft.com/office/drawing/2014/main" id="{F04CA62C-B0DA-4B39-B599-B46F57CC30AF}"/>
              </a:ext>
            </a:extLst>
          </p:cNvPr>
          <p:cNvSpPr>
            <a:spLocks noGrp="1"/>
          </p:cNvSpPr>
          <p:nvPr>
            <p:ph type="sldNum" sz="quarter" idx="12"/>
          </p:nvPr>
        </p:nvSpPr>
        <p:spPr/>
        <p:txBody>
          <a:bodyPr/>
          <a:lstStyle/>
          <a:p>
            <a:fld id="{FE1B3154-47D9-4402-8EDB-E791933DC0B9}" type="slidenum">
              <a:rPr lang="nl-BE" smtClean="0"/>
              <a:pPr/>
              <a:t>18</a:t>
            </a:fld>
            <a:endParaRPr lang="nl-BE"/>
          </a:p>
        </p:txBody>
      </p:sp>
      <p:pic>
        <p:nvPicPr>
          <p:cNvPr id="6" name="Picture 5">
            <a:extLst>
              <a:ext uri="{FF2B5EF4-FFF2-40B4-BE49-F238E27FC236}">
                <a16:creationId xmlns:a16="http://schemas.microsoft.com/office/drawing/2014/main" id="{8AF46A62-60DF-4EC2-933B-049FE75687D7}"/>
              </a:ext>
            </a:extLst>
          </p:cNvPr>
          <p:cNvPicPr>
            <a:picLocks noChangeAspect="1"/>
          </p:cNvPicPr>
          <p:nvPr/>
        </p:nvPicPr>
        <p:blipFill>
          <a:blip r:embed="rId4"/>
          <a:stretch>
            <a:fillRect/>
          </a:stretch>
        </p:blipFill>
        <p:spPr>
          <a:xfrm>
            <a:off x="5619683" y="3730113"/>
            <a:ext cx="952633" cy="1333686"/>
          </a:xfrm>
          <a:prstGeom prst="rect">
            <a:avLst/>
          </a:prstGeom>
        </p:spPr>
      </p:pic>
    </p:spTree>
    <p:extLst>
      <p:ext uri="{BB962C8B-B14F-4D97-AF65-F5344CB8AC3E}">
        <p14:creationId xmlns:p14="http://schemas.microsoft.com/office/powerpoint/2010/main" val="2748883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4920D5-0374-4F43-A1FC-046908637DA9}"/>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6" name="Picture 5" descr="Diagram&#10;&#10;Description automatically generated">
            <a:extLst>
              <a:ext uri="{FF2B5EF4-FFF2-40B4-BE49-F238E27FC236}">
                <a16:creationId xmlns:a16="http://schemas.microsoft.com/office/drawing/2014/main" id="{C1D6DBE9-5380-423E-863F-D46E078BF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743" y="61331"/>
            <a:ext cx="6657664" cy="6735337"/>
          </a:xfrm>
          <a:prstGeom prst="rect">
            <a:avLst/>
          </a:prstGeom>
        </p:spPr>
      </p:pic>
    </p:spTree>
    <p:extLst>
      <p:ext uri="{BB962C8B-B14F-4D97-AF65-F5344CB8AC3E}">
        <p14:creationId xmlns:p14="http://schemas.microsoft.com/office/powerpoint/2010/main" val="2734980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655745-FE4A-8CE2-D2A0-7F8AF8525172}"/>
              </a:ext>
            </a:extLst>
          </p:cNvPr>
          <p:cNvSpPr>
            <a:spLocks noGrp="1"/>
          </p:cNvSpPr>
          <p:nvPr>
            <p:ph type="title"/>
          </p:nvPr>
        </p:nvSpPr>
        <p:spPr/>
        <p:txBody>
          <a:bodyPr/>
          <a:lstStyle/>
          <a:p>
            <a:r>
              <a:rPr lang="en-US" dirty="0"/>
              <a:t>Regex in Python</a:t>
            </a:r>
          </a:p>
        </p:txBody>
      </p:sp>
      <p:sp>
        <p:nvSpPr>
          <p:cNvPr id="4" name="Slide Number Placeholder 3">
            <a:extLst>
              <a:ext uri="{FF2B5EF4-FFF2-40B4-BE49-F238E27FC236}">
                <a16:creationId xmlns:a16="http://schemas.microsoft.com/office/drawing/2014/main" id="{FBA9366F-ABA8-C251-CEF7-823C9C57230E}"/>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3172013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6D9CE2-FB3F-4D6A-9133-E6442404DDE1}"/>
              </a:ext>
            </a:extLst>
          </p:cNvPr>
          <p:cNvSpPr>
            <a:spLocks noGrp="1"/>
          </p:cNvSpPr>
          <p:nvPr>
            <p:ph type="title"/>
          </p:nvPr>
        </p:nvSpPr>
        <p:spPr/>
        <p:txBody>
          <a:bodyPr/>
          <a:lstStyle/>
          <a:p>
            <a:r>
              <a:rPr lang="en-US" noProof="0" dirty="0"/>
              <a:t>Regex in Python</a:t>
            </a:r>
          </a:p>
        </p:txBody>
      </p:sp>
      <p:sp>
        <p:nvSpPr>
          <p:cNvPr id="4" name="Content Placeholder 3">
            <a:extLst>
              <a:ext uri="{FF2B5EF4-FFF2-40B4-BE49-F238E27FC236}">
                <a16:creationId xmlns:a16="http://schemas.microsoft.com/office/drawing/2014/main" id="{CA29C3FB-7261-4446-B7A6-54CB81874CB8}"/>
              </a:ext>
            </a:extLst>
          </p:cNvPr>
          <p:cNvSpPr>
            <a:spLocks noGrp="1"/>
          </p:cNvSpPr>
          <p:nvPr>
            <p:ph idx="1"/>
          </p:nvPr>
        </p:nvSpPr>
        <p:spPr/>
        <p:txBody>
          <a:bodyPr>
            <a:normAutofit lnSpcReduction="10000"/>
          </a:bodyPr>
          <a:lstStyle/>
          <a:p>
            <a:r>
              <a:rPr lang="en-US" noProof="0" dirty="0"/>
              <a:t>All well and good, but how do we use this in Python?</a:t>
            </a:r>
          </a:p>
          <a:p>
            <a:r>
              <a:rPr lang="en-US" noProof="0" dirty="0"/>
              <a:t>First import “re” (usually not given an alias)</a:t>
            </a:r>
          </a:p>
          <a:p>
            <a:r>
              <a:rPr lang="en-US" noProof="0" dirty="0"/>
              <a:t>Then use one of the following functions:</a:t>
            </a:r>
          </a:p>
          <a:p>
            <a:pPr lvl="1"/>
            <a:r>
              <a:rPr lang="en-US" noProof="0" dirty="0" err="1"/>
              <a:t>re.</a:t>
            </a:r>
            <a:r>
              <a:rPr lang="en-US" noProof="0" dirty="0" err="1">
                <a:solidFill>
                  <a:srgbClr val="FF0000"/>
                </a:solidFill>
              </a:rPr>
              <a:t>search</a:t>
            </a:r>
            <a:r>
              <a:rPr lang="en-US" noProof="0" dirty="0"/>
              <a:t>(regex, s): returns the first match of the regular expression, even if this match is in the middle of the string</a:t>
            </a:r>
          </a:p>
          <a:p>
            <a:pPr lvl="1"/>
            <a:r>
              <a:rPr lang="en-US" noProof="0" dirty="0" err="1"/>
              <a:t>re.</a:t>
            </a:r>
            <a:r>
              <a:rPr lang="en-US" noProof="0" dirty="0" err="1">
                <a:solidFill>
                  <a:srgbClr val="FF0000"/>
                </a:solidFill>
              </a:rPr>
              <a:t>match</a:t>
            </a:r>
            <a:r>
              <a:rPr lang="en-US" noProof="0" dirty="0"/>
              <a:t>(regex, s): returns the first match of the regular expression, but only if this match is in the beginning of the string</a:t>
            </a:r>
          </a:p>
          <a:p>
            <a:pPr lvl="1"/>
            <a:r>
              <a:rPr lang="en-US" noProof="0" dirty="0" err="1"/>
              <a:t>re.</a:t>
            </a:r>
            <a:r>
              <a:rPr lang="en-US" noProof="0" dirty="0" err="1">
                <a:solidFill>
                  <a:srgbClr val="FF0000"/>
                </a:solidFill>
              </a:rPr>
              <a:t>finditer</a:t>
            </a:r>
            <a:r>
              <a:rPr lang="en-US" noProof="0" dirty="0"/>
              <a:t>(regex, s): returns an iterator consisting of all matches of regex</a:t>
            </a:r>
          </a:p>
          <a:p>
            <a:pPr lvl="1"/>
            <a:r>
              <a:rPr lang="en-US" noProof="0" dirty="0" err="1"/>
              <a:t>re.</a:t>
            </a:r>
            <a:r>
              <a:rPr lang="en-US" noProof="0" dirty="0" err="1">
                <a:solidFill>
                  <a:srgbClr val="FF0000"/>
                </a:solidFill>
              </a:rPr>
              <a:t>findall</a:t>
            </a:r>
            <a:r>
              <a:rPr lang="en-US" noProof="0" dirty="0"/>
              <a:t>(regex, s): returns a list of all matches of the regex</a:t>
            </a:r>
          </a:p>
          <a:p>
            <a:pPr lvl="1"/>
            <a:r>
              <a:rPr lang="en-US" noProof="0" dirty="0" err="1"/>
              <a:t>re.</a:t>
            </a:r>
            <a:r>
              <a:rPr lang="en-US" noProof="0" dirty="0" err="1">
                <a:solidFill>
                  <a:srgbClr val="FF0000"/>
                </a:solidFill>
              </a:rPr>
              <a:t>sub</a:t>
            </a:r>
            <a:r>
              <a:rPr lang="en-US" noProof="0" dirty="0"/>
              <a:t>(regex, </a:t>
            </a:r>
            <a:r>
              <a:rPr lang="en-US" noProof="0" dirty="0" err="1"/>
              <a:t>new_text</a:t>
            </a:r>
            <a:r>
              <a:rPr lang="en-US" noProof="0" dirty="0"/>
              <a:t>, s): substitutes all matches of the regex in the input string s with </a:t>
            </a:r>
            <a:r>
              <a:rPr lang="en-US" noProof="0" dirty="0" err="1"/>
              <a:t>new_text</a:t>
            </a:r>
            <a:r>
              <a:rPr lang="en-US" noProof="0" dirty="0"/>
              <a:t> and returns this</a:t>
            </a:r>
          </a:p>
          <a:p>
            <a:endParaRPr lang="en-US" noProof="0" dirty="0"/>
          </a:p>
        </p:txBody>
      </p:sp>
      <p:sp>
        <p:nvSpPr>
          <p:cNvPr id="2" name="Slide Number Placeholder 1">
            <a:extLst>
              <a:ext uri="{FF2B5EF4-FFF2-40B4-BE49-F238E27FC236}">
                <a16:creationId xmlns:a16="http://schemas.microsoft.com/office/drawing/2014/main" id="{22F21B95-DB28-4758-B435-3B5D7A705EF3}"/>
              </a:ext>
            </a:extLst>
          </p:cNvPr>
          <p:cNvSpPr>
            <a:spLocks noGrp="1"/>
          </p:cNvSpPr>
          <p:nvPr>
            <p:ph type="sldNum" sz="quarter" idx="12"/>
          </p:nvPr>
        </p:nvSpPr>
        <p:spPr/>
        <p:txBody>
          <a:bodyPr/>
          <a:lstStyle/>
          <a:p>
            <a:fld id="{B105FAA3-C3E4-40D0-B2B7-65B62F79F625}" type="slidenum">
              <a:rPr lang="nl-BE" smtClean="0"/>
              <a:t>21</a:t>
            </a:fld>
            <a:endParaRPr lang="nl-BE"/>
          </a:p>
        </p:txBody>
      </p:sp>
    </p:spTree>
    <p:extLst>
      <p:ext uri="{BB962C8B-B14F-4D97-AF65-F5344CB8AC3E}">
        <p14:creationId xmlns:p14="http://schemas.microsoft.com/office/powerpoint/2010/main" val="3376663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EE48-719F-43C9-AA26-E93797BA9A6C}"/>
              </a:ext>
            </a:extLst>
          </p:cNvPr>
          <p:cNvSpPr>
            <a:spLocks noGrp="1"/>
          </p:cNvSpPr>
          <p:nvPr>
            <p:ph type="title"/>
          </p:nvPr>
        </p:nvSpPr>
        <p:spPr/>
        <p:txBody>
          <a:bodyPr/>
          <a:lstStyle/>
          <a:p>
            <a:r>
              <a:rPr lang="en-US" noProof="0" dirty="0"/>
              <a:t>Example:</a:t>
            </a:r>
          </a:p>
        </p:txBody>
      </p:sp>
      <p:sp>
        <p:nvSpPr>
          <p:cNvPr id="3" name="Content Placeholder 2">
            <a:extLst>
              <a:ext uri="{FF2B5EF4-FFF2-40B4-BE49-F238E27FC236}">
                <a16:creationId xmlns:a16="http://schemas.microsoft.com/office/drawing/2014/main" id="{CB030978-E765-41A2-9DD8-541914554D78}"/>
              </a:ext>
            </a:extLst>
          </p:cNvPr>
          <p:cNvSpPr>
            <a:spLocks noGrp="1"/>
          </p:cNvSpPr>
          <p:nvPr>
            <p:ph idx="1"/>
          </p:nvPr>
        </p:nvSpPr>
        <p:spPr/>
        <p:txBody>
          <a:bodyPr/>
          <a:lstStyle/>
          <a:p>
            <a:r>
              <a:rPr lang="en-US" noProof="0" dirty="0"/>
              <a:t>We start out with the text on top of this slide.</a:t>
            </a:r>
            <a:br>
              <a:rPr lang="en-US" noProof="0" dirty="0"/>
            </a:br>
            <a:br>
              <a:rPr lang="en-US" noProof="0" dirty="0"/>
            </a:br>
            <a:endParaRPr lang="en-US" noProof="0" dirty="0"/>
          </a:p>
          <a:p>
            <a:endParaRPr lang="en-US" noProof="0" dirty="0"/>
          </a:p>
          <a:p>
            <a:r>
              <a:rPr lang="en-US" noProof="0" dirty="0"/>
              <a:t>Note: “found” is not a string, but an object</a:t>
            </a:r>
          </a:p>
          <a:p>
            <a:pPr lvl="1"/>
            <a:r>
              <a:rPr lang="en-US" noProof="0" dirty="0">
                <a:hlinkClick r:id="rId3"/>
              </a:rPr>
              <a:t>https://docs.python.org/3.10/library/re.html#match-objects</a:t>
            </a:r>
            <a:endParaRPr lang="en-US" noProof="0" dirty="0"/>
          </a:p>
          <a:p>
            <a:r>
              <a:rPr lang="en-US" noProof="0" dirty="0"/>
              <a:t>When using this object remember you’re using groups in regexes</a:t>
            </a:r>
          </a:p>
          <a:p>
            <a:pPr lvl="1"/>
            <a:r>
              <a:rPr lang="en-US" noProof="0" dirty="0"/>
              <a:t>Hence the constant usage of ‘group’</a:t>
            </a:r>
          </a:p>
          <a:p>
            <a:pPr lvl="1"/>
            <a:r>
              <a:rPr lang="en-US" noProof="0" dirty="0"/>
              <a:t>When only looking for one match, group will always be zero (the first group, also the default option)</a:t>
            </a:r>
          </a:p>
          <a:p>
            <a:endParaRPr lang="en-US" noProof="0" dirty="0"/>
          </a:p>
          <a:p>
            <a:endParaRPr lang="en-US" noProof="0" dirty="0"/>
          </a:p>
        </p:txBody>
      </p:sp>
      <p:sp>
        <p:nvSpPr>
          <p:cNvPr id="4" name="Slide Number Placeholder 3">
            <a:extLst>
              <a:ext uri="{FF2B5EF4-FFF2-40B4-BE49-F238E27FC236}">
                <a16:creationId xmlns:a16="http://schemas.microsoft.com/office/drawing/2014/main" id="{A185DE8D-2C24-452C-8A78-0C4693F9D0BB}"/>
              </a:ext>
            </a:extLst>
          </p:cNvPr>
          <p:cNvSpPr>
            <a:spLocks noGrp="1"/>
          </p:cNvSpPr>
          <p:nvPr>
            <p:ph type="sldNum" sz="quarter" idx="12"/>
          </p:nvPr>
        </p:nvSpPr>
        <p:spPr/>
        <p:txBody>
          <a:bodyPr/>
          <a:lstStyle/>
          <a:p>
            <a:fld id="{FE1B3154-47D9-4402-8EDB-E791933DC0B9}" type="slidenum">
              <a:rPr lang="nl-BE" smtClean="0"/>
              <a:pPr/>
              <a:t>22</a:t>
            </a:fld>
            <a:endParaRPr lang="nl-BE"/>
          </a:p>
        </p:txBody>
      </p:sp>
      <p:sp>
        <p:nvSpPr>
          <p:cNvPr id="6" name="TextBox 5">
            <a:extLst>
              <a:ext uri="{FF2B5EF4-FFF2-40B4-BE49-F238E27FC236}">
                <a16:creationId xmlns:a16="http://schemas.microsoft.com/office/drawing/2014/main" id="{C7484107-4B5B-4CBF-A4A9-EEC73A3679A3}"/>
              </a:ext>
            </a:extLst>
          </p:cNvPr>
          <p:cNvSpPr txBox="1"/>
          <p:nvPr/>
        </p:nvSpPr>
        <p:spPr>
          <a:xfrm>
            <a:off x="2781830" y="491184"/>
            <a:ext cx="8383270" cy="646331"/>
          </a:xfrm>
          <a:prstGeom prst="rect">
            <a:avLst/>
          </a:prstGeom>
          <a:solidFill>
            <a:schemeClr val="bg1"/>
          </a:solid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re</a:t>
            </a: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"I went to the zoo and saw _lions_, _tigers_ and _meerkats_."</a:t>
            </a:r>
            <a:endParaRPr lang="en-US"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78123C8-8928-464B-9387-B49C770C73E4}"/>
              </a:ext>
            </a:extLst>
          </p:cNvPr>
          <p:cNvSpPr txBox="1"/>
          <p:nvPr/>
        </p:nvSpPr>
        <p:spPr>
          <a:xfrm>
            <a:off x="1211580" y="1998579"/>
            <a:ext cx="6101080" cy="646331"/>
          </a:xfrm>
          <a:prstGeom prst="rect">
            <a:avLst/>
          </a:prstGeom>
          <a:noFill/>
        </p:spPr>
        <p:txBody>
          <a:bodyPr wrap="square">
            <a:spAutoFit/>
          </a:bodyPr>
          <a:lstStyle/>
          <a:p>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search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a:t>
            </a:r>
            <a:r>
              <a:rPr lang="en-US" b="0" dirty="0" err="1">
                <a:solidFill>
                  <a:srgbClr val="A31515"/>
                </a:solidFill>
                <a:effectLst/>
                <a:latin typeface="Consolas" panose="020B0609020204030204" pitchFamily="49" charset="0"/>
              </a:rPr>
              <a:t>"lion</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p:txBody>
      </p:sp>
      <p:pic>
        <p:nvPicPr>
          <p:cNvPr id="10" name="Picture 9">
            <a:extLst>
              <a:ext uri="{FF2B5EF4-FFF2-40B4-BE49-F238E27FC236}">
                <a16:creationId xmlns:a16="http://schemas.microsoft.com/office/drawing/2014/main" id="{0525994D-19EE-416F-B46D-0DAD3174521B}"/>
              </a:ext>
            </a:extLst>
          </p:cNvPr>
          <p:cNvPicPr>
            <a:picLocks noChangeAspect="1"/>
          </p:cNvPicPr>
          <p:nvPr/>
        </p:nvPicPr>
        <p:blipFill rotWithShape="1">
          <a:blip r:embed="rId4"/>
          <a:srcRect t="20504"/>
          <a:stretch/>
        </p:blipFill>
        <p:spPr>
          <a:xfrm>
            <a:off x="1293861" y="2868341"/>
            <a:ext cx="5677308" cy="285476"/>
          </a:xfrm>
          <a:prstGeom prst="rect">
            <a:avLst/>
          </a:prstGeom>
          <a:ln>
            <a:solidFill>
              <a:schemeClr val="tx1"/>
            </a:solidFill>
          </a:ln>
        </p:spPr>
      </p:pic>
    </p:spTree>
    <p:extLst>
      <p:ext uri="{BB962C8B-B14F-4D97-AF65-F5344CB8AC3E}">
        <p14:creationId xmlns:p14="http://schemas.microsoft.com/office/powerpoint/2010/main" val="1074626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019C-1AA6-4E72-A220-89C09200E924}"/>
              </a:ext>
            </a:extLst>
          </p:cNvPr>
          <p:cNvSpPr>
            <a:spLocks noGrp="1"/>
          </p:cNvSpPr>
          <p:nvPr>
            <p:ph type="title"/>
          </p:nvPr>
        </p:nvSpPr>
        <p:spPr/>
        <p:txBody>
          <a:bodyPr/>
          <a:lstStyle/>
          <a:p>
            <a:r>
              <a:rPr lang="en-US" noProof="0" dirty="0"/>
              <a:t>Example: Match-object</a:t>
            </a:r>
          </a:p>
        </p:txBody>
      </p:sp>
      <p:sp>
        <p:nvSpPr>
          <p:cNvPr id="3" name="Content Placeholder 2">
            <a:extLst>
              <a:ext uri="{FF2B5EF4-FFF2-40B4-BE49-F238E27FC236}">
                <a16:creationId xmlns:a16="http://schemas.microsoft.com/office/drawing/2014/main" id="{BEB48360-0E22-40EC-A245-E5B7CC00139A}"/>
              </a:ext>
            </a:extLst>
          </p:cNvPr>
          <p:cNvSpPr>
            <a:spLocks noGrp="1"/>
          </p:cNvSpPr>
          <p:nvPr>
            <p:ph idx="1"/>
          </p:nvPr>
        </p:nvSpPr>
        <p:spPr>
          <a:xfrm>
            <a:off x="582704" y="2138023"/>
            <a:ext cx="11291048" cy="3887624"/>
          </a:xfrm>
        </p:spPr>
        <p:txBody>
          <a:bodyPr/>
          <a:lstStyle/>
          <a:p>
            <a:r>
              <a:rPr lang="en-US" noProof="0" dirty="0"/>
              <a:t>But did we visit the flamingos?</a:t>
            </a:r>
          </a:p>
          <a:p>
            <a:endParaRPr lang="en-US" noProof="0" dirty="0"/>
          </a:p>
          <a:p>
            <a:endParaRPr lang="en-US" noProof="0" dirty="0"/>
          </a:p>
          <a:p>
            <a:r>
              <a:rPr lang="en-US" noProof="0" dirty="0"/>
              <a:t>If nothing found, return value is of type “None” which evaluates to False in an if statement</a:t>
            </a:r>
          </a:p>
        </p:txBody>
      </p:sp>
      <p:sp>
        <p:nvSpPr>
          <p:cNvPr id="4" name="Slide Number Placeholder 3">
            <a:extLst>
              <a:ext uri="{FF2B5EF4-FFF2-40B4-BE49-F238E27FC236}">
                <a16:creationId xmlns:a16="http://schemas.microsoft.com/office/drawing/2014/main" id="{6DCDD6D7-A25C-418C-ABDB-57377127215C}"/>
              </a:ext>
            </a:extLst>
          </p:cNvPr>
          <p:cNvSpPr>
            <a:spLocks noGrp="1"/>
          </p:cNvSpPr>
          <p:nvPr>
            <p:ph type="sldNum" sz="quarter" idx="12"/>
          </p:nvPr>
        </p:nvSpPr>
        <p:spPr/>
        <p:txBody>
          <a:bodyPr/>
          <a:lstStyle/>
          <a:p>
            <a:fld id="{FE1B3154-47D9-4402-8EDB-E791933DC0B9}" type="slidenum">
              <a:rPr lang="nl-BE" smtClean="0"/>
              <a:pPr/>
              <a:t>23</a:t>
            </a:fld>
            <a:endParaRPr lang="nl-BE"/>
          </a:p>
        </p:txBody>
      </p:sp>
      <p:sp>
        <p:nvSpPr>
          <p:cNvPr id="6" name="TextBox 5">
            <a:extLst>
              <a:ext uri="{FF2B5EF4-FFF2-40B4-BE49-F238E27FC236}">
                <a16:creationId xmlns:a16="http://schemas.microsoft.com/office/drawing/2014/main" id="{8434D91D-2095-4064-91CA-9DAC2C01D9B3}"/>
              </a:ext>
            </a:extLst>
          </p:cNvPr>
          <p:cNvSpPr txBox="1"/>
          <p:nvPr/>
        </p:nvSpPr>
        <p:spPr>
          <a:xfrm>
            <a:off x="582704" y="1371507"/>
            <a:ext cx="6762975" cy="646331"/>
          </a:xfrm>
          <a:prstGeom prst="rect">
            <a:avLst/>
          </a:prstGeom>
          <a:noFill/>
        </p:spPr>
        <p:txBody>
          <a:bodyPr wrap="square">
            <a:spAutoFit/>
          </a:bodyPr>
          <a:lstStyle/>
          <a:p>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search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a:t>
            </a:r>
            <a:r>
              <a:rPr lang="en-US" b="0" dirty="0" err="1">
                <a:solidFill>
                  <a:srgbClr val="A31515"/>
                </a:solidFill>
                <a:effectLst/>
                <a:latin typeface="Consolas" panose="020B0609020204030204" pitchFamily="49" charset="0"/>
              </a:rPr>
              <a:t>"lion</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found</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group</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found</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start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found</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end</a:t>
            </a:r>
            <a:r>
              <a:rPr lang="en-US" b="0" dirty="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05C3F349-B613-4C68-957A-673AB4C346DD}"/>
              </a:ext>
            </a:extLst>
          </p:cNvPr>
          <p:cNvPicPr>
            <a:picLocks noChangeAspect="1"/>
          </p:cNvPicPr>
          <p:nvPr/>
        </p:nvPicPr>
        <p:blipFill>
          <a:blip r:embed="rId3"/>
          <a:stretch>
            <a:fillRect/>
          </a:stretch>
        </p:blipFill>
        <p:spPr>
          <a:xfrm>
            <a:off x="10165885" y="1741776"/>
            <a:ext cx="1396545" cy="276062"/>
          </a:xfrm>
          <a:prstGeom prst="rect">
            <a:avLst/>
          </a:prstGeom>
          <a:ln>
            <a:solidFill>
              <a:schemeClr val="tx1"/>
            </a:solidFill>
          </a:ln>
        </p:spPr>
      </p:pic>
      <p:sp>
        <p:nvSpPr>
          <p:cNvPr id="10" name="TextBox 9">
            <a:extLst>
              <a:ext uri="{FF2B5EF4-FFF2-40B4-BE49-F238E27FC236}">
                <a16:creationId xmlns:a16="http://schemas.microsoft.com/office/drawing/2014/main" id="{1F042CF1-FEA2-44D1-ADED-B20D5A09EC25}"/>
              </a:ext>
            </a:extLst>
          </p:cNvPr>
          <p:cNvSpPr txBox="1"/>
          <p:nvPr/>
        </p:nvSpPr>
        <p:spPr>
          <a:xfrm>
            <a:off x="582704" y="2600633"/>
            <a:ext cx="7952740" cy="923330"/>
          </a:xfrm>
          <a:prstGeom prst="rect">
            <a:avLst/>
          </a:prstGeom>
          <a:noFill/>
        </p:spPr>
        <p:txBody>
          <a:bodyPr wrap="square">
            <a:spAutoFit/>
          </a:bodyPr>
          <a:lstStyle/>
          <a:p>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search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a:t>
            </a:r>
            <a:r>
              <a:rPr lang="en-US" b="0" dirty="0" err="1">
                <a:solidFill>
                  <a:srgbClr val="A31515"/>
                </a:solidFill>
                <a:effectLst/>
                <a:latin typeface="Consolas" panose="020B0609020204030204" pitchFamily="49" charset="0"/>
              </a:rPr>
              <a:t>"flamingo</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"We found it!"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"Nothing here..."</a:t>
            </a:r>
            <a:r>
              <a:rPr lang="en-US" b="0" dirty="0">
                <a:solidFill>
                  <a:srgbClr val="000000"/>
                </a:solidFill>
                <a:effectLst/>
                <a:latin typeface="Consolas" panose="020B0609020204030204" pitchFamily="49" charset="0"/>
              </a:rPr>
              <a:t>)</a:t>
            </a:r>
          </a:p>
        </p:txBody>
      </p:sp>
      <p:pic>
        <p:nvPicPr>
          <p:cNvPr id="12" name="Picture 11">
            <a:extLst>
              <a:ext uri="{FF2B5EF4-FFF2-40B4-BE49-F238E27FC236}">
                <a16:creationId xmlns:a16="http://schemas.microsoft.com/office/drawing/2014/main" id="{73D28199-6AB6-4FE2-8D51-F7A569815E8E}"/>
              </a:ext>
            </a:extLst>
          </p:cNvPr>
          <p:cNvPicPr>
            <a:picLocks noChangeAspect="1"/>
          </p:cNvPicPr>
          <p:nvPr/>
        </p:nvPicPr>
        <p:blipFill>
          <a:blip r:embed="rId4"/>
          <a:stretch>
            <a:fillRect/>
          </a:stretch>
        </p:blipFill>
        <p:spPr>
          <a:xfrm>
            <a:off x="9316600" y="2893413"/>
            <a:ext cx="2292696" cy="623613"/>
          </a:xfrm>
          <a:prstGeom prst="rect">
            <a:avLst/>
          </a:prstGeom>
          <a:ln>
            <a:solidFill>
              <a:schemeClr val="tx1"/>
            </a:solidFill>
          </a:ln>
        </p:spPr>
      </p:pic>
      <p:sp>
        <p:nvSpPr>
          <p:cNvPr id="14" name="TextBox 13">
            <a:extLst>
              <a:ext uri="{FF2B5EF4-FFF2-40B4-BE49-F238E27FC236}">
                <a16:creationId xmlns:a16="http://schemas.microsoft.com/office/drawing/2014/main" id="{99656929-800B-4C30-8577-DF2F476C7E23}"/>
              </a:ext>
            </a:extLst>
          </p:cNvPr>
          <p:cNvSpPr txBox="1"/>
          <p:nvPr/>
        </p:nvSpPr>
        <p:spPr>
          <a:xfrm>
            <a:off x="582704" y="4656627"/>
            <a:ext cx="6101080" cy="1477328"/>
          </a:xfrm>
          <a:prstGeom prst="rect">
            <a:avLst/>
          </a:prstGeom>
          <a:noFill/>
        </p:spPr>
        <p:txBody>
          <a:bodyPr wrap="square">
            <a:spAutoFit/>
          </a:bodyPr>
          <a:lstStyle/>
          <a:p>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t>
            </a:r>
            <a:r>
              <a:rPr lang="en-US" b="0" dirty="0" err="1">
                <a:solidFill>
                  <a:srgbClr val="000000"/>
                </a:solidFill>
                <a:effectLst/>
                <a:latin typeface="Consolas" panose="020B0609020204030204" pitchFamily="49" charset="0"/>
              </a:rPr>
              <a:t>.</a:t>
            </a:r>
            <a:r>
              <a:rPr lang="en-US" b="0" dirty="0" err="1">
                <a:solidFill>
                  <a:srgbClr val="FF0000"/>
                </a:solidFill>
                <a:effectLst/>
                <a:latin typeface="Consolas" panose="020B0609020204030204" pitchFamily="49" charset="0"/>
              </a:rPr>
              <a:t>match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a:t>
            </a:r>
            <a:r>
              <a:rPr lang="en-US" b="0" dirty="0" err="1">
                <a:solidFill>
                  <a:srgbClr val="A31515"/>
                </a:solidFill>
                <a:effectLst/>
                <a:latin typeface="Consolas" panose="020B0609020204030204" pitchFamily="49" charset="0"/>
              </a:rPr>
              <a:t>"tiger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t>
            </a:r>
            <a:r>
              <a:rPr lang="en-US" b="0" dirty="0" err="1">
                <a:solidFill>
                  <a:srgbClr val="000000"/>
                </a:solidFill>
                <a:effectLst/>
                <a:latin typeface="Consolas" panose="020B0609020204030204" pitchFamily="49" charset="0"/>
              </a:rPr>
              <a:t>.</a:t>
            </a:r>
            <a:r>
              <a:rPr lang="en-US" b="0" dirty="0" err="1">
                <a:solidFill>
                  <a:srgbClr val="FF0000"/>
                </a:solidFill>
                <a:effectLst/>
                <a:latin typeface="Consolas" panose="020B0609020204030204" pitchFamily="49" charset="0"/>
              </a:rPr>
              <a:t>match</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a:t>
            </a:r>
            <a:r>
              <a:rPr lang="en-US" b="0" dirty="0" err="1">
                <a:solidFill>
                  <a:srgbClr val="A31515"/>
                </a:solidFill>
                <a:effectLst/>
                <a:latin typeface="Consolas" panose="020B0609020204030204" pitchFamily="49" charset="0"/>
              </a:rPr>
              <a:t>"I</a:t>
            </a:r>
            <a:r>
              <a:rPr lang="en-US" b="0" dirty="0">
                <a:solidFill>
                  <a:srgbClr val="A31515"/>
                </a:solidFill>
                <a:effectLst/>
                <a:latin typeface="Consolas" panose="020B0609020204030204" pitchFamily="49" charset="0"/>
              </a:rPr>
              <a:t>\s"</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p:txBody>
      </p:sp>
      <p:pic>
        <p:nvPicPr>
          <p:cNvPr id="16" name="Picture 15">
            <a:extLst>
              <a:ext uri="{FF2B5EF4-FFF2-40B4-BE49-F238E27FC236}">
                <a16:creationId xmlns:a16="http://schemas.microsoft.com/office/drawing/2014/main" id="{5AEFA406-6DD9-4783-BEAC-A389C102606F}"/>
              </a:ext>
            </a:extLst>
          </p:cNvPr>
          <p:cNvPicPr>
            <a:picLocks noChangeAspect="1"/>
          </p:cNvPicPr>
          <p:nvPr/>
        </p:nvPicPr>
        <p:blipFill>
          <a:blip r:embed="rId5"/>
          <a:stretch>
            <a:fillRect/>
          </a:stretch>
        </p:blipFill>
        <p:spPr>
          <a:xfrm>
            <a:off x="6918662" y="5134760"/>
            <a:ext cx="4720211" cy="521062"/>
          </a:xfrm>
          <a:prstGeom prst="rect">
            <a:avLst/>
          </a:prstGeom>
          <a:ln>
            <a:solidFill>
              <a:schemeClr val="tx1"/>
            </a:solidFill>
          </a:ln>
        </p:spPr>
      </p:pic>
    </p:spTree>
    <p:extLst>
      <p:ext uri="{BB962C8B-B14F-4D97-AF65-F5344CB8AC3E}">
        <p14:creationId xmlns:p14="http://schemas.microsoft.com/office/powerpoint/2010/main" val="227780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1EB3D-96BB-4FB7-A477-319015070921}"/>
              </a:ext>
            </a:extLst>
          </p:cNvPr>
          <p:cNvSpPr>
            <a:spLocks noGrp="1"/>
          </p:cNvSpPr>
          <p:nvPr>
            <p:ph type="title"/>
          </p:nvPr>
        </p:nvSpPr>
        <p:spPr/>
        <p:txBody>
          <a:bodyPr/>
          <a:lstStyle/>
          <a:p>
            <a:r>
              <a:rPr lang="en-US" noProof="0" dirty="0"/>
              <a:t>Example: greedy *</a:t>
            </a:r>
          </a:p>
        </p:txBody>
      </p:sp>
      <p:sp>
        <p:nvSpPr>
          <p:cNvPr id="3" name="Content Placeholder 2">
            <a:extLst>
              <a:ext uri="{FF2B5EF4-FFF2-40B4-BE49-F238E27FC236}">
                <a16:creationId xmlns:a16="http://schemas.microsoft.com/office/drawing/2014/main" id="{ADA11FB4-E1DA-4399-BB8B-C73B6417D59A}"/>
              </a:ext>
            </a:extLst>
          </p:cNvPr>
          <p:cNvSpPr>
            <a:spLocks noGrp="1"/>
          </p:cNvSpPr>
          <p:nvPr>
            <p:ph idx="1"/>
          </p:nvPr>
        </p:nvSpPr>
        <p:spPr/>
        <p:txBody>
          <a:bodyPr/>
          <a:lstStyle/>
          <a:p>
            <a:r>
              <a:rPr lang="en-US" noProof="0" dirty="0"/>
              <a:t>Find the first animal (between underscores):</a:t>
            </a:r>
          </a:p>
          <a:p>
            <a:endParaRPr lang="en-US" noProof="0" dirty="0"/>
          </a:p>
          <a:p>
            <a:r>
              <a:rPr lang="en-US" noProof="0" dirty="0"/>
              <a:t>No correct result:</a:t>
            </a:r>
          </a:p>
          <a:p>
            <a:endParaRPr lang="en-US" noProof="0" dirty="0"/>
          </a:p>
          <a:p>
            <a:r>
              <a:rPr lang="en-US" noProof="0" dirty="0"/>
              <a:t>* is greedy</a:t>
            </a:r>
            <a:r>
              <a:rPr lang="en-US" dirty="0"/>
              <a:t>:</a:t>
            </a:r>
            <a:r>
              <a:rPr lang="en-US" noProof="0" dirty="0"/>
              <a:t> it will take as much as it can</a:t>
            </a:r>
          </a:p>
          <a:p>
            <a:pPr lvl="1"/>
            <a:r>
              <a:rPr lang="en-US" noProof="0" dirty="0"/>
              <a:t>2 solutions: match only characters, or match anything but underscore</a:t>
            </a:r>
          </a:p>
          <a:p>
            <a:endParaRPr lang="en-US" noProof="0" dirty="0"/>
          </a:p>
        </p:txBody>
      </p:sp>
      <p:sp>
        <p:nvSpPr>
          <p:cNvPr id="4" name="Slide Number Placeholder 3">
            <a:extLst>
              <a:ext uri="{FF2B5EF4-FFF2-40B4-BE49-F238E27FC236}">
                <a16:creationId xmlns:a16="http://schemas.microsoft.com/office/drawing/2014/main" id="{FA262EA2-55B8-4396-AB85-35302E9A99B2}"/>
              </a:ext>
            </a:extLst>
          </p:cNvPr>
          <p:cNvSpPr>
            <a:spLocks noGrp="1"/>
          </p:cNvSpPr>
          <p:nvPr>
            <p:ph type="sldNum" sz="quarter" idx="12"/>
          </p:nvPr>
        </p:nvSpPr>
        <p:spPr/>
        <p:txBody>
          <a:bodyPr/>
          <a:lstStyle/>
          <a:p>
            <a:fld id="{FE1B3154-47D9-4402-8EDB-E791933DC0B9}" type="slidenum">
              <a:rPr lang="nl-BE" smtClean="0"/>
              <a:pPr/>
              <a:t>24</a:t>
            </a:fld>
            <a:endParaRPr lang="nl-BE"/>
          </a:p>
        </p:txBody>
      </p:sp>
      <p:sp>
        <p:nvSpPr>
          <p:cNvPr id="6" name="TextBox 5">
            <a:extLst>
              <a:ext uri="{FF2B5EF4-FFF2-40B4-BE49-F238E27FC236}">
                <a16:creationId xmlns:a16="http://schemas.microsoft.com/office/drawing/2014/main" id="{95D4E161-5CDA-4D21-A19E-D610D6B7654B}"/>
              </a:ext>
            </a:extLst>
          </p:cNvPr>
          <p:cNvSpPr txBox="1"/>
          <p:nvPr/>
        </p:nvSpPr>
        <p:spPr>
          <a:xfrm>
            <a:off x="1507265" y="1972995"/>
            <a:ext cx="6101080" cy="646331"/>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search</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found</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group</a:t>
            </a:r>
            <a:r>
              <a:rPr lang="en-US" b="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7772E7EB-7CD0-421F-91E8-BB4FAAD1958B}"/>
              </a:ext>
            </a:extLst>
          </p:cNvPr>
          <p:cNvPicPr>
            <a:picLocks noChangeAspect="1"/>
          </p:cNvPicPr>
          <p:nvPr/>
        </p:nvPicPr>
        <p:blipFill>
          <a:blip r:embed="rId3"/>
          <a:stretch>
            <a:fillRect/>
          </a:stretch>
        </p:blipFill>
        <p:spPr>
          <a:xfrm>
            <a:off x="1507265" y="3041427"/>
            <a:ext cx="3706769" cy="262563"/>
          </a:xfrm>
          <a:prstGeom prst="rect">
            <a:avLst/>
          </a:prstGeom>
        </p:spPr>
      </p:pic>
      <p:sp>
        <p:nvSpPr>
          <p:cNvPr id="10" name="TextBox 9">
            <a:extLst>
              <a:ext uri="{FF2B5EF4-FFF2-40B4-BE49-F238E27FC236}">
                <a16:creationId xmlns:a16="http://schemas.microsoft.com/office/drawing/2014/main" id="{22094F7D-5F98-4284-BAA2-9105A5A80494}"/>
              </a:ext>
            </a:extLst>
          </p:cNvPr>
          <p:cNvSpPr txBox="1"/>
          <p:nvPr/>
        </p:nvSpPr>
        <p:spPr>
          <a:xfrm>
            <a:off x="1507265" y="4533315"/>
            <a:ext cx="6101080" cy="646331"/>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search</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"_[a-</a:t>
            </a:r>
            <a:r>
              <a:rPr lang="en-US" b="0" err="1">
                <a:solidFill>
                  <a:srgbClr val="A31515"/>
                </a:solidFill>
                <a:effectLst/>
                <a:latin typeface="Consolas" panose="020B0609020204030204" pitchFamily="49" charset="0"/>
              </a:rPr>
              <a:t>zA</a:t>
            </a:r>
            <a:r>
              <a:rPr lang="en-US" b="0">
                <a:solidFill>
                  <a:srgbClr val="A31515"/>
                </a:solidFill>
                <a:effectLst/>
                <a:latin typeface="Consolas" panose="020B0609020204030204" pitchFamily="49" charset="0"/>
              </a:rPr>
              <a:t>-Z]*_"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found</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group</a:t>
            </a:r>
            <a:r>
              <a:rPr lang="en-US" b="0">
                <a:solidFill>
                  <a:srgbClr val="000000"/>
                </a:solidFill>
                <a:effectLst/>
                <a:latin typeface="Consolas" panose="020B0609020204030204" pitchFamily="49" charset="0"/>
              </a:rPr>
              <a:t>())</a:t>
            </a:r>
          </a:p>
        </p:txBody>
      </p:sp>
      <p:pic>
        <p:nvPicPr>
          <p:cNvPr id="12" name="Picture 11">
            <a:extLst>
              <a:ext uri="{FF2B5EF4-FFF2-40B4-BE49-F238E27FC236}">
                <a16:creationId xmlns:a16="http://schemas.microsoft.com/office/drawing/2014/main" id="{1A744CC4-65BE-4ACE-96A6-BFEF6E6FFD96}"/>
              </a:ext>
            </a:extLst>
          </p:cNvPr>
          <p:cNvPicPr>
            <a:picLocks noChangeAspect="1"/>
          </p:cNvPicPr>
          <p:nvPr/>
        </p:nvPicPr>
        <p:blipFill>
          <a:blip r:embed="rId4"/>
          <a:stretch>
            <a:fillRect/>
          </a:stretch>
        </p:blipFill>
        <p:spPr>
          <a:xfrm>
            <a:off x="6346205" y="5177651"/>
            <a:ext cx="1262140" cy="354977"/>
          </a:xfrm>
          <a:prstGeom prst="rect">
            <a:avLst/>
          </a:prstGeom>
          <a:ln>
            <a:solidFill>
              <a:schemeClr val="tx1"/>
            </a:solidFill>
          </a:ln>
        </p:spPr>
      </p:pic>
      <p:sp>
        <p:nvSpPr>
          <p:cNvPr id="14" name="TextBox 13">
            <a:extLst>
              <a:ext uri="{FF2B5EF4-FFF2-40B4-BE49-F238E27FC236}">
                <a16:creationId xmlns:a16="http://schemas.microsoft.com/office/drawing/2014/main" id="{AB84C238-E2D6-4471-BF35-C2E151370934}"/>
              </a:ext>
            </a:extLst>
          </p:cNvPr>
          <p:cNvSpPr txBox="1"/>
          <p:nvPr/>
        </p:nvSpPr>
        <p:spPr>
          <a:xfrm>
            <a:off x="1507265" y="5530632"/>
            <a:ext cx="6101080" cy="646331"/>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search</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"_[^_]*_"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found</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group</a:t>
            </a:r>
            <a:r>
              <a:rPr lang="en-US"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29993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50188-FE69-498B-9BDE-EA56627A646A}"/>
              </a:ext>
            </a:extLst>
          </p:cNvPr>
          <p:cNvSpPr>
            <a:spLocks noGrp="1"/>
          </p:cNvSpPr>
          <p:nvPr>
            <p:ph type="title"/>
          </p:nvPr>
        </p:nvSpPr>
        <p:spPr/>
        <p:txBody>
          <a:bodyPr/>
          <a:lstStyle/>
          <a:p>
            <a:r>
              <a:rPr lang="en-US" noProof="0" dirty="0"/>
              <a:t>Example: iterators and </a:t>
            </a:r>
            <a:r>
              <a:rPr lang="en-US" noProof="0" dirty="0" err="1"/>
              <a:t>iterables</a:t>
            </a:r>
            <a:endParaRPr lang="en-US" noProof="0" dirty="0"/>
          </a:p>
        </p:txBody>
      </p:sp>
      <p:sp>
        <p:nvSpPr>
          <p:cNvPr id="3" name="Content Placeholder 2">
            <a:extLst>
              <a:ext uri="{FF2B5EF4-FFF2-40B4-BE49-F238E27FC236}">
                <a16:creationId xmlns:a16="http://schemas.microsoft.com/office/drawing/2014/main" id="{F592DFEA-699C-495D-8F73-C6EC32050F71}"/>
              </a:ext>
            </a:extLst>
          </p:cNvPr>
          <p:cNvSpPr>
            <a:spLocks noGrp="1"/>
          </p:cNvSpPr>
          <p:nvPr>
            <p:ph idx="1"/>
          </p:nvPr>
        </p:nvSpPr>
        <p:spPr/>
        <p:txBody>
          <a:bodyPr>
            <a:normAutofit lnSpcReduction="10000"/>
          </a:bodyPr>
          <a:lstStyle/>
          <a:p>
            <a:r>
              <a:rPr lang="en-US" noProof="0" dirty="0"/>
              <a:t>We want to know all animals</a:t>
            </a:r>
          </a:p>
          <a:p>
            <a:endParaRPr lang="en-US" noProof="0" dirty="0"/>
          </a:p>
          <a:p>
            <a:endParaRPr lang="en-US" noProof="0" dirty="0"/>
          </a:p>
          <a:p>
            <a:r>
              <a:rPr lang="en-US" b="1" noProof="0" dirty="0" err="1"/>
              <a:t>finditer</a:t>
            </a:r>
            <a:r>
              <a:rPr lang="en-US" noProof="0" dirty="0"/>
              <a:t>: returns an iterator, not an </a:t>
            </a:r>
            <a:r>
              <a:rPr lang="en-US" noProof="0" dirty="0" err="1"/>
              <a:t>iterable</a:t>
            </a:r>
            <a:endParaRPr lang="en-US" noProof="0" dirty="0"/>
          </a:p>
          <a:p>
            <a:r>
              <a:rPr lang="en-US" b="1" noProof="0" dirty="0" err="1"/>
              <a:t>findall</a:t>
            </a:r>
            <a:r>
              <a:rPr lang="en-US" noProof="0" dirty="0"/>
              <a:t>: returns a list, which is an </a:t>
            </a:r>
            <a:r>
              <a:rPr lang="en-US" noProof="0" dirty="0" err="1"/>
              <a:t>iterable</a:t>
            </a:r>
            <a:endParaRPr lang="en-US" noProof="0" dirty="0"/>
          </a:p>
          <a:p>
            <a:pPr lvl="1"/>
            <a:r>
              <a:rPr lang="en-US" noProof="0" dirty="0">
                <a:hlinkClick r:id="rId2"/>
              </a:rPr>
              <a:t>https://www.geeksforgeeks.org/python-difference-iterable-iterator/</a:t>
            </a:r>
            <a:endParaRPr lang="en-US" noProof="0" dirty="0"/>
          </a:p>
          <a:p>
            <a:pPr lvl="1"/>
            <a:r>
              <a:rPr lang="en-US" noProof="0" dirty="0"/>
              <a:t>Any </a:t>
            </a:r>
            <a:r>
              <a:rPr lang="en-US" noProof="0" dirty="0" err="1"/>
              <a:t>iterable</a:t>
            </a:r>
            <a:r>
              <a:rPr lang="en-US" noProof="0" dirty="0"/>
              <a:t> can be used to generate an iterator. This is what is done implicitly when used in a loop.</a:t>
            </a:r>
          </a:p>
          <a:p>
            <a:pPr lvl="1"/>
            <a:r>
              <a:rPr lang="en-US" noProof="0" dirty="0" err="1"/>
              <a:t>Iterables</a:t>
            </a:r>
            <a:r>
              <a:rPr lang="en-US" noProof="0" dirty="0"/>
              <a:t>: string, list, tuple, …</a:t>
            </a:r>
          </a:p>
          <a:p>
            <a:r>
              <a:rPr lang="en-US" noProof="0" dirty="0"/>
              <a:t>You’re used to </a:t>
            </a:r>
            <a:r>
              <a:rPr lang="en-US" noProof="0" dirty="0" err="1"/>
              <a:t>iterables</a:t>
            </a:r>
            <a:r>
              <a:rPr lang="en-US" noProof="0" dirty="0"/>
              <a:t>, so use </a:t>
            </a:r>
            <a:r>
              <a:rPr lang="en-US" b="1" noProof="0" dirty="0" err="1"/>
              <a:t>findall</a:t>
            </a:r>
            <a:r>
              <a:rPr lang="en-US" noProof="0" dirty="0"/>
              <a:t> instead</a:t>
            </a:r>
          </a:p>
        </p:txBody>
      </p:sp>
      <p:sp>
        <p:nvSpPr>
          <p:cNvPr id="4" name="Slide Number Placeholder 3">
            <a:extLst>
              <a:ext uri="{FF2B5EF4-FFF2-40B4-BE49-F238E27FC236}">
                <a16:creationId xmlns:a16="http://schemas.microsoft.com/office/drawing/2014/main" id="{01921D68-A97B-4601-87E0-B0B0C5D908DE}"/>
              </a:ext>
            </a:extLst>
          </p:cNvPr>
          <p:cNvSpPr>
            <a:spLocks noGrp="1"/>
          </p:cNvSpPr>
          <p:nvPr>
            <p:ph type="sldNum" sz="quarter" idx="12"/>
          </p:nvPr>
        </p:nvSpPr>
        <p:spPr/>
        <p:txBody>
          <a:bodyPr/>
          <a:lstStyle/>
          <a:p>
            <a:fld id="{FE1B3154-47D9-4402-8EDB-E791933DC0B9}" type="slidenum">
              <a:rPr lang="nl-BE" smtClean="0"/>
              <a:pPr/>
              <a:t>25</a:t>
            </a:fld>
            <a:endParaRPr lang="nl-BE"/>
          </a:p>
        </p:txBody>
      </p:sp>
      <p:sp>
        <p:nvSpPr>
          <p:cNvPr id="6" name="TextBox 5">
            <a:extLst>
              <a:ext uri="{FF2B5EF4-FFF2-40B4-BE49-F238E27FC236}">
                <a16:creationId xmlns:a16="http://schemas.microsoft.com/office/drawing/2014/main" id="{1CBD01EB-547B-4BD2-AFA7-72B4C368B671}"/>
              </a:ext>
            </a:extLst>
          </p:cNvPr>
          <p:cNvSpPr txBox="1"/>
          <p:nvPr/>
        </p:nvSpPr>
        <p:spPr>
          <a:xfrm>
            <a:off x="1242060" y="1986895"/>
            <a:ext cx="6101080" cy="923330"/>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finditer</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"_[a-</a:t>
            </a:r>
            <a:r>
              <a:rPr lang="en-US" b="0" err="1">
                <a:solidFill>
                  <a:srgbClr val="A31515"/>
                </a:solidFill>
                <a:effectLst/>
                <a:latin typeface="Consolas" panose="020B0609020204030204" pitchFamily="49" charset="0"/>
              </a:rPr>
              <a:t>zA</a:t>
            </a:r>
            <a:r>
              <a:rPr lang="en-US" b="0">
                <a:solidFill>
                  <a:srgbClr val="A31515"/>
                </a:solidFill>
                <a:effectLst/>
                <a:latin typeface="Consolas" panose="020B0609020204030204" pitchFamily="49" charset="0"/>
              </a:rPr>
              <a:t>-Z]*_"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AF00DB"/>
                </a:solidFill>
                <a:effectLst/>
                <a:latin typeface="Consolas" panose="020B0609020204030204" pitchFamily="49" charset="0"/>
              </a:rPr>
              <a:t>for</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in</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    </a:t>
            </a:r>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f</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group</a:t>
            </a:r>
            <a:r>
              <a:rPr lang="en-US" b="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4BE5047E-6830-4F21-A6E7-BE2AF45BEE4E}"/>
              </a:ext>
            </a:extLst>
          </p:cNvPr>
          <p:cNvPicPr>
            <a:picLocks noChangeAspect="1"/>
          </p:cNvPicPr>
          <p:nvPr/>
        </p:nvPicPr>
        <p:blipFill>
          <a:blip r:embed="rId3"/>
          <a:stretch>
            <a:fillRect/>
          </a:stretch>
        </p:blipFill>
        <p:spPr>
          <a:xfrm>
            <a:off x="7677165" y="2108815"/>
            <a:ext cx="1453388" cy="923329"/>
          </a:xfrm>
          <a:prstGeom prst="rect">
            <a:avLst/>
          </a:prstGeom>
          <a:ln>
            <a:solidFill>
              <a:schemeClr val="tx1"/>
            </a:solidFill>
          </a:ln>
        </p:spPr>
      </p:pic>
    </p:spTree>
    <p:extLst>
      <p:ext uri="{BB962C8B-B14F-4D97-AF65-F5344CB8AC3E}">
        <p14:creationId xmlns:p14="http://schemas.microsoft.com/office/powerpoint/2010/main" val="120645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385-F5CD-40D3-ADCA-33CB8BF28F6F}"/>
              </a:ext>
            </a:extLst>
          </p:cNvPr>
          <p:cNvSpPr>
            <a:spLocks noGrp="1"/>
          </p:cNvSpPr>
          <p:nvPr>
            <p:ph type="title"/>
          </p:nvPr>
        </p:nvSpPr>
        <p:spPr/>
        <p:txBody>
          <a:bodyPr/>
          <a:lstStyle/>
          <a:p>
            <a:r>
              <a:rPr lang="en-US" noProof="0" dirty="0"/>
              <a:t>Example: find more</a:t>
            </a:r>
          </a:p>
        </p:txBody>
      </p:sp>
      <p:sp>
        <p:nvSpPr>
          <p:cNvPr id="3" name="Content Placeholder 2">
            <a:extLst>
              <a:ext uri="{FF2B5EF4-FFF2-40B4-BE49-F238E27FC236}">
                <a16:creationId xmlns:a16="http://schemas.microsoft.com/office/drawing/2014/main" id="{FEA69C18-F388-4CE7-AE14-64F555314BF4}"/>
              </a:ext>
            </a:extLst>
          </p:cNvPr>
          <p:cNvSpPr>
            <a:spLocks noGrp="1"/>
          </p:cNvSpPr>
          <p:nvPr>
            <p:ph idx="1"/>
          </p:nvPr>
        </p:nvSpPr>
        <p:spPr>
          <a:xfrm>
            <a:off x="582705" y="2316480"/>
            <a:ext cx="11291048" cy="3860483"/>
          </a:xfrm>
        </p:spPr>
        <p:txBody>
          <a:bodyPr/>
          <a:lstStyle/>
          <a:p>
            <a:r>
              <a:rPr lang="en-US" noProof="0" dirty="0"/>
              <a:t>Since we’re using </a:t>
            </a:r>
            <a:r>
              <a:rPr lang="en-US" noProof="0" dirty="0" err="1"/>
              <a:t>findall</a:t>
            </a:r>
            <a:r>
              <a:rPr lang="en-US" noProof="0" dirty="0"/>
              <a:t>, we don’t get Match-objects anymore but a simple list of matches.</a:t>
            </a:r>
          </a:p>
          <a:p>
            <a:r>
              <a:rPr lang="en-US" noProof="0" dirty="0"/>
              <a:t>But the underscores are annoying. We need them to search for the animals, but we know they’re there and don’t need them in the result.</a:t>
            </a:r>
          </a:p>
          <a:p>
            <a:r>
              <a:rPr lang="en-US" noProof="0" dirty="0"/>
              <a:t>The solution: parenthesis. Put the part of the regex you’re interested in between them.</a:t>
            </a:r>
          </a:p>
          <a:p>
            <a:endParaRPr lang="en-US" noProof="0" dirty="0"/>
          </a:p>
          <a:p>
            <a:endParaRPr lang="en-US" noProof="0" dirty="0"/>
          </a:p>
        </p:txBody>
      </p:sp>
      <p:sp>
        <p:nvSpPr>
          <p:cNvPr id="4" name="Slide Number Placeholder 3">
            <a:extLst>
              <a:ext uri="{FF2B5EF4-FFF2-40B4-BE49-F238E27FC236}">
                <a16:creationId xmlns:a16="http://schemas.microsoft.com/office/drawing/2014/main" id="{9EA277D2-D8AF-4DB3-AF47-E29A2ED9042A}"/>
              </a:ext>
            </a:extLst>
          </p:cNvPr>
          <p:cNvSpPr>
            <a:spLocks noGrp="1"/>
          </p:cNvSpPr>
          <p:nvPr>
            <p:ph type="sldNum" sz="quarter" idx="12"/>
          </p:nvPr>
        </p:nvSpPr>
        <p:spPr/>
        <p:txBody>
          <a:bodyPr/>
          <a:lstStyle/>
          <a:p>
            <a:fld id="{FE1B3154-47D9-4402-8EDB-E791933DC0B9}" type="slidenum">
              <a:rPr lang="nl-BE" smtClean="0"/>
              <a:pPr/>
              <a:t>26</a:t>
            </a:fld>
            <a:endParaRPr lang="nl-BE"/>
          </a:p>
        </p:txBody>
      </p:sp>
      <p:sp>
        <p:nvSpPr>
          <p:cNvPr id="6" name="TextBox 5">
            <a:extLst>
              <a:ext uri="{FF2B5EF4-FFF2-40B4-BE49-F238E27FC236}">
                <a16:creationId xmlns:a16="http://schemas.microsoft.com/office/drawing/2014/main" id="{931C797F-EC12-428C-9676-A9E7B559F9C2}"/>
              </a:ext>
            </a:extLst>
          </p:cNvPr>
          <p:cNvSpPr txBox="1"/>
          <p:nvPr/>
        </p:nvSpPr>
        <p:spPr>
          <a:xfrm>
            <a:off x="1343660" y="1566595"/>
            <a:ext cx="6101080" cy="646331"/>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findall</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"_[a-</a:t>
            </a:r>
            <a:r>
              <a:rPr lang="en-US" b="0" err="1">
                <a:solidFill>
                  <a:srgbClr val="A31515"/>
                </a:solidFill>
                <a:effectLst/>
                <a:latin typeface="Consolas" panose="020B0609020204030204" pitchFamily="49" charset="0"/>
              </a:rPr>
              <a:t>zA</a:t>
            </a:r>
            <a:r>
              <a:rPr lang="en-US" b="0">
                <a:solidFill>
                  <a:srgbClr val="A31515"/>
                </a:solidFill>
                <a:effectLst/>
                <a:latin typeface="Consolas" panose="020B0609020204030204" pitchFamily="49" charset="0"/>
              </a:rPr>
              <a:t>-Z]*_"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for</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in</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4AD4A18C-D025-49B8-B063-8FEA22C7E3CD}"/>
              </a:ext>
            </a:extLst>
          </p:cNvPr>
          <p:cNvPicPr>
            <a:picLocks noChangeAspect="1"/>
          </p:cNvPicPr>
          <p:nvPr/>
        </p:nvPicPr>
        <p:blipFill>
          <a:blip r:embed="rId3"/>
          <a:stretch>
            <a:fillRect/>
          </a:stretch>
        </p:blipFill>
        <p:spPr>
          <a:xfrm>
            <a:off x="7964065" y="5214035"/>
            <a:ext cx="1177672" cy="756036"/>
          </a:xfrm>
          <a:prstGeom prst="rect">
            <a:avLst/>
          </a:prstGeom>
          <a:ln>
            <a:solidFill>
              <a:schemeClr val="tx1"/>
            </a:solidFill>
          </a:ln>
        </p:spPr>
      </p:pic>
      <p:pic>
        <p:nvPicPr>
          <p:cNvPr id="10" name="Picture 9">
            <a:extLst>
              <a:ext uri="{FF2B5EF4-FFF2-40B4-BE49-F238E27FC236}">
                <a16:creationId xmlns:a16="http://schemas.microsoft.com/office/drawing/2014/main" id="{494506F3-FBC3-42AA-9B94-894AC40617D8}"/>
              </a:ext>
            </a:extLst>
          </p:cNvPr>
          <p:cNvPicPr>
            <a:picLocks noChangeAspect="1"/>
          </p:cNvPicPr>
          <p:nvPr/>
        </p:nvPicPr>
        <p:blipFill>
          <a:blip r:embed="rId4"/>
          <a:stretch>
            <a:fillRect/>
          </a:stretch>
        </p:blipFill>
        <p:spPr>
          <a:xfrm>
            <a:off x="7964065" y="1514817"/>
            <a:ext cx="1166488" cy="749885"/>
          </a:xfrm>
          <a:prstGeom prst="rect">
            <a:avLst/>
          </a:prstGeom>
          <a:ln>
            <a:solidFill>
              <a:schemeClr val="tx1"/>
            </a:solidFill>
          </a:ln>
        </p:spPr>
      </p:pic>
      <p:sp>
        <p:nvSpPr>
          <p:cNvPr id="12" name="TextBox 11">
            <a:extLst>
              <a:ext uri="{FF2B5EF4-FFF2-40B4-BE49-F238E27FC236}">
                <a16:creationId xmlns:a16="http://schemas.microsoft.com/office/drawing/2014/main" id="{84543176-694B-4CB4-BC0F-09F530DB571B}"/>
              </a:ext>
            </a:extLst>
          </p:cNvPr>
          <p:cNvSpPr txBox="1"/>
          <p:nvPr/>
        </p:nvSpPr>
        <p:spPr>
          <a:xfrm>
            <a:off x="1343660" y="5138905"/>
            <a:ext cx="6101080" cy="646331"/>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findall</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a:t>
            </a:r>
            <a:r>
              <a:rPr lang="en-US">
                <a:solidFill>
                  <a:srgbClr val="FF0000"/>
                </a:solidFill>
                <a:effectLst/>
                <a:latin typeface="Consolas" panose="020B0609020204030204" pitchFamily="49" charset="0"/>
              </a:rPr>
              <a:t>(</a:t>
            </a:r>
            <a:r>
              <a:rPr lang="en-US" b="0">
                <a:solidFill>
                  <a:srgbClr val="A31515"/>
                </a:solidFill>
                <a:effectLst/>
                <a:latin typeface="Consolas" panose="020B0609020204030204" pitchFamily="49" charset="0"/>
              </a:rPr>
              <a:t>[a-</a:t>
            </a:r>
            <a:r>
              <a:rPr lang="en-US" b="0" err="1">
                <a:solidFill>
                  <a:srgbClr val="A31515"/>
                </a:solidFill>
                <a:effectLst/>
                <a:latin typeface="Consolas" panose="020B0609020204030204" pitchFamily="49" charset="0"/>
              </a:rPr>
              <a:t>zA</a:t>
            </a:r>
            <a:r>
              <a:rPr lang="en-US" b="0">
                <a:solidFill>
                  <a:srgbClr val="A31515"/>
                </a:solidFill>
                <a:effectLst/>
                <a:latin typeface="Consolas" panose="020B0609020204030204" pitchFamily="49" charset="0"/>
              </a:rPr>
              <a:t>-Z]*</a:t>
            </a:r>
            <a:r>
              <a:rPr lang="en-US" b="0">
                <a:solidFill>
                  <a:srgbClr val="FF0000"/>
                </a:solidFill>
                <a:effectLst/>
                <a:latin typeface="Consolas" panose="020B0609020204030204" pitchFamily="49" charset="0"/>
              </a:rPr>
              <a:t>)</a:t>
            </a:r>
            <a:r>
              <a:rPr lang="en-US" b="0">
                <a:solidFill>
                  <a:srgbClr val="A31515"/>
                </a:solidFill>
                <a:effectLst/>
                <a:latin typeface="Consolas" panose="020B0609020204030204" pitchFamily="49" charset="0"/>
              </a:rPr>
              <a:t>_"</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000000"/>
                </a:solidFill>
                <a:effectLst/>
                <a:latin typeface="Consolas" panose="020B0609020204030204" pitchFamily="49" charset="0"/>
              </a:rPr>
              <a:t>[</a:t>
            </a:r>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for</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in</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endParaRPr lang="en-BE"/>
          </a:p>
        </p:txBody>
      </p:sp>
    </p:spTree>
    <p:extLst>
      <p:ext uri="{BB962C8B-B14F-4D97-AF65-F5344CB8AC3E}">
        <p14:creationId xmlns:p14="http://schemas.microsoft.com/office/powerpoint/2010/main" val="239136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2CD6-8899-4B35-8F1A-0327122E31FC}"/>
              </a:ext>
            </a:extLst>
          </p:cNvPr>
          <p:cNvSpPr>
            <a:spLocks noGrp="1"/>
          </p:cNvSpPr>
          <p:nvPr>
            <p:ph type="title"/>
          </p:nvPr>
        </p:nvSpPr>
        <p:spPr/>
        <p:txBody>
          <a:bodyPr/>
          <a:lstStyle/>
          <a:p>
            <a:r>
              <a:rPr lang="en-US" noProof="0" dirty="0"/>
              <a:t>Example: replace</a:t>
            </a:r>
          </a:p>
        </p:txBody>
      </p:sp>
      <p:sp>
        <p:nvSpPr>
          <p:cNvPr id="3" name="Content Placeholder 2">
            <a:extLst>
              <a:ext uri="{FF2B5EF4-FFF2-40B4-BE49-F238E27FC236}">
                <a16:creationId xmlns:a16="http://schemas.microsoft.com/office/drawing/2014/main" id="{9804B1A8-6DD6-43D7-9691-5A03081F9DE0}"/>
              </a:ext>
            </a:extLst>
          </p:cNvPr>
          <p:cNvSpPr>
            <a:spLocks noGrp="1"/>
          </p:cNvSpPr>
          <p:nvPr>
            <p:ph idx="1"/>
          </p:nvPr>
        </p:nvSpPr>
        <p:spPr/>
        <p:txBody>
          <a:bodyPr/>
          <a:lstStyle/>
          <a:p>
            <a:r>
              <a:rPr lang="en-US" noProof="0" dirty="0"/>
              <a:t>Let’s get rid of all the underscores.</a:t>
            </a:r>
          </a:p>
          <a:p>
            <a:endParaRPr lang="en-US" noProof="0" dirty="0"/>
          </a:p>
          <a:p>
            <a:endParaRPr lang="en-US" noProof="0" dirty="0"/>
          </a:p>
          <a:p>
            <a:r>
              <a:rPr lang="en-US" noProof="0" dirty="0"/>
              <a:t>Or let’s replace every T that is followed by another letter with an X.</a:t>
            </a:r>
          </a:p>
          <a:p>
            <a:endParaRPr lang="en-US" noProof="0" dirty="0"/>
          </a:p>
          <a:p>
            <a:endParaRPr lang="en-US" noProof="0" dirty="0"/>
          </a:p>
          <a:p>
            <a:r>
              <a:rPr lang="en-US" noProof="0" dirty="0"/>
              <a:t>What happened? The entire regex was replaced, not just the T. To fix that we have to use groups!</a:t>
            </a:r>
          </a:p>
        </p:txBody>
      </p:sp>
      <p:sp>
        <p:nvSpPr>
          <p:cNvPr id="4" name="Slide Number Placeholder 3">
            <a:extLst>
              <a:ext uri="{FF2B5EF4-FFF2-40B4-BE49-F238E27FC236}">
                <a16:creationId xmlns:a16="http://schemas.microsoft.com/office/drawing/2014/main" id="{6484A51E-6590-4B2E-85FA-2EB739146C55}"/>
              </a:ext>
            </a:extLst>
          </p:cNvPr>
          <p:cNvSpPr>
            <a:spLocks noGrp="1"/>
          </p:cNvSpPr>
          <p:nvPr>
            <p:ph type="sldNum" sz="quarter" idx="12"/>
          </p:nvPr>
        </p:nvSpPr>
        <p:spPr/>
        <p:txBody>
          <a:bodyPr/>
          <a:lstStyle/>
          <a:p>
            <a:fld id="{FE1B3154-47D9-4402-8EDB-E791933DC0B9}" type="slidenum">
              <a:rPr lang="nl-BE" smtClean="0"/>
              <a:pPr/>
              <a:t>27</a:t>
            </a:fld>
            <a:endParaRPr lang="nl-BE"/>
          </a:p>
        </p:txBody>
      </p:sp>
      <p:sp>
        <p:nvSpPr>
          <p:cNvPr id="6" name="TextBox 5">
            <a:extLst>
              <a:ext uri="{FF2B5EF4-FFF2-40B4-BE49-F238E27FC236}">
                <a16:creationId xmlns:a16="http://schemas.microsoft.com/office/drawing/2014/main" id="{926D0673-2153-4066-802A-3803A4F0F5EF}"/>
              </a:ext>
            </a:extLst>
          </p:cNvPr>
          <p:cNvSpPr txBox="1"/>
          <p:nvPr/>
        </p:nvSpPr>
        <p:spPr>
          <a:xfrm>
            <a:off x="1221740" y="2210430"/>
            <a:ext cx="6101080" cy="646331"/>
          </a:xfrm>
          <a:prstGeom prst="rect">
            <a:avLst/>
          </a:prstGeom>
          <a:noFill/>
        </p:spPr>
        <p:txBody>
          <a:bodyPr wrap="square">
            <a:spAutoFit/>
          </a:bodyPr>
          <a:lstStyle/>
          <a:p>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sub</a:t>
            </a:r>
            <a:r>
              <a:rPr lang="en-US" b="0">
                <a:solidFill>
                  <a:srgbClr val="000000"/>
                </a:solidFill>
                <a:effectLst/>
                <a:latin typeface="Consolas" panose="020B0609020204030204" pitchFamily="49" charset="0"/>
              </a:rPr>
              <a:t>(r</a:t>
            </a:r>
            <a:r>
              <a:rPr lang="en-US" b="0">
                <a:solidFill>
                  <a:srgbClr val="A31515"/>
                </a:solidFill>
                <a:effectLst/>
                <a:latin typeface="Consolas" panose="020B0609020204030204" pitchFamily="49" charset="0"/>
              </a:rPr>
              <a:t>"_"</a:t>
            </a:r>
            <a:r>
              <a:rPr lang="en-US" b="0">
                <a:solidFill>
                  <a:srgbClr val="000000"/>
                </a:solidFill>
                <a:effectLst/>
                <a:latin typeface="Consolas" panose="020B0609020204030204" pitchFamily="49" charset="0"/>
              </a:rPr>
              <a:t>, r</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a:t>
            </a:r>
          </a:p>
        </p:txBody>
      </p:sp>
      <p:pic>
        <p:nvPicPr>
          <p:cNvPr id="10" name="Picture 9">
            <a:extLst>
              <a:ext uri="{FF2B5EF4-FFF2-40B4-BE49-F238E27FC236}">
                <a16:creationId xmlns:a16="http://schemas.microsoft.com/office/drawing/2014/main" id="{109F76C7-E98A-4525-80A5-528C06F25D85}"/>
              </a:ext>
            </a:extLst>
          </p:cNvPr>
          <p:cNvPicPr>
            <a:picLocks noChangeAspect="1"/>
          </p:cNvPicPr>
          <p:nvPr/>
        </p:nvPicPr>
        <p:blipFill>
          <a:blip r:embed="rId2"/>
          <a:stretch>
            <a:fillRect/>
          </a:stretch>
        </p:blipFill>
        <p:spPr>
          <a:xfrm>
            <a:off x="5323793" y="2386696"/>
            <a:ext cx="6549960" cy="293798"/>
          </a:xfrm>
          <a:prstGeom prst="rect">
            <a:avLst/>
          </a:prstGeom>
          <a:ln>
            <a:solidFill>
              <a:schemeClr val="tx1"/>
            </a:solidFill>
          </a:ln>
        </p:spPr>
      </p:pic>
      <p:sp>
        <p:nvSpPr>
          <p:cNvPr id="8" name="TextBox 7">
            <a:extLst>
              <a:ext uri="{FF2B5EF4-FFF2-40B4-BE49-F238E27FC236}">
                <a16:creationId xmlns:a16="http://schemas.microsoft.com/office/drawing/2014/main" id="{58917B05-E985-4AA3-B04C-B79A21927FAC}"/>
              </a:ext>
            </a:extLst>
          </p:cNvPr>
          <p:cNvSpPr txBox="1"/>
          <p:nvPr/>
        </p:nvSpPr>
        <p:spPr>
          <a:xfrm>
            <a:off x="1221740" y="3529827"/>
            <a:ext cx="6101080" cy="646331"/>
          </a:xfrm>
          <a:prstGeom prst="rect">
            <a:avLst/>
          </a:prstGeom>
          <a:noFill/>
        </p:spPr>
        <p:txBody>
          <a:bodyPr wrap="square">
            <a:spAutoFit/>
          </a:bodyPr>
          <a:lstStyle/>
          <a:p>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sub</a:t>
            </a:r>
            <a:r>
              <a:rPr lang="en-US" b="0">
                <a:solidFill>
                  <a:srgbClr val="000000"/>
                </a:solidFill>
                <a:effectLst/>
                <a:latin typeface="Consolas" panose="020B0609020204030204" pitchFamily="49" charset="0"/>
              </a:rPr>
              <a:t>(</a:t>
            </a:r>
            <a:r>
              <a:rPr lang="en-US" b="0" err="1">
                <a:solidFill>
                  <a:srgbClr val="000000"/>
                </a:solidFill>
                <a:effectLst/>
                <a:latin typeface="Consolas" panose="020B0609020204030204" pitchFamily="49" charset="0"/>
              </a:rPr>
              <a:t>r</a:t>
            </a:r>
            <a:r>
              <a:rPr lang="en-US" b="0" err="1">
                <a:solidFill>
                  <a:srgbClr val="A31515"/>
                </a:solidFill>
                <a:effectLst/>
                <a:latin typeface="Consolas" panose="020B0609020204030204" pitchFamily="49" charset="0"/>
              </a:rPr>
              <a:t>"t</a:t>
            </a:r>
            <a:r>
              <a:rPr lang="en-US" b="0">
                <a:solidFill>
                  <a:srgbClr val="A31515"/>
                </a:solidFill>
                <a:effectLst/>
                <a:latin typeface="Consolas" panose="020B0609020204030204" pitchFamily="49" charset="0"/>
              </a:rPr>
              <a:t>[a-</a:t>
            </a:r>
            <a:r>
              <a:rPr lang="en-US" b="0" err="1">
                <a:solidFill>
                  <a:srgbClr val="A31515"/>
                </a:solidFill>
                <a:effectLst/>
                <a:latin typeface="Consolas" panose="020B0609020204030204" pitchFamily="49" charset="0"/>
              </a:rPr>
              <a:t>zA</a:t>
            </a:r>
            <a:r>
              <a:rPr lang="en-US" b="0">
                <a:solidFill>
                  <a:srgbClr val="A31515"/>
                </a:solidFill>
                <a:effectLst/>
                <a:latin typeface="Consolas" panose="020B0609020204030204" pitchFamily="49" charset="0"/>
              </a:rPr>
              <a:t>-Z]+"</a:t>
            </a:r>
            <a:r>
              <a:rPr lang="en-US" b="0">
                <a:solidFill>
                  <a:srgbClr val="000000"/>
                </a:solidFill>
                <a:effectLst/>
                <a:latin typeface="Consolas" panose="020B0609020204030204" pitchFamily="49" charset="0"/>
              </a:rPr>
              <a:t>, </a:t>
            </a:r>
            <a:r>
              <a:rPr lang="en-US" b="0" err="1">
                <a:solidFill>
                  <a:srgbClr val="000000"/>
                </a:solidFill>
                <a:effectLst/>
                <a:latin typeface="Consolas" panose="020B0609020204030204" pitchFamily="49" charset="0"/>
              </a:rPr>
              <a:t>r</a:t>
            </a:r>
            <a:r>
              <a:rPr lang="en-US" b="0" err="1">
                <a:solidFill>
                  <a:srgbClr val="A31515"/>
                </a:solidFill>
                <a:effectLst/>
                <a:latin typeface="Consolas" panose="020B0609020204030204" pitchFamily="49" charset="0"/>
              </a:rPr>
              <a:t>"X</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9B68A969-8D50-492B-A078-BBBA26F09887}"/>
              </a:ext>
            </a:extLst>
          </p:cNvPr>
          <p:cNvPicPr>
            <a:picLocks noChangeAspect="1"/>
          </p:cNvPicPr>
          <p:nvPr/>
        </p:nvPicPr>
        <p:blipFill>
          <a:blip r:embed="rId3"/>
          <a:stretch>
            <a:fillRect/>
          </a:stretch>
        </p:blipFill>
        <p:spPr>
          <a:xfrm>
            <a:off x="5323793" y="4061747"/>
            <a:ext cx="6238872" cy="293798"/>
          </a:xfrm>
          <a:prstGeom prst="rect">
            <a:avLst/>
          </a:prstGeom>
          <a:ln>
            <a:solidFill>
              <a:schemeClr val="tx1"/>
            </a:solidFill>
          </a:ln>
        </p:spPr>
      </p:pic>
    </p:spTree>
    <p:extLst>
      <p:ext uri="{BB962C8B-B14F-4D97-AF65-F5344CB8AC3E}">
        <p14:creationId xmlns:p14="http://schemas.microsoft.com/office/powerpoint/2010/main" val="1834726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C5EF6-F0F9-4D96-AD4C-46EB8476A5DE}"/>
              </a:ext>
            </a:extLst>
          </p:cNvPr>
          <p:cNvSpPr>
            <a:spLocks noGrp="1"/>
          </p:cNvSpPr>
          <p:nvPr>
            <p:ph type="title"/>
          </p:nvPr>
        </p:nvSpPr>
        <p:spPr/>
        <p:txBody>
          <a:bodyPr/>
          <a:lstStyle/>
          <a:p>
            <a:r>
              <a:rPr lang="en-US" noProof="0" dirty="0"/>
              <a:t>Example: replace using groups</a:t>
            </a:r>
          </a:p>
        </p:txBody>
      </p:sp>
      <p:sp>
        <p:nvSpPr>
          <p:cNvPr id="3" name="Content Placeholder 2">
            <a:extLst>
              <a:ext uri="{FF2B5EF4-FFF2-40B4-BE49-F238E27FC236}">
                <a16:creationId xmlns:a16="http://schemas.microsoft.com/office/drawing/2014/main" id="{30B28966-06CC-42CE-A506-155CC0EBBC64}"/>
              </a:ext>
            </a:extLst>
          </p:cNvPr>
          <p:cNvSpPr>
            <a:spLocks noGrp="1"/>
          </p:cNvSpPr>
          <p:nvPr>
            <p:ph idx="1"/>
          </p:nvPr>
        </p:nvSpPr>
        <p:spPr>
          <a:xfrm>
            <a:off x="582705" y="2377440"/>
            <a:ext cx="11291048" cy="3799523"/>
          </a:xfrm>
        </p:spPr>
        <p:txBody>
          <a:bodyPr vert="horz" lIns="91440" tIns="45720" rIns="91440" bIns="45720" rtlCol="0" anchor="t">
            <a:normAutofit/>
          </a:bodyPr>
          <a:lstStyle/>
          <a:p>
            <a:r>
              <a:rPr lang="en-US" noProof="0" dirty="0"/>
              <a:t>“\1” is the first group that was found</a:t>
            </a:r>
          </a:p>
          <a:p>
            <a:pPr lvl="1"/>
            <a:r>
              <a:rPr lang="en-US" noProof="0" dirty="0"/>
              <a:t>You can also use \2, \3, …</a:t>
            </a:r>
          </a:p>
          <a:p>
            <a:pPr lvl="1"/>
            <a:r>
              <a:rPr lang="en-US" noProof="0" dirty="0"/>
              <a:t>A group is anything between brackets</a:t>
            </a:r>
          </a:p>
          <a:p>
            <a:r>
              <a:rPr lang="en-US" noProof="0" dirty="0"/>
              <a:t>Can also be used in the expression itself, like checking if the first character is the same as </a:t>
            </a:r>
            <a:r>
              <a:rPr lang="en-US" dirty="0"/>
              <a:t>the</a:t>
            </a:r>
            <a:r>
              <a:rPr lang="en-US" noProof="0" dirty="0"/>
              <a:t> last:</a:t>
            </a:r>
          </a:p>
        </p:txBody>
      </p:sp>
      <p:sp>
        <p:nvSpPr>
          <p:cNvPr id="4" name="Slide Number Placeholder 3">
            <a:extLst>
              <a:ext uri="{FF2B5EF4-FFF2-40B4-BE49-F238E27FC236}">
                <a16:creationId xmlns:a16="http://schemas.microsoft.com/office/drawing/2014/main" id="{92933F5E-74B6-46DE-964C-214F9FFC62B3}"/>
              </a:ext>
            </a:extLst>
          </p:cNvPr>
          <p:cNvSpPr>
            <a:spLocks noGrp="1"/>
          </p:cNvSpPr>
          <p:nvPr>
            <p:ph type="sldNum" sz="quarter" idx="12"/>
          </p:nvPr>
        </p:nvSpPr>
        <p:spPr/>
        <p:txBody>
          <a:bodyPr/>
          <a:lstStyle/>
          <a:p>
            <a:fld id="{FE1B3154-47D9-4402-8EDB-E791933DC0B9}" type="slidenum">
              <a:rPr lang="nl-BE" smtClean="0"/>
              <a:pPr/>
              <a:t>28</a:t>
            </a:fld>
            <a:endParaRPr lang="nl-BE"/>
          </a:p>
        </p:txBody>
      </p:sp>
      <p:sp>
        <p:nvSpPr>
          <p:cNvPr id="6" name="TextBox 5">
            <a:extLst>
              <a:ext uri="{FF2B5EF4-FFF2-40B4-BE49-F238E27FC236}">
                <a16:creationId xmlns:a16="http://schemas.microsoft.com/office/drawing/2014/main" id="{583C6A25-109D-46C1-BDCF-60313ECB879B}"/>
              </a:ext>
            </a:extLst>
          </p:cNvPr>
          <p:cNvSpPr txBox="1"/>
          <p:nvPr/>
        </p:nvSpPr>
        <p:spPr>
          <a:xfrm>
            <a:off x="835660" y="1551722"/>
            <a:ext cx="6101080" cy="646331"/>
          </a:xfrm>
          <a:prstGeom prst="rect">
            <a:avLst/>
          </a:prstGeom>
          <a:noFill/>
        </p:spPr>
        <p:txBody>
          <a:bodyPr wrap="square">
            <a:spAutoFit/>
          </a:bodyPr>
          <a:lstStyle/>
          <a:p>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sub</a:t>
            </a:r>
            <a:r>
              <a:rPr lang="en-US" b="0">
                <a:solidFill>
                  <a:srgbClr val="000000"/>
                </a:solidFill>
                <a:effectLst/>
                <a:latin typeface="Consolas" panose="020B0609020204030204" pitchFamily="49" charset="0"/>
              </a:rPr>
              <a:t>(</a:t>
            </a:r>
            <a:r>
              <a:rPr lang="en-US" b="0" err="1">
                <a:solidFill>
                  <a:srgbClr val="0000FF"/>
                </a:solidFill>
                <a:effectLst/>
                <a:latin typeface="Consolas" panose="020B0609020204030204" pitchFamily="49" charset="0"/>
              </a:rPr>
              <a:t>r</a:t>
            </a:r>
            <a:r>
              <a:rPr lang="en-US" b="0" err="1">
                <a:solidFill>
                  <a:srgbClr val="811F3F"/>
                </a:solidFill>
                <a:effectLst/>
                <a:latin typeface="Consolas" panose="020B0609020204030204" pitchFamily="49" charset="0"/>
              </a:rPr>
              <a:t>"t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a:t>
            </a:r>
            <a:r>
              <a:rPr lang="en-US" b="0" err="1">
                <a:solidFill>
                  <a:srgbClr val="811F3F"/>
                </a:solidFill>
                <a:effectLst/>
                <a:latin typeface="Consolas" panose="020B0609020204030204" pitchFamily="49" charset="0"/>
              </a:rPr>
              <a:t>zA</a:t>
            </a:r>
            <a:r>
              <a:rPr lang="en-US" b="0">
                <a:solidFill>
                  <a:srgbClr val="811F3F"/>
                </a:solidFill>
                <a:effectLst/>
                <a:latin typeface="Consolas" panose="020B0609020204030204" pitchFamily="49" charset="0"/>
              </a:rPr>
              <a:t>-Z</a:t>
            </a:r>
            <a:r>
              <a:rPr lang="en-US" b="0">
                <a:solidFill>
                  <a:srgbClr val="D16969"/>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err="1">
                <a:solidFill>
                  <a:srgbClr val="0000FF"/>
                </a:solidFill>
                <a:effectLst/>
                <a:latin typeface="Consolas" panose="020B0609020204030204" pitchFamily="49" charset="0"/>
              </a:rPr>
              <a:t>r</a:t>
            </a:r>
            <a:r>
              <a:rPr lang="en-US" b="0" err="1">
                <a:solidFill>
                  <a:srgbClr val="811F3F"/>
                </a:solidFill>
                <a:effectLst/>
                <a:latin typeface="Consolas" panose="020B0609020204030204" pitchFamily="49" charset="0"/>
              </a:rPr>
              <a:t>"X</a:t>
            </a:r>
            <a:r>
              <a:rPr lang="en-US" b="0">
                <a:solidFill>
                  <a:srgbClr val="800000"/>
                </a:solidFill>
                <a:effectLst/>
                <a:latin typeface="Consolas" panose="020B0609020204030204" pitchFamily="49" charset="0"/>
              </a:rPr>
              <a:t>\1</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s</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new_s</a:t>
            </a:r>
            <a:r>
              <a:rPr lang="en-US" b="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6B3E1D1E-1920-44A9-B585-CEF28ED2C993}"/>
              </a:ext>
            </a:extLst>
          </p:cNvPr>
          <p:cNvSpPr txBox="1"/>
          <p:nvPr/>
        </p:nvSpPr>
        <p:spPr>
          <a:xfrm>
            <a:off x="835660" y="4688461"/>
            <a:ext cx="6101080" cy="1477328"/>
          </a:xfrm>
          <a:prstGeom prst="rect">
            <a:avLst/>
          </a:prstGeom>
          <a:noFill/>
        </p:spPr>
        <p:txBody>
          <a:bodyPr wrap="square">
            <a:spAutoFit/>
          </a:bodyPr>
          <a:lstStyle/>
          <a:p>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match</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r</a:t>
            </a:r>
            <a:r>
              <a:rPr lang="en-US" b="0">
                <a:solidFill>
                  <a:srgbClr val="811F3F"/>
                </a:solidFill>
                <a:effectLst/>
                <a:latin typeface="Consolas" panose="020B0609020204030204" pitchFamily="49" charset="0"/>
              </a:rPr>
              <a: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{1}</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a:solidFill>
                  <a:srgbClr val="800000"/>
                </a:solidFill>
                <a:effectLst/>
                <a:latin typeface="Consolas" panose="020B0609020204030204" pitchFamily="49" charset="0"/>
              </a:rPr>
              <a:t>\1</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t>
            </a:r>
            <a:r>
              <a:rPr lang="en-US" b="0" err="1">
                <a:solidFill>
                  <a:srgbClr val="A31515"/>
                </a:solidFill>
                <a:effectLst/>
                <a:latin typeface="Consolas" panose="020B0609020204030204" pitchFamily="49" charset="0"/>
              </a:rPr>
              <a:t>hannah</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re</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match</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r</a:t>
            </a:r>
            <a:r>
              <a:rPr lang="en-US" b="0">
                <a:solidFill>
                  <a:srgbClr val="811F3F"/>
                </a:solidFill>
                <a:effectLst/>
                <a:latin typeface="Consolas" panose="020B0609020204030204" pitchFamily="49" charset="0"/>
              </a:rPr>
              <a:t>"</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{1}</a:t>
            </a:r>
            <a:r>
              <a:rPr lang="en-US" b="0">
                <a:solidFill>
                  <a:srgbClr val="D16969"/>
                </a:solidFill>
                <a:effectLst/>
                <a:latin typeface="Consolas" panose="020B0609020204030204" pitchFamily="49" charset="0"/>
              </a:rPr>
              <a:t>)</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a:solidFill>
                  <a:srgbClr val="800000"/>
                </a:solidFill>
                <a:effectLst/>
                <a:latin typeface="Consolas" panose="020B0609020204030204" pitchFamily="49" charset="0"/>
              </a:rPr>
              <a:t>\1</a:t>
            </a:r>
            <a:r>
              <a:rPr lang="en-US" b="0">
                <a:solidFill>
                  <a:srgbClr val="811F3F"/>
                </a:solidFill>
                <a:effectLst/>
                <a:latin typeface="Consolas" panose="020B0609020204030204" pitchFamily="49" charset="0"/>
              </a:rPr>
              <a:t>$"</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t>
            </a:r>
            <a:r>
              <a:rPr lang="en-US" b="0" err="1">
                <a:solidFill>
                  <a:srgbClr val="A31515"/>
                </a:solidFill>
                <a:effectLst/>
                <a:latin typeface="Consolas" panose="020B0609020204030204" pitchFamily="49" charset="0"/>
              </a:rPr>
              <a:t>kasper</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found</a:t>
            </a:r>
            <a:r>
              <a:rPr lang="en-US" b="0">
                <a:solidFill>
                  <a:srgbClr val="000000"/>
                </a:solidFill>
                <a:effectLst/>
                <a:latin typeface="Consolas" panose="020B0609020204030204" pitchFamily="49" charset="0"/>
              </a:rPr>
              <a:t>)</a:t>
            </a:r>
          </a:p>
        </p:txBody>
      </p:sp>
      <p:pic>
        <p:nvPicPr>
          <p:cNvPr id="10" name="Picture 9">
            <a:extLst>
              <a:ext uri="{FF2B5EF4-FFF2-40B4-BE49-F238E27FC236}">
                <a16:creationId xmlns:a16="http://schemas.microsoft.com/office/drawing/2014/main" id="{BD0C6E3B-9CB9-44EC-9FFB-D51BEE4D1BED}"/>
              </a:ext>
            </a:extLst>
          </p:cNvPr>
          <p:cNvPicPr>
            <a:picLocks noChangeAspect="1"/>
          </p:cNvPicPr>
          <p:nvPr/>
        </p:nvPicPr>
        <p:blipFill>
          <a:blip r:embed="rId3"/>
          <a:stretch>
            <a:fillRect/>
          </a:stretch>
        </p:blipFill>
        <p:spPr>
          <a:xfrm>
            <a:off x="6461220" y="5144330"/>
            <a:ext cx="5572728" cy="565590"/>
          </a:xfrm>
          <a:prstGeom prst="rect">
            <a:avLst/>
          </a:prstGeom>
          <a:ln>
            <a:solidFill>
              <a:schemeClr val="tx1"/>
            </a:solidFill>
          </a:ln>
        </p:spPr>
      </p:pic>
    </p:spTree>
    <p:extLst>
      <p:ext uri="{BB962C8B-B14F-4D97-AF65-F5344CB8AC3E}">
        <p14:creationId xmlns:p14="http://schemas.microsoft.com/office/powerpoint/2010/main" val="4007602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ACE4-3110-2D2B-A046-024E6CF413F1}"/>
              </a:ext>
            </a:extLst>
          </p:cNvPr>
          <p:cNvSpPr>
            <a:spLocks noGrp="1"/>
          </p:cNvSpPr>
          <p:nvPr>
            <p:ph type="title"/>
          </p:nvPr>
        </p:nvSpPr>
        <p:spPr/>
        <p:txBody>
          <a:bodyPr/>
          <a:lstStyle/>
          <a:p>
            <a:r>
              <a:rPr lang="en-US" dirty="0"/>
              <a:t>Time to practice</a:t>
            </a:r>
          </a:p>
        </p:txBody>
      </p:sp>
      <p:sp>
        <p:nvSpPr>
          <p:cNvPr id="3" name="Content Placeholder 2">
            <a:extLst>
              <a:ext uri="{FF2B5EF4-FFF2-40B4-BE49-F238E27FC236}">
                <a16:creationId xmlns:a16="http://schemas.microsoft.com/office/drawing/2014/main" id="{2ABBF8BF-2DFA-1DF2-A550-0C12197C5C2E}"/>
              </a:ext>
            </a:extLst>
          </p:cNvPr>
          <p:cNvSpPr>
            <a:spLocks noGrp="1"/>
          </p:cNvSpPr>
          <p:nvPr>
            <p:ph idx="1"/>
          </p:nvPr>
        </p:nvSpPr>
        <p:spPr/>
        <p:txBody>
          <a:bodyPr/>
          <a:lstStyle/>
          <a:p>
            <a:pPr marL="0" indent="0">
              <a:buNone/>
            </a:pPr>
            <a:r>
              <a:rPr lang="en-US" dirty="0"/>
              <a:t>Exercises</a:t>
            </a:r>
          </a:p>
          <a:p>
            <a:r>
              <a:rPr lang="en-US" dirty="0"/>
              <a:t>R-numbers</a:t>
            </a:r>
          </a:p>
          <a:p>
            <a:r>
              <a:rPr lang="en-US" dirty="0"/>
              <a:t>Numbers in text</a:t>
            </a:r>
          </a:p>
          <a:p>
            <a:r>
              <a:rPr lang="en-US" dirty="0"/>
              <a:t>Find text</a:t>
            </a:r>
          </a:p>
          <a:p>
            <a:r>
              <a:rPr lang="en-US" dirty="0"/>
              <a:t>…</a:t>
            </a:r>
          </a:p>
          <a:p>
            <a:pPr marL="0" indent="0">
              <a:buNone/>
            </a:pPr>
            <a:endParaRPr lang="en-US" dirty="0"/>
          </a:p>
          <a:p>
            <a:pPr marL="0" indent="0">
              <a:buNone/>
            </a:pPr>
            <a:r>
              <a:rPr lang="en-US" dirty="0"/>
              <a:t>Exercises from the advent of code 2015:</a:t>
            </a:r>
          </a:p>
          <a:p>
            <a:r>
              <a:rPr lang="en-US" dirty="0"/>
              <a:t>Day 5</a:t>
            </a:r>
          </a:p>
          <a:p>
            <a:r>
              <a:rPr lang="en-US" dirty="0"/>
              <a:t>Day 6</a:t>
            </a:r>
          </a:p>
          <a:p>
            <a:pPr marL="0" indent="0">
              <a:buNone/>
            </a:pPr>
            <a:endParaRPr lang="en-US" dirty="0"/>
          </a:p>
        </p:txBody>
      </p:sp>
      <p:sp>
        <p:nvSpPr>
          <p:cNvPr id="4" name="Slide Number Placeholder 3">
            <a:extLst>
              <a:ext uri="{FF2B5EF4-FFF2-40B4-BE49-F238E27FC236}">
                <a16:creationId xmlns:a16="http://schemas.microsoft.com/office/drawing/2014/main" id="{0AB6F19E-8DA5-B707-3BF3-ED194501A371}"/>
              </a:ext>
            </a:extLst>
          </p:cNvPr>
          <p:cNvSpPr>
            <a:spLocks noGrp="1"/>
          </p:cNvSpPr>
          <p:nvPr>
            <p:ph type="sldNum" sz="quarter" idx="12"/>
          </p:nvPr>
        </p:nvSpPr>
        <p:spPr/>
        <p:txBody>
          <a:bodyPr/>
          <a:lstStyle/>
          <a:p>
            <a:fld id="{FE1B3154-47D9-4402-8EDB-E791933DC0B9}" type="slidenum">
              <a:rPr lang="nl-BE" smtClean="0"/>
              <a:pPr/>
              <a:t>29</a:t>
            </a:fld>
            <a:endParaRPr lang="nl-BE"/>
          </a:p>
        </p:txBody>
      </p:sp>
    </p:spTree>
    <p:extLst>
      <p:ext uri="{BB962C8B-B14F-4D97-AF65-F5344CB8AC3E}">
        <p14:creationId xmlns:p14="http://schemas.microsoft.com/office/powerpoint/2010/main" val="16810928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2748</Words>
  <Application>Microsoft Office PowerPoint</Application>
  <PresentationFormat>Widescreen</PresentationFormat>
  <Paragraphs>450</Paragraphs>
  <Slides>29</Slides>
  <Notes>22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vt:lpstr>
      <vt:lpstr>Calibri</vt:lpstr>
      <vt:lpstr>Cambria</vt:lpstr>
      <vt:lpstr>Consolas</vt:lpstr>
      <vt:lpstr>Gotham</vt:lpstr>
      <vt:lpstr>Wingdings</vt:lpstr>
      <vt:lpstr>Kantoorthema</vt:lpstr>
      <vt:lpstr>Regex (in Python)</vt:lpstr>
      <vt:lpstr>Regex - Regular expressions</vt:lpstr>
      <vt:lpstr>Regex</vt:lpstr>
      <vt:lpstr>Regex – Stephen Cole Kleene (mid 1950)</vt:lpstr>
      <vt:lpstr>Regex – alternative notation for state machines</vt:lpstr>
      <vt:lpstr>Regex – alternative notation for state machines</vt:lpstr>
      <vt:lpstr>Regex – alternative notation for state machines</vt:lpstr>
      <vt:lpstr>Regex – alternative notation for state machines</vt:lpstr>
      <vt:lpstr>Regex – Must Watch!</vt:lpstr>
      <vt:lpstr>Regex</vt:lpstr>
      <vt:lpstr>Regex</vt:lpstr>
      <vt:lpstr>Basic regexes - How do we match stuff?</vt:lpstr>
      <vt:lpstr>Basic regexes - How do we match stuff?</vt:lpstr>
      <vt:lpstr>Basic regexes - How do we match stuff?</vt:lpstr>
      <vt:lpstr>Basic regexes - All together now!</vt:lpstr>
      <vt:lpstr>Regex groups</vt:lpstr>
      <vt:lpstr>Regex groups</vt:lpstr>
      <vt:lpstr>Regex</vt:lpstr>
      <vt:lpstr>PowerPoint Presentation</vt:lpstr>
      <vt:lpstr>Regex in Python</vt:lpstr>
      <vt:lpstr>Regex in Python</vt:lpstr>
      <vt:lpstr>Example:</vt:lpstr>
      <vt:lpstr>Example: Match-object</vt:lpstr>
      <vt:lpstr>Example: greedy *</vt:lpstr>
      <vt:lpstr>Example: iterators and iterables</vt:lpstr>
      <vt:lpstr>Example: find more</vt:lpstr>
      <vt:lpstr>Example: replace</vt:lpstr>
      <vt:lpstr>Example: replace using groups</vt:lpstr>
      <vt:lpstr>Time to practice</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Ellen Torfs</cp:lastModifiedBy>
  <cp:revision>2</cp:revision>
  <dcterms:created xsi:type="dcterms:W3CDTF">2018-02-21T07:41:18Z</dcterms:created>
  <dcterms:modified xsi:type="dcterms:W3CDTF">2025-09-21T13:08:18Z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2023-09-29T11:16:04Z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f0d6df33-1400-4193-9ee3-c94672f2210d</vt:lpwstr>
  </property>
  <property fmtid="{D5CDD505-2E9C-101B-9397-08002B2CF9AE}" pid="8" name="MSIP_Label_c337be75-dfbb-4261-9834-ac247c7dde13_ContentBits">
    <vt:lpwstr>0</vt:lpwstr>
  </property>
</Properties>
</file>